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8"/>
  </p:notesMasterIdLst>
  <p:sldIdLst>
    <p:sldId id="256" r:id="rId2"/>
    <p:sldId id="2147377180" r:id="rId3"/>
    <p:sldId id="2147377179" r:id="rId4"/>
    <p:sldId id="2147377173" r:id="rId5"/>
    <p:sldId id="2147377164" r:id="rId6"/>
    <p:sldId id="1714" r:id="rId7"/>
    <p:sldId id="2147377172" r:id="rId8"/>
    <p:sldId id="2147377170" r:id="rId9"/>
    <p:sldId id="2147377174" r:id="rId10"/>
    <p:sldId id="2147377165" r:id="rId11"/>
    <p:sldId id="2147377177" r:id="rId12"/>
    <p:sldId id="2147377175" r:id="rId13"/>
    <p:sldId id="2147377169" r:id="rId14"/>
    <p:sldId id="2147377176" r:id="rId15"/>
    <p:sldId id="263" r:id="rId16"/>
    <p:sldId id="214737717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24"/>
    <p:restoredTop sz="66743"/>
  </p:normalViewPr>
  <p:slideViewPr>
    <p:cSldViewPr snapToGrid="0">
      <p:cViewPr varScale="1">
        <p:scale>
          <a:sx n="86" d="100"/>
          <a:sy n="86" d="100"/>
        </p:scale>
        <p:origin x="2424" y="488"/>
      </p:cViewPr>
      <p:guideLst/>
    </p:cSldViewPr>
  </p:slideViewPr>
  <p:notesTextViewPr>
    <p:cViewPr>
      <p:scale>
        <a:sx n="95" d="100"/>
        <a:sy n="9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A64F87-FB49-F54F-A220-2A5CCF5EC68C}" type="datetimeFigureOut">
              <a:rPr lang="en-US" smtClean="0"/>
              <a:t>4/13/26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0A15C3-A354-EF4A-94AB-02EE829E0D21}" type="slidenum">
              <a:rPr lang="en-US" smtClean="0"/>
              <a:t>‹#›</a:t>
            </a:fld>
            <a:endParaRPr lang="en-US"/>
          </a:p>
        </p:txBody>
      </p:sp>
    </p:spTree>
    <p:extLst>
      <p:ext uri="{BB962C8B-B14F-4D97-AF65-F5344CB8AC3E}">
        <p14:creationId xmlns:p14="http://schemas.microsoft.com/office/powerpoint/2010/main" val="3282810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0A15C3-A354-EF4A-94AB-02EE829E0D21}" type="slidenum">
              <a:rPr lang="en-US" smtClean="0"/>
              <a:t>1</a:t>
            </a:fld>
            <a:endParaRPr lang="en-US"/>
          </a:p>
        </p:txBody>
      </p:sp>
    </p:spTree>
    <p:extLst>
      <p:ext uri="{BB962C8B-B14F-4D97-AF65-F5344CB8AC3E}">
        <p14:creationId xmlns:p14="http://schemas.microsoft.com/office/powerpoint/2010/main" val="3163856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0A15C3-A354-EF4A-94AB-02EE829E0D21}" type="slidenum">
              <a:rPr lang="en-US" smtClean="0"/>
              <a:t>2</a:t>
            </a:fld>
            <a:endParaRPr lang="en-US"/>
          </a:p>
        </p:txBody>
      </p:sp>
    </p:spTree>
    <p:extLst>
      <p:ext uri="{BB962C8B-B14F-4D97-AF65-F5344CB8AC3E}">
        <p14:creationId xmlns:p14="http://schemas.microsoft.com/office/powerpoint/2010/main" val="13062226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After all the work we’ve done today, we’re going to just reiterate and reinforce the concepts of genomic epidemiology (also known as molecular epidemiology). We’ve touched on all these concepts and have even been doing some direct genomic epidemiology through the exercises we’ve done today.</a:t>
            </a:r>
          </a:p>
        </p:txBody>
      </p:sp>
      <p:sp>
        <p:nvSpPr>
          <p:cNvPr id="4" name="Slide Number Placeholder 3"/>
          <p:cNvSpPr>
            <a:spLocks noGrp="1"/>
          </p:cNvSpPr>
          <p:nvPr>
            <p:ph type="sldNum" sz="quarter" idx="5"/>
          </p:nvPr>
        </p:nvSpPr>
        <p:spPr/>
        <p:txBody>
          <a:bodyPr/>
          <a:lstStyle/>
          <a:p>
            <a:fld id="{9D0A15C3-A354-EF4A-94AB-02EE829E0D21}" type="slidenum">
              <a:rPr lang="en-US" smtClean="0"/>
              <a:t>3</a:t>
            </a:fld>
            <a:endParaRPr lang="en-US"/>
          </a:p>
        </p:txBody>
      </p:sp>
    </p:spTree>
    <p:extLst>
      <p:ext uri="{BB962C8B-B14F-4D97-AF65-F5344CB8AC3E}">
        <p14:creationId xmlns:p14="http://schemas.microsoft.com/office/powerpoint/2010/main" val="2080451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Underpinning all genomic epi, is understanding viral diversity. The most important factor of this is generating high quality sequence data of viruses and sharing that data publicly. The cumulative submissions of data enable us to ask relevant questions. Generating phylogenies to understand the current patterns of evolution and correlate genetic change with other data, such as metadata, proteomic, and epidemiological data. Our analysis in this way is always retrospective, but timeliness of data is critical for situational awareness and gives us a better understanding of the current evolutionary trajectories.</a:t>
            </a:r>
          </a:p>
          <a:p>
            <a:endParaRPr lang="en-US" dirty="0"/>
          </a:p>
          <a:p>
            <a:r>
              <a:rPr lang="en-US" dirty="0"/>
              <a:t>When assessing seasonal virus phylogenies, we are usually contextualizing the information in terms of clades and subclades. Primarily for the purposes of communications.</a:t>
            </a:r>
          </a:p>
        </p:txBody>
      </p:sp>
      <p:sp>
        <p:nvSpPr>
          <p:cNvPr id="4" name="Slide Number Placeholder 3"/>
          <p:cNvSpPr>
            <a:spLocks noGrp="1"/>
          </p:cNvSpPr>
          <p:nvPr>
            <p:ph type="sldNum" sz="quarter" idx="5"/>
          </p:nvPr>
        </p:nvSpPr>
        <p:spPr/>
        <p:txBody>
          <a:bodyPr/>
          <a:lstStyle/>
          <a:p>
            <a:fld id="{9D0A15C3-A354-EF4A-94AB-02EE829E0D21}" type="slidenum">
              <a:rPr lang="en-US" smtClean="0"/>
              <a:t>4</a:t>
            </a:fld>
            <a:endParaRPr lang="en-US"/>
          </a:p>
        </p:txBody>
      </p:sp>
    </p:spTree>
    <p:extLst>
      <p:ext uri="{BB962C8B-B14F-4D97-AF65-F5344CB8AC3E}">
        <p14:creationId xmlns:p14="http://schemas.microsoft.com/office/powerpoint/2010/main" val="13958236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Again, Nextstrain remains to be a powerful tool in conducting genomic epidemiology</a:t>
            </a:r>
          </a:p>
          <a:p>
            <a:pPr marL="171450" indent="-171450">
              <a:buFont typeface="Arial" panose="020B0604020202020204" pitchFamily="34" charset="0"/>
              <a:buChar char="•"/>
            </a:pPr>
            <a:r>
              <a:rPr lang="en-US" dirty="0"/>
              <a:t>Hopefully through the exercises we’ve gone through, you have a better understanding of how to interrogate data within the platform for your own analyses</a:t>
            </a:r>
          </a:p>
        </p:txBody>
      </p:sp>
      <p:sp>
        <p:nvSpPr>
          <p:cNvPr id="4" name="Slide Number Placeholder 3"/>
          <p:cNvSpPr>
            <a:spLocks noGrp="1"/>
          </p:cNvSpPr>
          <p:nvPr>
            <p:ph type="sldNum" sz="quarter" idx="5"/>
          </p:nvPr>
        </p:nvSpPr>
        <p:spPr/>
        <p:txBody>
          <a:bodyPr/>
          <a:lstStyle/>
          <a:p>
            <a:fld id="{6A1DD49A-1F23-40AC-B7D7-F5F1AB05AD7B}" type="slidenum">
              <a:rPr lang="en-US" smtClean="0"/>
              <a:t>5</a:t>
            </a:fld>
            <a:endParaRPr lang="en-US"/>
          </a:p>
        </p:txBody>
      </p:sp>
    </p:spTree>
    <p:extLst>
      <p:ext uri="{BB962C8B-B14F-4D97-AF65-F5344CB8AC3E}">
        <p14:creationId xmlns:p14="http://schemas.microsoft.com/office/powerpoint/2010/main" val="23355578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resulting phylogenies from data are useful, but stepping back, it helps to have a sampling strategy based on analysis goals. The U.S. does this by random sampling of specimens from ILI surveillance. We set weekly goals for each subtype, which serve as a guideline (often we do not meet these numbers). However, this helps to ensure we’re getting a good representation of data.</a:t>
            </a:r>
          </a:p>
        </p:txBody>
      </p:sp>
      <p:sp>
        <p:nvSpPr>
          <p:cNvPr id="4" name="Slide Number Placeholder 3"/>
          <p:cNvSpPr>
            <a:spLocks noGrp="1"/>
          </p:cNvSpPr>
          <p:nvPr>
            <p:ph type="sldNum" sz="quarter" idx="5"/>
          </p:nvPr>
        </p:nvSpPr>
        <p:spPr/>
        <p:txBody>
          <a:bodyPr/>
          <a:lstStyle/>
          <a:p>
            <a:fld id="{9D0A15C3-A354-EF4A-94AB-02EE829E0D21}" type="slidenum">
              <a:rPr lang="en-US" smtClean="0"/>
              <a:t>6</a:t>
            </a:fld>
            <a:endParaRPr lang="en-US"/>
          </a:p>
        </p:txBody>
      </p:sp>
    </p:spTree>
    <p:extLst>
      <p:ext uri="{BB962C8B-B14F-4D97-AF65-F5344CB8AC3E}">
        <p14:creationId xmlns:p14="http://schemas.microsoft.com/office/powerpoint/2010/main" val="23119755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When we have sampling of data across different countries this allows us the ability to assess regional trends. For instance, for this example of past H1 HA data, clades 5a.2a and 5a.2a.1 co-circulated globally with regional trends.</a:t>
            </a:r>
          </a:p>
          <a:p>
            <a:endParaRPr lang="en-US" dirty="0"/>
          </a:p>
          <a:p>
            <a:r>
              <a:rPr lang="en-US" dirty="0"/>
              <a:t>5a.2a was more predominant in Asia, Africa, Oceania, and Europe, with C.1.9.3 being the largest subclade.</a:t>
            </a:r>
          </a:p>
          <a:p>
            <a:endParaRPr lang="en-US" dirty="0"/>
          </a:p>
          <a:p>
            <a:r>
              <a:rPr lang="en-US" dirty="0"/>
              <a:t>Whereas 5a.2a.1 was predominant in the Americas, with D.3 being the most abundant subclade.</a:t>
            </a:r>
          </a:p>
        </p:txBody>
      </p:sp>
      <p:sp>
        <p:nvSpPr>
          <p:cNvPr id="4" name="Slide Number Placeholder 3"/>
          <p:cNvSpPr>
            <a:spLocks noGrp="1"/>
          </p:cNvSpPr>
          <p:nvPr>
            <p:ph type="sldNum" sz="quarter" idx="5"/>
          </p:nvPr>
        </p:nvSpPr>
        <p:spPr/>
        <p:txBody>
          <a:bodyPr/>
          <a:lstStyle/>
          <a:p>
            <a:fld id="{7CEA4942-3DDE-4B39-A2E7-111E034031B7}" type="slidenum">
              <a:rPr lang="en-US" smtClean="0"/>
              <a:t>7</a:t>
            </a:fld>
            <a:endParaRPr lang="en-US"/>
          </a:p>
        </p:txBody>
      </p:sp>
    </p:spTree>
    <p:extLst>
      <p:ext uri="{BB962C8B-B14F-4D97-AF65-F5344CB8AC3E}">
        <p14:creationId xmlns:p14="http://schemas.microsoft.com/office/powerpoint/2010/main" val="12823669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Country specific sampling also comes into play for what you can do with your data. This graph below shows the relative confidence we can have that a variant detected at a given percentage will be detected given the sampling across weeks. We can see the relative variability of this given the difference in the depth of our sampling over time, especially during off season times, when getting influenza specimens is much more challenging.</a:t>
            </a:r>
          </a:p>
          <a:p>
            <a:endParaRPr lang="en-US" dirty="0"/>
          </a:p>
          <a:p>
            <a:r>
              <a:rPr lang="en-US" dirty="0"/>
              <a:t>However, for all subtypes, during the U.S. influenza seasons we consistently had enough samples to detect variants at around 5-10% abundance weekly. And at less than 1% when assessing a given influenza season.</a:t>
            </a:r>
          </a:p>
        </p:txBody>
      </p:sp>
      <p:sp>
        <p:nvSpPr>
          <p:cNvPr id="4" name="Slide Number Placeholder 3"/>
          <p:cNvSpPr>
            <a:spLocks noGrp="1"/>
          </p:cNvSpPr>
          <p:nvPr>
            <p:ph type="sldNum" sz="quarter" idx="5"/>
          </p:nvPr>
        </p:nvSpPr>
        <p:spPr/>
        <p:txBody>
          <a:bodyPr/>
          <a:lstStyle/>
          <a:p>
            <a:fld id="{9D0A15C3-A354-EF4A-94AB-02EE829E0D21}" type="slidenum">
              <a:rPr lang="en-US" smtClean="0"/>
              <a:t>8</a:t>
            </a:fld>
            <a:endParaRPr lang="en-US"/>
          </a:p>
        </p:txBody>
      </p:sp>
    </p:spTree>
    <p:extLst>
      <p:ext uri="{BB962C8B-B14F-4D97-AF65-F5344CB8AC3E}">
        <p14:creationId xmlns:p14="http://schemas.microsoft.com/office/powerpoint/2010/main" val="1684317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Deep country specific sampling also allows the ability to accurately assess changes in clade/subclade frequency over time.  In the 2024/2025 U.S. flu season, for H1N1pdm HA sequences, clades 5a.2a and 5a.2a.1 co-circulated. In clade 5a.2a subclade C.1.9.3 was more predominant early in the season, but was quickly replaced by subclade D.3 in the 5a.2a.1 clade.</a:t>
            </a:r>
          </a:p>
        </p:txBody>
      </p:sp>
      <p:sp>
        <p:nvSpPr>
          <p:cNvPr id="4" name="Slide Number Placeholder 3"/>
          <p:cNvSpPr>
            <a:spLocks noGrp="1"/>
          </p:cNvSpPr>
          <p:nvPr>
            <p:ph type="sldNum" sz="quarter" idx="5"/>
          </p:nvPr>
        </p:nvSpPr>
        <p:spPr/>
        <p:txBody>
          <a:bodyPr/>
          <a:lstStyle/>
          <a:p>
            <a:fld id="{9D0A15C3-A354-EF4A-94AB-02EE829E0D21}" type="slidenum">
              <a:rPr lang="en-US" smtClean="0"/>
              <a:t>9</a:t>
            </a:fld>
            <a:endParaRPr lang="en-US"/>
          </a:p>
        </p:txBody>
      </p:sp>
    </p:spTree>
    <p:extLst>
      <p:ext uri="{BB962C8B-B14F-4D97-AF65-F5344CB8AC3E}">
        <p14:creationId xmlns:p14="http://schemas.microsoft.com/office/powerpoint/2010/main" val="15377233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Another point we try to understand in genomic epidemiology is the interrelation between genotype and phenotype. We create phenotypic data representing the circulating genetic diversity, by strategically testing viruses by their HA protein sequence global observance. Setting testing goals per unique HA sequence.</a:t>
            </a:r>
          </a:p>
          <a:p>
            <a:endParaRPr lang="en-US" dirty="0"/>
          </a:p>
          <a:p>
            <a:r>
              <a:rPr lang="en-US" dirty="0"/>
              <a:t>By generating this data, it helps us to determine the molecular determinates of antigenic change through cross-data integration. In the example to the left and below, we found that the amino acid mutations of N158K and K189R were associated with decreased antibody recognition using post-infection ferret antisera. We also identified genetic and antigenic lineages for additional analysis using human sera.</a:t>
            </a:r>
          </a:p>
        </p:txBody>
      </p:sp>
      <p:sp>
        <p:nvSpPr>
          <p:cNvPr id="4" name="Slide Number Placeholder 3"/>
          <p:cNvSpPr>
            <a:spLocks noGrp="1"/>
          </p:cNvSpPr>
          <p:nvPr>
            <p:ph type="sldNum" sz="quarter" idx="5"/>
          </p:nvPr>
        </p:nvSpPr>
        <p:spPr/>
        <p:txBody>
          <a:bodyPr/>
          <a:lstStyle/>
          <a:p>
            <a:fld id="{9D0A15C3-A354-EF4A-94AB-02EE829E0D21}" type="slidenum">
              <a:rPr lang="en-US" smtClean="0"/>
              <a:t>10</a:t>
            </a:fld>
            <a:endParaRPr lang="en-US"/>
          </a:p>
        </p:txBody>
      </p:sp>
    </p:spTree>
    <p:extLst>
      <p:ext uri="{BB962C8B-B14F-4D97-AF65-F5344CB8AC3E}">
        <p14:creationId xmlns:p14="http://schemas.microsoft.com/office/powerpoint/2010/main" val="13531619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By implementing our strategic antigenic testing and the statistical framework behind it, we are also able to infer antigenic characterization for HA proteins which have met testing and result quality thresholds. This allows us to “fill in” more of the genetic variation seen with actionable antigenic results in time for vaccine selection meetings.</a:t>
            </a:r>
          </a:p>
        </p:txBody>
      </p:sp>
      <p:sp>
        <p:nvSpPr>
          <p:cNvPr id="4" name="Slide Number Placeholder 3"/>
          <p:cNvSpPr>
            <a:spLocks noGrp="1"/>
          </p:cNvSpPr>
          <p:nvPr>
            <p:ph type="sldNum" sz="quarter" idx="5"/>
          </p:nvPr>
        </p:nvSpPr>
        <p:spPr/>
        <p:txBody>
          <a:bodyPr/>
          <a:lstStyle/>
          <a:p>
            <a:fld id="{9D0A15C3-A354-EF4A-94AB-02EE829E0D21}" type="slidenum">
              <a:rPr lang="en-US" smtClean="0"/>
              <a:t>11</a:t>
            </a:fld>
            <a:endParaRPr lang="en-US"/>
          </a:p>
        </p:txBody>
      </p:sp>
    </p:spTree>
    <p:extLst>
      <p:ext uri="{BB962C8B-B14F-4D97-AF65-F5344CB8AC3E}">
        <p14:creationId xmlns:p14="http://schemas.microsoft.com/office/powerpoint/2010/main" val="14747538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Another tool that builds upon genomic epidemiology are predictive models. Predictive model goals are lofty, and aim to predict which clade or subclade will continue to circulate in the next 6mos to 1year. Two of our collaborating groups, Nextstrain and Previr, currently implement predictive models for seasonal influenza. These are primarily clade fitness models that use sequences from GISAID in their estimations and incorporate antigenic, specimen meta-data, and correlated epidemiological data.</a:t>
            </a:r>
          </a:p>
        </p:txBody>
      </p:sp>
      <p:sp>
        <p:nvSpPr>
          <p:cNvPr id="4" name="Slide Number Placeholder 3"/>
          <p:cNvSpPr>
            <a:spLocks noGrp="1"/>
          </p:cNvSpPr>
          <p:nvPr>
            <p:ph type="sldNum" sz="quarter" idx="5"/>
          </p:nvPr>
        </p:nvSpPr>
        <p:spPr/>
        <p:txBody>
          <a:bodyPr/>
          <a:lstStyle/>
          <a:p>
            <a:fld id="{9D0A15C3-A354-EF4A-94AB-02EE829E0D21}" type="slidenum">
              <a:rPr lang="en-US" smtClean="0"/>
              <a:t>12</a:t>
            </a:fld>
            <a:endParaRPr lang="en-US"/>
          </a:p>
        </p:txBody>
      </p:sp>
    </p:spTree>
    <p:extLst>
      <p:ext uri="{BB962C8B-B14F-4D97-AF65-F5344CB8AC3E}">
        <p14:creationId xmlns:p14="http://schemas.microsoft.com/office/powerpoint/2010/main" val="13175830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However, there is still a lot of work to do in the modelling space. The current models are unable to predict which clade will predominate, but do give confidence in what will persist. They are also unable to predict new clade emergence, subtype (or lineage) predominance, virus phenotypic changes, geographic or temporal differences in clade proportions, or clade turnover rate differences.</a:t>
            </a:r>
          </a:p>
          <a:p>
            <a:endParaRPr lang="en-US" dirty="0"/>
          </a:p>
          <a:p>
            <a:r>
              <a:rPr lang="en-US" dirty="0"/>
              <a:t>Models have also been primarily applied to H3N2, and need to be evaluated for other virus subtypes and lineages.</a:t>
            </a:r>
          </a:p>
        </p:txBody>
      </p:sp>
      <p:sp>
        <p:nvSpPr>
          <p:cNvPr id="4" name="Slide Number Placeholder 3"/>
          <p:cNvSpPr>
            <a:spLocks noGrp="1"/>
          </p:cNvSpPr>
          <p:nvPr>
            <p:ph type="sldNum" sz="quarter" idx="5"/>
          </p:nvPr>
        </p:nvSpPr>
        <p:spPr/>
        <p:txBody>
          <a:bodyPr/>
          <a:lstStyle/>
          <a:p>
            <a:fld id="{9D0A15C3-A354-EF4A-94AB-02EE829E0D21}" type="slidenum">
              <a:rPr lang="en-US" smtClean="0"/>
              <a:t>13</a:t>
            </a:fld>
            <a:endParaRPr lang="en-US"/>
          </a:p>
        </p:txBody>
      </p:sp>
    </p:spTree>
    <p:extLst>
      <p:ext uri="{BB962C8B-B14F-4D97-AF65-F5344CB8AC3E}">
        <p14:creationId xmlns:p14="http://schemas.microsoft.com/office/powerpoint/2010/main" val="6475461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There are however, a lot of goals and current projects to improve the future landscape of influenza genomics. We aim for improved lab-epi data integration using automated electronic lab reporting, a high throughput data lake, and further utilization of cloud computing. We are also exploring synthetic genomics for the rapid generation of viruses from sequencing data, this may be especially helpful for if there is a new emerging variant that we do not yet have any samples of.</a:t>
            </a:r>
          </a:p>
          <a:p>
            <a:endParaRPr lang="en-US" dirty="0"/>
          </a:p>
          <a:p>
            <a:r>
              <a:rPr lang="en-US" dirty="0"/>
              <a:t>It’s also important to consider that new vaccine strategies may require different data analysis for recommendations.</a:t>
            </a:r>
          </a:p>
        </p:txBody>
      </p:sp>
      <p:sp>
        <p:nvSpPr>
          <p:cNvPr id="4" name="Slide Number Placeholder 3"/>
          <p:cNvSpPr>
            <a:spLocks noGrp="1"/>
          </p:cNvSpPr>
          <p:nvPr>
            <p:ph type="sldNum" sz="quarter" idx="5"/>
          </p:nvPr>
        </p:nvSpPr>
        <p:spPr/>
        <p:txBody>
          <a:bodyPr/>
          <a:lstStyle/>
          <a:p>
            <a:fld id="{9D0A15C3-A354-EF4A-94AB-02EE829E0D21}" type="slidenum">
              <a:rPr lang="en-US" smtClean="0"/>
              <a:t>14</a:t>
            </a:fld>
            <a:endParaRPr lang="en-US"/>
          </a:p>
        </p:txBody>
      </p:sp>
    </p:spTree>
    <p:extLst>
      <p:ext uri="{BB962C8B-B14F-4D97-AF65-F5344CB8AC3E}">
        <p14:creationId xmlns:p14="http://schemas.microsoft.com/office/powerpoint/2010/main" val="5509529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Lastly, I want to close this session with a recent example of genomic epi in action, by going through the process of the generation of a candidate vaccine virus for the emergent subclade K of H3N2.</a:t>
            </a:r>
          </a:p>
          <a:p>
            <a:endParaRPr lang="en-US" dirty="0"/>
          </a:p>
          <a:p>
            <a:r>
              <a:rPr lang="en-US" dirty="0"/>
              <a:t>The first subclade K specimens were collected through CDC national influenza surveillance and Traveler-Based genomic surveillance in June to July of 2025. Once this data was available for analysis in August, sequence analysis and secondary confirmation highlighted these viruses with 10 amino acid changes relative to the vaccine. These viruses were promptly antigenically characterized and results showed evidence of genetic drift. From this confirmatory data we promptly initiated the CVV process and notified other GISRIS collaborating centers of our findings. A few weeks later we had initial egg and cell reference viruses generated to this newly emergent subclade. During the 2026SH vaccine recommendation we were able to provide the information of our findings. Shortly thereafter, this emergent subclade was designated as J.2.4.1 and given the alias of K, to further highlight the group. Reference ferret antisera were then generated in late October and tested. In November, CVVs were distributed to collaborators and reassorting laboratories. By January subclade K high-growth reassortants started to arrive at CDC. And by the 2026-27NH vaccine recommendation, these viruses were able to be pushed forwards as the recommended H3N2 vaccine component.</a:t>
            </a:r>
            <a:br>
              <a:rPr lang="en-US" dirty="0"/>
            </a:br>
            <a:br>
              <a:rPr lang="en-US" dirty="0"/>
            </a:br>
            <a:r>
              <a:rPr lang="en-US" dirty="0"/>
              <a:t>I hope this example helps to not only demonstrate the importance of genomic epi in the initial process, but also the importance of sampling strategies and fast turn around times from collection to sequence data generation.</a:t>
            </a:r>
          </a:p>
        </p:txBody>
      </p:sp>
      <p:sp>
        <p:nvSpPr>
          <p:cNvPr id="4" name="Slide Number Placeholder 3"/>
          <p:cNvSpPr>
            <a:spLocks noGrp="1"/>
          </p:cNvSpPr>
          <p:nvPr>
            <p:ph type="sldNum" sz="quarter" idx="5"/>
          </p:nvPr>
        </p:nvSpPr>
        <p:spPr/>
        <p:txBody>
          <a:bodyPr/>
          <a:lstStyle/>
          <a:p>
            <a:fld id="{9D0A15C3-A354-EF4A-94AB-02EE829E0D21}" type="slidenum">
              <a:rPr lang="en-US" smtClean="0"/>
              <a:t>15</a:t>
            </a:fld>
            <a:endParaRPr lang="en-US"/>
          </a:p>
        </p:txBody>
      </p:sp>
    </p:spTree>
    <p:extLst>
      <p:ext uri="{BB962C8B-B14F-4D97-AF65-F5344CB8AC3E}">
        <p14:creationId xmlns:p14="http://schemas.microsoft.com/office/powerpoint/2010/main" val="6155652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hope this has been informative and thank you for listening!</a:t>
            </a:r>
          </a:p>
        </p:txBody>
      </p:sp>
      <p:sp>
        <p:nvSpPr>
          <p:cNvPr id="4" name="Slide Number Placeholder 3"/>
          <p:cNvSpPr>
            <a:spLocks noGrp="1"/>
          </p:cNvSpPr>
          <p:nvPr>
            <p:ph type="sldNum" sz="quarter" idx="5"/>
          </p:nvPr>
        </p:nvSpPr>
        <p:spPr/>
        <p:txBody>
          <a:bodyPr/>
          <a:lstStyle/>
          <a:p>
            <a:fld id="{9D0A15C3-A354-EF4A-94AB-02EE829E0D21}" type="slidenum">
              <a:rPr lang="en-US" smtClean="0"/>
              <a:t>16</a:t>
            </a:fld>
            <a:endParaRPr lang="en-US"/>
          </a:p>
        </p:txBody>
      </p:sp>
    </p:spTree>
    <p:extLst>
      <p:ext uri="{BB962C8B-B14F-4D97-AF65-F5344CB8AC3E}">
        <p14:creationId xmlns:p14="http://schemas.microsoft.com/office/powerpoint/2010/main" val="22831122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3730164" y="379408"/>
            <a:ext cx="7808687" cy="2387600"/>
          </a:xfrm>
        </p:spPr>
        <p:txBody>
          <a:bodyPr>
            <a:normAutofit/>
          </a:bodyPr>
          <a:lstStyle>
            <a:lvl1pPr>
              <a:defRPr sz="4400">
                <a:solidFill>
                  <a:srgbClr val="0057B7"/>
                </a:solidFill>
              </a:defRPr>
            </a:lvl1pPr>
          </a:lstStyle>
          <a:p>
            <a:r>
              <a:rPr lang="en-US">
                <a:solidFill>
                  <a:srgbClr val="0033CC"/>
                </a:solidFill>
                <a:latin typeface="+mn-lt"/>
              </a:rPr>
              <a:t>XX</a:t>
            </a:r>
          </a:p>
        </p:txBody>
      </p:sp>
      <p:sp>
        <p:nvSpPr>
          <p:cNvPr id="8" name="Subtitle 2"/>
          <p:cNvSpPr>
            <a:spLocks noGrp="1"/>
          </p:cNvSpPr>
          <p:nvPr>
            <p:ph type="subTitle" idx="1"/>
          </p:nvPr>
        </p:nvSpPr>
        <p:spPr>
          <a:xfrm>
            <a:off x="3744452" y="2916222"/>
            <a:ext cx="7808688" cy="1655762"/>
          </a:xfrm>
        </p:spPr>
        <p:txBody>
          <a:bodyPr>
            <a:normAutofit/>
          </a:bodyPr>
          <a:lstStyle>
            <a:lvl1pPr marL="0" indent="0" algn="ctr">
              <a:buFontTx/>
              <a:buNone/>
              <a:defRPr sz="3200"/>
            </a:lvl1pPr>
          </a:lstStyle>
          <a:p>
            <a:endParaRPr lang="en-US"/>
          </a:p>
        </p:txBody>
      </p:sp>
      <p:pic>
        <p:nvPicPr>
          <p:cNvPr id="13" name="Picture 12"/>
          <p:cNvPicPr>
            <a:picLocks noChangeAspect="1"/>
          </p:cNvPicPr>
          <p:nvPr userDrawn="1"/>
        </p:nvPicPr>
        <p:blipFill rotWithShape="1">
          <a:blip r:embed="rId2">
            <a:extLst>
              <a:ext uri="{28A0092B-C50C-407E-A947-70E740481C1C}">
                <a14:useLocalDpi xmlns:a14="http://schemas.microsoft.com/office/drawing/2010/main" val="0"/>
              </a:ext>
            </a:extLst>
          </a:blip>
          <a:srcRect l="8895" b="2275"/>
          <a:stretch/>
        </p:blipFill>
        <p:spPr>
          <a:xfrm>
            <a:off x="0" y="-288"/>
            <a:ext cx="3332249" cy="6858288"/>
          </a:xfrm>
          <a:prstGeom prst="rect">
            <a:avLst/>
          </a:prstGeom>
        </p:spPr>
      </p:pic>
    </p:spTree>
    <p:extLst>
      <p:ext uri="{BB962C8B-B14F-4D97-AF65-F5344CB8AC3E}">
        <p14:creationId xmlns:p14="http://schemas.microsoft.com/office/powerpoint/2010/main" val="25578429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567188" y="279397"/>
            <a:ext cx="11081253" cy="906465"/>
          </a:xfrm>
        </p:spPr>
        <p:txBody>
          <a:bodyPr anchor="ctr">
            <a:normAutofit/>
          </a:bodyPr>
          <a:lstStyle/>
          <a:p>
            <a:endParaRPr lang="en-US" sz="3600">
              <a:solidFill>
                <a:srgbClr val="0000FF"/>
              </a:solidFill>
              <a:latin typeface="+mn-lt"/>
            </a:endParaRPr>
          </a:p>
        </p:txBody>
      </p:sp>
      <p:sp>
        <p:nvSpPr>
          <p:cNvPr id="8" name="Content Placeholder 2"/>
          <p:cNvSpPr>
            <a:spLocks noGrp="1"/>
          </p:cNvSpPr>
          <p:nvPr>
            <p:ph idx="1"/>
          </p:nvPr>
        </p:nvSpPr>
        <p:spPr>
          <a:xfrm>
            <a:off x="567189" y="1364343"/>
            <a:ext cx="11081252" cy="4822145"/>
          </a:xfrm>
        </p:spPr>
        <p:txBody>
          <a:bodyPr/>
          <a:lstStyle>
            <a:lvl1pPr>
              <a:lnSpc>
                <a:spcPct val="100000"/>
              </a:lnSpc>
              <a:spcBef>
                <a:spcPts val="600"/>
              </a:spcBef>
              <a:spcAft>
                <a:spcPts val="600"/>
              </a:spcAft>
              <a:defRPr/>
            </a:lvl1pPr>
          </a:lstStyle>
          <a:p>
            <a:endParaRPr lang="en-US"/>
          </a:p>
        </p:txBody>
      </p:sp>
    </p:spTree>
    <p:extLst>
      <p:ext uri="{BB962C8B-B14F-4D97-AF65-F5344CB8AC3E}">
        <p14:creationId xmlns:p14="http://schemas.microsoft.com/office/powerpoint/2010/main" val="2604060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2"/>
          <p:cNvSpPr>
            <a:spLocks noGrp="1"/>
          </p:cNvSpPr>
          <p:nvPr>
            <p:ph sz="half" idx="1"/>
          </p:nvPr>
        </p:nvSpPr>
        <p:spPr>
          <a:xfrm>
            <a:off x="838200" y="1422399"/>
            <a:ext cx="5181600" cy="4812620"/>
          </a:xfrm>
        </p:spPr>
        <p:txBody>
          <a:bodyPr/>
          <a:lstStyle/>
          <a:p>
            <a:endParaRPr lang="en-US"/>
          </a:p>
        </p:txBody>
      </p:sp>
      <p:sp>
        <p:nvSpPr>
          <p:cNvPr id="9" name="Content Placeholder 8"/>
          <p:cNvSpPr>
            <a:spLocks noGrp="1"/>
          </p:cNvSpPr>
          <p:nvPr>
            <p:ph sz="half" idx="2"/>
          </p:nvPr>
        </p:nvSpPr>
        <p:spPr>
          <a:xfrm>
            <a:off x="6172200" y="1422399"/>
            <a:ext cx="5181600" cy="4812620"/>
          </a:xfrm>
        </p:spPr>
        <p:txBody>
          <a:bodyPr/>
          <a:lstStyle/>
          <a:p>
            <a:endParaRPr lang="en-US"/>
          </a:p>
        </p:txBody>
      </p:sp>
      <p:sp>
        <p:nvSpPr>
          <p:cNvPr id="13" name="Title 3"/>
          <p:cNvSpPr>
            <a:spLocks noGrp="1"/>
          </p:cNvSpPr>
          <p:nvPr>
            <p:ph type="title"/>
          </p:nvPr>
        </p:nvSpPr>
        <p:spPr>
          <a:xfrm>
            <a:off x="571498" y="250822"/>
            <a:ext cx="11091231" cy="892178"/>
          </a:xfrm>
        </p:spPr>
        <p:txBody>
          <a:bodyPr>
            <a:normAutofit/>
          </a:bodyPr>
          <a:lstStyle/>
          <a:p>
            <a:endParaRPr lang="en-US" sz="3600">
              <a:solidFill>
                <a:srgbClr val="0000FF"/>
              </a:solidFill>
              <a:latin typeface="+mn-lt"/>
            </a:endParaRPr>
          </a:p>
        </p:txBody>
      </p:sp>
    </p:spTree>
    <p:extLst>
      <p:ext uri="{BB962C8B-B14F-4D97-AF65-F5344CB8AC3E}">
        <p14:creationId xmlns:p14="http://schemas.microsoft.com/office/powerpoint/2010/main" val="842100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0075" y="228600"/>
            <a:ext cx="11001375" cy="1014414"/>
          </a:xfrm>
        </p:spPr>
        <p:txBody>
          <a:bodyPr/>
          <a:lstStyle/>
          <a:p>
            <a:r>
              <a:rPr lang="en-US"/>
              <a:t>Click to edit Master title style</a:t>
            </a:r>
          </a:p>
        </p:txBody>
      </p:sp>
      <p:sp>
        <p:nvSpPr>
          <p:cNvPr id="3" name="Text Placeholder 2"/>
          <p:cNvSpPr>
            <a:spLocks noGrp="1"/>
          </p:cNvSpPr>
          <p:nvPr>
            <p:ph type="body" idx="1"/>
          </p:nvPr>
        </p:nvSpPr>
        <p:spPr>
          <a:xfrm>
            <a:off x="839788" y="1352539"/>
            <a:ext cx="5157787" cy="823912"/>
          </a:xfrm>
        </p:spPr>
        <p:txBody>
          <a:bodyPr anchor="ct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176451"/>
            <a:ext cx="5157787" cy="4038612"/>
          </a:xfrm>
        </p:spPr>
        <p:txBody>
          <a:bodyPr/>
          <a:lstStyle>
            <a:lvl1pPr>
              <a:lnSpc>
                <a:spcPct val="100000"/>
              </a:lnSpc>
              <a:spcBef>
                <a:spcPts val="600"/>
              </a:spcBef>
              <a:defRPr/>
            </a:lvl1pPr>
            <a:lvl2pPr>
              <a:lnSpc>
                <a:spcPct val="100000"/>
              </a:lnSpc>
              <a:spcBef>
                <a:spcPts val="600"/>
              </a:spcBef>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352539"/>
            <a:ext cx="5183188" cy="823912"/>
          </a:xfrm>
        </p:spPr>
        <p:txBody>
          <a:bodyPr anchor="ct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176451"/>
            <a:ext cx="5183188" cy="4038612"/>
          </a:xfrm>
        </p:spPr>
        <p:txBody>
          <a:bodyPr/>
          <a:lstStyle>
            <a:lvl1pPr>
              <a:lnSpc>
                <a:spcPct val="100000"/>
              </a:lnSpc>
              <a:spcBef>
                <a:spcPts val="600"/>
              </a:spcBef>
              <a:defRPr/>
            </a:lvl1pPr>
            <a:lvl2pPr>
              <a:lnSpc>
                <a:spcPct val="100000"/>
              </a:lnSpc>
              <a:spcBef>
                <a:spcPts val="600"/>
              </a:spcBef>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5367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42937" y="228601"/>
            <a:ext cx="10929937" cy="1042987"/>
          </a:xfrm>
        </p:spPr>
        <p:txBody>
          <a:bodyPr/>
          <a:lstStyle/>
          <a:p>
            <a:r>
              <a:rPr lang="en-US"/>
              <a:t>Click to edit Master title style</a:t>
            </a:r>
          </a:p>
        </p:txBody>
      </p:sp>
    </p:spTree>
    <p:extLst>
      <p:ext uri="{BB962C8B-B14F-4D97-AF65-F5344CB8AC3E}">
        <p14:creationId xmlns:p14="http://schemas.microsoft.com/office/powerpoint/2010/main" val="594267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35179B-9CBC-5BB3-4926-4FC8CAB949AC}"/>
              </a:ext>
            </a:extLst>
          </p:cNvPr>
          <p:cNvSpPr>
            <a:spLocks noGrp="1"/>
          </p:cNvSpPr>
          <p:nvPr>
            <p:ph type="dt" sz="half" idx="10"/>
          </p:nvPr>
        </p:nvSpPr>
        <p:spPr/>
        <p:txBody>
          <a:bodyPr/>
          <a:lstStyle/>
          <a:p>
            <a:fld id="{C764DE79-268F-4C1A-8933-263129D2AF90}" type="datetimeFigureOut">
              <a:rPr lang="en-US" smtClean="0"/>
              <a:t>4/13/26</a:t>
            </a:fld>
            <a:endParaRPr lang="en-US"/>
          </a:p>
        </p:txBody>
      </p:sp>
      <p:sp>
        <p:nvSpPr>
          <p:cNvPr id="3" name="Footer Placeholder 2">
            <a:extLst>
              <a:ext uri="{FF2B5EF4-FFF2-40B4-BE49-F238E27FC236}">
                <a16:creationId xmlns:a16="http://schemas.microsoft.com/office/drawing/2014/main" id="{39F18418-FF3A-B6A3-747F-C9661CB23AA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28538DF-9704-3239-44E1-66B142C6A533}"/>
              </a:ext>
            </a:extLst>
          </p:cNvPr>
          <p:cNvSpPr>
            <a:spLocks noGrp="1"/>
          </p:cNvSpPr>
          <p:nvPr>
            <p:ph type="sldNum" sz="quarter" idx="12"/>
          </p:nvPr>
        </p:nvSpPr>
        <p:spPr/>
        <p:txBody>
          <a:bodyPr/>
          <a:lstStyle/>
          <a:p>
            <a:fld id="{9B11AF8B-AA4A-4143-91D6-A716333E3D61}" type="slidenum">
              <a:rPr lang="en-US" smtClean="0"/>
              <a:t>‹#›</a:t>
            </a:fld>
            <a:endParaRPr lang="en-US"/>
          </a:p>
        </p:txBody>
      </p:sp>
    </p:spTree>
    <p:extLst>
      <p:ext uri="{BB962C8B-B14F-4D97-AF65-F5344CB8AC3E}">
        <p14:creationId xmlns:p14="http://schemas.microsoft.com/office/powerpoint/2010/main" val="962242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28600"/>
            <a:ext cx="10515600" cy="100738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443038"/>
            <a:ext cx="10515600" cy="474345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4D1CB30D-92F6-4115-BFEF-7F1C4C5EDAD8}"/>
              </a:ext>
            </a:extLst>
          </p:cNvPr>
          <p:cNvSpPr txBox="1">
            <a:spLocks/>
          </p:cNvSpPr>
          <p:nvPr userDrawn="1"/>
        </p:nvSpPr>
        <p:spPr>
          <a:xfrm>
            <a:off x="11719882" y="24693"/>
            <a:ext cx="443089"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B11AF8B-AA4A-4143-91D6-A716333E3D61}" type="slidenum">
              <a:rPr lang="en-US" sz="1400" b="1" smtClean="0">
                <a:solidFill>
                  <a:srgbClr val="0057B7"/>
                </a:solidFill>
              </a:rPr>
              <a:pPr algn="ctr"/>
              <a:t>‹#›</a:t>
            </a:fld>
            <a:endParaRPr lang="en-US" sz="1400" b="1">
              <a:solidFill>
                <a:srgbClr val="0057B7"/>
              </a:solidFill>
            </a:endParaRPr>
          </a:p>
        </p:txBody>
      </p:sp>
      <p:sp>
        <p:nvSpPr>
          <p:cNvPr id="8" name="Rectangle 7"/>
          <p:cNvSpPr/>
          <p:nvPr userDrawn="1"/>
        </p:nvSpPr>
        <p:spPr>
          <a:xfrm>
            <a:off x="0" y="6263235"/>
            <a:ext cx="12192000" cy="594765"/>
          </a:xfrm>
          <a:prstGeom prst="rect">
            <a:avLst/>
          </a:prstGeom>
          <a:gradFill flip="none" rotWithShape="1">
            <a:gsLst>
              <a:gs pos="0">
                <a:srgbClr val="0057B7"/>
              </a:gs>
              <a:gs pos="75000">
                <a:srgbClr val="5498DB"/>
              </a:gs>
              <a:gs pos="100000">
                <a:srgbClr val="A7D8FE"/>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effectLst>
                <a:outerShdw blurRad="38100" dist="38100" dir="2700000" algn="tl">
                  <a:srgbClr val="000000">
                    <a:alpha val="43137"/>
                  </a:srgbClr>
                </a:outerShdw>
              </a:effectLst>
            </a:endParaRPr>
          </a:p>
        </p:txBody>
      </p:sp>
      <p:pic>
        <p:nvPicPr>
          <p:cNvPr id="5" name="Picture 4" descr="Logo&#10;&#10;AI-generated content may be incorrect.">
            <a:extLst>
              <a:ext uri="{FF2B5EF4-FFF2-40B4-BE49-F238E27FC236}">
                <a16:creationId xmlns:a16="http://schemas.microsoft.com/office/drawing/2014/main" id="{3E3F2C35-C93A-CF21-BB06-796ACF4E8C36}"/>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1344274" y="6306674"/>
            <a:ext cx="809171" cy="512648"/>
          </a:xfrm>
          <a:prstGeom prst="rect">
            <a:avLst/>
          </a:prstGeom>
        </p:spPr>
      </p:pic>
    </p:spTree>
    <p:extLst>
      <p:ext uri="{BB962C8B-B14F-4D97-AF65-F5344CB8AC3E}">
        <p14:creationId xmlns:p14="http://schemas.microsoft.com/office/powerpoint/2010/main" val="13585642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ctr" defTabSz="914400" rtl="0" eaLnBrk="1" latinLnBrk="0" hangingPunct="1">
        <a:lnSpc>
          <a:spcPct val="90000"/>
        </a:lnSpc>
        <a:spcBef>
          <a:spcPct val="0"/>
        </a:spcBef>
        <a:buNone/>
        <a:defRPr sz="3600" kern="1200">
          <a:solidFill>
            <a:srgbClr val="0057B7"/>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gif"/></Relationships>
</file>

<file path=ppt/slides/_rels/slide5.xml.rels><?xml version="1.0" encoding="UTF-8" standalone="yes"?>
<Relationships xmlns="http://schemas.openxmlformats.org/package/2006/relationships"><Relationship Id="rId3" Type="http://schemas.openxmlformats.org/officeDocument/2006/relationships/hyperlink" Target="https://nextstrain.org/seasonal-flu/h3n2/ha/12y"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papers.ssrn.com/sol3/papers.cfm?abstract_id=6201846&amp;__cf_chl_rt_tk=TYg8_.g26wj_cP3XSPiW758QjSEc2Scl0eCaC.6nrz8-1770903228-1.0.1.1-EW1U1CDFDDfnqmbEbJ17pvFXf7EQQR.H.AA7_3kD_3Y" TargetMode="External"/><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AC577-4581-3C5D-087B-87301570F9AE}"/>
              </a:ext>
            </a:extLst>
          </p:cNvPr>
          <p:cNvSpPr>
            <a:spLocks noGrp="1"/>
          </p:cNvSpPr>
          <p:nvPr>
            <p:ph type="ctrTitle"/>
          </p:nvPr>
        </p:nvSpPr>
        <p:spPr/>
        <p:txBody>
          <a:bodyPr/>
          <a:lstStyle/>
          <a:p>
            <a:r>
              <a:rPr lang="en-US" dirty="0"/>
              <a:t>Genomic Epidemiology</a:t>
            </a:r>
          </a:p>
        </p:txBody>
      </p:sp>
      <p:sp>
        <p:nvSpPr>
          <p:cNvPr id="3" name="Subtitle 2">
            <a:extLst>
              <a:ext uri="{FF2B5EF4-FFF2-40B4-BE49-F238E27FC236}">
                <a16:creationId xmlns:a16="http://schemas.microsoft.com/office/drawing/2014/main" id="{BA19D405-56B2-C3B1-4592-5ABA63A848C2}"/>
              </a:ext>
            </a:extLst>
          </p:cNvPr>
          <p:cNvSpPr>
            <a:spLocks noGrp="1"/>
          </p:cNvSpPr>
          <p:nvPr>
            <p:ph type="subTitle" idx="1"/>
          </p:nvPr>
        </p:nvSpPr>
        <p:spPr/>
        <p:txBody>
          <a:bodyPr/>
          <a:lstStyle/>
          <a:p>
            <a:r>
              <a:rPr lang="en-US" dirty="0"/>
              <a:t>Norman Hassell</a:t>
            </a:r>
          </a:p>
          <a:p>
            <a:r>
              <a:rPr lang="en-US" dirty="0"/>
              <a:t>Centers for Disease Control and Prevention</a:t>
            </a:r>
          </a:p>
        </p:txBody>
      </p:sp>
    </p:spTree>
    <p:extLst>
      <p:ext uri="{BB962C8B-B14F-4D97-AF65-F5344CB8AC3E}">
        <p14:creationId xmlns:p14="http://schemas.microsoft.com/office/powerpoint/2010/main" val="545673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CA50D-0176-D19A-5826-B0AD5783B834}"/>
              </a:ext>
            </a:extLst>
          </p:cNvPr>
          <p:cNvSpPr>
            <a:spLocks noGrp="1"/>
          </p:cNvSpPr>
          <p:nvPr>
            <p:ph type="title"/>
          </p:nvPr>
        </p:nvSpPr>
        <p:spPr/>
        <p:txBody>
          <a:bodyPr/>
          <a:lstStyle/>
          <a:p>
            <a:r>
              <a:rPr lang="en-US" dirty="0"/>
              <a:t>Disclaimer</a:t>
            </a:r>
          </a:p>
        </p:txBody>
      </p:sp>
      <p:sp>
        <p:nvSpPr>
          <p:cNvPr id="3" name="Content Placeholder 2">
            <a:extLst>
              <a:ext uri="{FF2B5EF4-FFF2-40B4-BE49-F238E27FC236}">
                <a16:creationId xmlns:a16="http://schemas.microsoft.com/office/drawing/2014/main" id="{687132A9-6E48-2413-3C26-CF435040E2EE}"/>
              </a:ext>
            </a:extLst>
          </p:cNvPr>
          <p:cNvSpPr>
            <a:spLocks noGrp="1"/>
          </p:cNvSpPr>
          <p:nvPr>
            <p:ph idx="1"/>
          </p:nvPr>
        </p:nvSpPr>
        <p:spPr/>
        <p:txBody>
          <a:bodyPr>
            <a:normAutofit fontScale="92500" lnSpcReduction="10000"/>
          </a:bodyPr>
          <a:lstStyle/>
          <a:p>
            <a:r>
              <a:rPr lang="en-US" dirty="0"/>
              <a:t>The findings and conclusions in this presentation are those of the authors and do not necessarily represent the official position of the Centers for Disease Control and Prevention.</a:t>
            </a:r>
          </a:p>
          <a:p>
            <a:endParaRPr lang="en-US" dirty="0"/>
          </a:p>
          <a:p>
            <a:r>
              <a:rPr lang="en-US" dirty="0"/>
              <a:t>Use of trade names and commercial sources is for identification only and does not imply endorsement by the U.S. Department of Health and Human Services.</a:t>
            </a:r>
          </a:p>
          <a:p>
            <a:endParaRPr lang="en-US" dirty="0"/>
          </a:p>
          <a:p>
            <a:r>
              <a:rPr lang="en-US" dirty="0"/>
              <a:t>References to non-CDC sites on the Internet do not constitute or imply endorsement of these organizations or their programs by CDC or the U.S. Department of Health and Human Services. CDC is not responsible for the content of pages found at these sites.</a:t>
            </a:r>
          </a:p>
        </p:txBody>
      </p:sp>
    </p:spTree>
    <p:extLst>
      <p:ext uri="{BB962C8B-B14F-4D97-AF65-F5344CB8AC3E}">
        <p14:creationId xmlns:p14="http://schemas.microsoft.com/office/powerpoint/2010/main" val="2928046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5B529-33FD-56E1-6AE0-E3DA205B2B68}"/>
              </a:ext>
            </a:extLst>
          </p:cNvPr>
          <p:cNvSpPr>
            <a:spLocks noGrp="1"/>
          </p:cNvSpPr>
          <p:nvPr>
            <p:ph type="title"/>
          </p:nvPr>
        </p:nvSpPr>
        <p:spPr/>
        <p:txBody>
          <a:bodyPr/>
          <a:lstStyle/>
          <a:p>
            <a:r>
              <a:rPr lang="en-US" dirty="0"/>
              <a:t>Reiterating the Points of Genomic Epidemiology</a:t>
            </a:r>
          </a:p>
        </p:txBody>
      </p:sp>
      <p:sp>
        <p:nvSpPr>
          <p:cNvPr id="3" name="Content Placeholder 2">
            <a:extLst>
              <a:ext uri="{FF2B5EF4-FFF2-40B4-BE49-F238E27FC236}">
                <a16:creationId xmlns:a16="http://schemas.microsoft.com/office/drawing/2014/main" id="{15FFADB6-BEFC-0ABA-E79F-41F688FB57D8}"/>
              </a:ext>
            </a:extLst>
          </p:cNvPr>
          <p:cNvSpPr>
            <a:spLocks noGrp="1"/>
          </p:cNvSpPr>
          <p:nvPr>
            <p:ph idx="1"/>
          </p:nvPr>
        </p:nvSpPr>
        <p:spPr/>
        <p:txBody>
          <a:bodyPr/>
          <a:lstStyle/>
          <a:p>
            <a:r>
              <a:rPr lang="en-US" dirty="0"/>
              <a:t>Genomic Epidemiology (aka Molecular Epidemiology):</a:t>
            </a:r>
          </a:p>
          <a:p>
            <a:pPr lvl="1"/>
            <a:r>
              <a:rPr lang="en-US" dirty="0"/>
              <a:t>The use of genetic sequence data to study the distribution, transmission, and evolution of diseases in populations.</a:t>
            </a:r>
          </a:p>
          <a:p>
            <a:endParaRPr lang="en-US" dirty="0"/>
          </a:p>
        </p:txBody>
      </p:sp>
      <p:pic>
        <p:nvPicPr>
          <p:cNvPr id="5" name="Picture 4" descr="Graphical user interface, application&#10;&#10;AI-generated content may be incorrect.">
            <a:extLst>
              <a:ext uri="{FF2B5EF4-FFF2-40B4-BE49-F238E27FC236}">
                <a16:creationId xmlns:a16="http://schemas.microsoft.com/office/drawing/2014/main" id="{8EC1A925-1C29-1A0F-57E9-FA3450F61AC1}"/>
              </a:ext>
            </a:extLst>
          </p:cNvPr>
          <p:cNvPicPr>
            <a:picLocks noChangeAspect="1"/>
          </p:cNvPicPr>
          <p:nvPr/>
        </p:nvPicPr>
        <p:blipFill>
          <a:blip r:embed="rId3"/>
          <a:stretch>
            <a:fillRect/>
          </a:stretch>
        </p:blipFill>
        <p:spPr>
          <a:xfrm>
            <a:off x="2396836" y="2789634"/>
            <a:ext cx="7017327" cy="3396854"/>
          </a:xfrm>
          <a:prstGeom prst="rect">
            <a:avLst/>
          </a:prstGeom>
        </p:spPr>
      </p:pic>
    </p:spTree>
    <p:extLst>
      <p:ext uri="{BB962C8B-B14F-4D97-AF65-F5344CB8AC3E}">
        <p14:creationId xmlns:p14="http://schemas.microsoft.com/office/powerpoint/2010/main" val="3481594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182881" y="249844"/>
            <a:ext cx="11558016" cy="997196"/>
          </a:xfrm>
          <a:prstGeom prst="rect">
            <a:avLst/>
          </a:prstGeom>
        </p:spPr>
        <p:txBody>
          <a:bodyPr vert="horz" wrap="square" lIns="0" tIns="0" rIns="0" bIns="0" rtlCol="0">
            <a:spAutoFit/>
          </a:bodyPr>
          <a:lstStyle/>
          <a:p>
            <a:pPr marL="12700" marR="121920" algn="l">
              <a:buClr>
                <a:schemeClr val="tx1"/>
              </a:buClr>
              <a:tabLst>
                <a:tab pos="317500" algn="l"/>
              </a:tabLst>
            </a:pPr>
            <a:r>
              <a:rPr lang="en-US" spc="-5" dirty="0">
                <a:cs typeface="Arial"/>
              </a:rPr>
              <a:t>Goals of Global Influenza Genomic Surveillance: understand circulating viral diversity, where and </a:t>
            </a:r>
            <a:r>
              <a:rPr lang="en-US" dirty="0">
                <a:cs typeface="Arial"/>
              </a:rPr>
              <a:t>to </a:t>
            </a:r>
            <a:r>
              <a:rPr lang="en-US" spc="-5" dirty="0">
                <a:cs typeface="Arial"/>
              </a:rPr>
              <a:t>what</a:t>
            </a:r>
            <a:r>
              <a:rPr lang="en-US" spc="-95" dirty="0">
                <a:cs typeface="Arial"/>
              </a:rPr>
              <a:t> </a:t>
            </a:r>
            <a:r>
              <a:rPr lang="en-US" spc="-5" dirty="0">
                <a:cs typeface="Arial"/>
              </a:rPr>
              <a:t>extent</a:t>
            </a:r>
            <a:endParaRPr lang="en-US" dirty="0">
              <a:cs typeface="Arial"/>
            </a:endParaRPr>
          </a:p>
        </p:txBody>
      </p:sp>
      <p:sp>
        <p:nvSpPr>
          <p:cNvPr id="6" name="TextBox 5">
            <a:extLst>
              <a:ext uri="{FF2B5EF4-FFF2-40B4-BE49-F238E27FC236}">
                <a16:creationId xmlns:a16="http://schemas.microsoft.com/office/drawing/2014/main" id="{172A794D-398D-4AB7-8EBF-E5D6DC236DF7}"/>
              </a:ext>
            </a:extLst>
          </p:cNvPr>
          <p:cNvSpPr txBox="1"/>
          <p:nvPr/>
        </p:nvSpPr>
        <p:spPr>
          <a:xfrm>
            <a:off x="3974713" y="1438270"/>
            <a:ext cx="8017262" cy="3785652"/>
          </a:xfrm>
          <a:prstGeom prst="rect">
            <a:avLst/>
          </a:prstGeom>
          <a:noFill/>
        </p:spPr>
        <p:txBody>
          <a:bodyPr wrap="square">
            <a:spAutoFit/>
          </a:bodyPr>
          <a:lstStyle/>
          <a:p>
            <a:pPr marL="96520" marR="482600" indent="-304800">
              <a:buClr>
                <a:schemeClr val="tx1"/>
              </a:buClr>
              <a:buChar char="•"/>
              <a:tabLst>
                <a:tab pos="553085" algn="l"/>
                <a:tab pos="553720" algn="l"/>
              </a:tabLst>
            </a:pPr>
            <a:r>
              <a:rPr lang="en-US" sz="2000" b="1" u="sng" dirty="0">
                <a:cs typeface="Arial"/>
              </a:rPr>
              <a:t>Create quality sequence of a virus and share data publicly</a:t>
            </a:r>
          </a:p>
          <a:p>
            <a:pPr marR="482600">
              <a:buClr>
                <a:schemeClr val="tx1"/>
              </a:buClr>
              <a:tabLst>
                <a:tab pos="553085" algn="l"/>
                <a:tab pos="553720" algn="l"/>
              </a:tabLst>
            </a:pPr>
            <a:endParaRPr lang="en-US" sz="2000" dirty="0">
              <a:cs typeface="Arial"/>
            </a:endParaRPr>
          </a:p>
          <a:p>
            <a:pPr marL="96520" marR="482600" indent="-304800">
              <a:buClr>
                <a:schemeClr val="tx1"/>
              </a:buClr>
              <a:buChar char="•"/>
              <a:tabLst>
                <a:tab pos="553085" algn="l"/>
                <a:tab pos="553720" algn="l"/>
              </a:tabLst>
            </a:pPr>
            <a:endParaRPr lang="en-US" sz="2000" dirty="0">
              <a:cs typeface="Arial"/>
            </a:endParaRPr>
          </a:p>
          <a:p>
            <a:pPr marR="482600">
              <a:buClr>
                <a:schemeClr val="tx1"/>
              </a:buClr>
              <a:tabLst>
                <a:tab pos="553085" algn="l"/>
                <a:tab pos="553720" algn="l"/>
              </a:tabLst>
            </a:pPr>
            <a:r>
              <a:rPr lang="en-US" sz="2000" dirty="0">
                <a:cs typeface="Arial"/>
              </a:rPr>
              <a:t>Molecular Epidemiology</a:t>
            </a:r>
          </a:p>
          <a:p>
            <a:pPr marL="96520" marR="482600" indent="-304800">
              <a:buClr>
                <a:schemeClr val="tx1"/>
              </a:buClr>
              <a:buFontTx/>
              <a:buChar char="•"/>
              <a:tabLst>
                <a:tab pos="553085" algn="l"/>
                <a:tab pos="553720" algn="l"/>
              </a:tabLst>
            </a:pPr>
            <a:r>
              <a:rPr lang="en-US" sz="2000" dirty="0">
                <a:cs typeface="Arial"/>
              </a:rPr>
              <a:t>Multiple sequence alignment with relevant sequences of viruses/reference virus for your question</a:t>
            </a:r>
          </a:p>
          <a:p>
            <a:pPr marL="96520" marR="482600" indent="-304800">
              <a:buClr>
                <a:schemeClr val="tx1"/>
              </a:buClr>
              <a:buChar char="•"/>
              <a:tabLst>
                <a:tab pos="553085" algn="l"/>
                <a:tab pos="553720" algn="l"/>
              </a:tabLst>
            </a:pPr>
            <a:r>
              <a:rPr lang="en-US" sz="2000" dirty="0">
                <a:cs typeface="Arial"/>
              </a:rPr>
              <a:t>Create phylogenetic tree(s) – Maximum-likelihood and Time-scaled</a:t>
            </a:r>
          </a:p>
          <a:p>
            <a:pPr marL="317500" marR="5080" indent="-304800">
              <a:buClr>
                <a:schemeClr val="tx1"/>
              </a:buClr>
              <a:buFontTx/>
              <a:buChar char="•"/>
              <a:tabLst>
                <a:tab pos="316865" algn="l"/>
                <a:tab pos="317500" algn="l"/>
              </a:tabLst>
            </a:pPr>
            <a:r>
              <a:rPr lang="en-US" sz="2000" spc="-5" dirty="0">
                <a:cs typeface="Arial"/>
              </a:rPr>
              <a:t>Data integration</a:t>
            </a:r>
            <a:r>
              <a:rPr lang="en-US" sz="2000" spc="-55" dirty="0">
                <a:cs typeface="Arial"/>
              </a:rPr>
              <a:t> </a:t>
            </a:r>
          </a:p>
          <a:p>
            <a:pPr marL="774700" marR="5080" lvl="1" indent="-304800">
              <a:buClr>
                <a:schemeClr val="tx1"/>
              </a:buClr>
              <a:buFontTx/>
              <a:buChar char="•"/>
              <a:tabLst>
                <a:tab pos="316865" algn="l"/>
                <a:tab pos="317500" algn="l"/>
              </a:tabLst>
            </a:pPr>
            <a:r>
              <a:rPr lang="en-US" sz="2000" spc="-5" dirty="0">
                <a:cs typeface="Arial"/>
              </a:rPr>
              <a:t>Correlate genetic change</a:t>
            </a:r>
            <a:r>
              <a:rPr lang="en-US" sz="2000" spc="-55" dirty="0">
                <a:cs typeface="Arial"/>
              </a:rPr>
              <a:t> </a:t>
            </a:r>
            <a:r>
              <a:rPr lang="en-US" sz="2000" spc="-5" dirty="0">
                <a:cs typeface="Arial"/>
              </a:rPr>
              <a:t>with </a:t>
            </a:r>
            <a:r>
              <a:rPr lang="en-US" sz="2000" dirty="0"/>
              <a:t>metadata such as phenotypic, </a:t>
            </a:r>
            <a:r>
              <a:rPr lang="en-US" sz="2000" spc="-5" dirty="0"/>
              <a:t>proteomic </a:t>
            </a:r>
            <a:r>
              <a:rPr lang="en-US" sz="2000" dirty="0"/>
              <a:t>and</a:t>
            </a:r>
            <a:r>
              <a:rPr lang="en-US" sz="2000" spc="55" dirty="0"/>
              <a:t> </a:t>
            </a:r>
            <a:r>
              <a:rPr lang="en-US" sz="2000" dirty="0"/>
              <a:t>epidemiological data</a:t>
            </a:r>
          </a:p>
          <a:p>
            <a:pPr marL="317500" marR="5080" indent="-304800">
              <a:buClr>
                <a:schemeClr val="tx1"/>
              </a:buClr>
              <a:buFontTx/>
              <a:buChar char="•"/>
              <a:tabLst>
                <a:tab pos="316865" algn="l"/>
                <a:tab pos="317500" algn="l"/>
              </a:tabLst>
            </a:pPr>
            <a:r>
              <a:rPr lang="en-US" sz="2000" dirty="0">
                <a:cs typeface="Arial"/>
              </a:rPr>
              <a:t>Analysis is retrospective and a moving window by season – timeliness of data critical for situational awareness</a:t>
            </a:r>
          </a:p>
        </p:txBody>
      </p:sp>
      <p:pic>
        <p:nvPicPr>
          <p:cNvPr id="7" name="Picture 6">
            <a:extLst>
              <a:ext uri="{FF2B5EF4-FFF2-40B4-BE49-F238E27FC236}">
                <a16:creationId xmlns:a16="http://schemas.microsoft.com/office/drawing/2014/main" id="{7E398019-0044-4E7A-A318-F960CACCE9F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024218" y="2062725"/>
            <a:ext cx="1169733" cy="939420"/>
          </a:xfrm>
          <a:prstGeom prst="rect">
            <a:avLst/>
          </a:prstGeom>
        </p:spPr>
      </p:pic>
      <p:pic>
        <p:nvPicPr>
          <p:cNvPr id="8" name="Picture 6" descr="http://www.bdmainc.com/images/database.gif">
            <a:extLst>
              <a:ext uri="{FF2B5EF4-FFF2-40B4-BE49-F238E27FC236}">
                <a16:creationId xmlns:a16="http://schemas.microsoft.com/office/drawing/2014/main" id="{0A0018EB-1BFC-4960-8BA1-37FB327D7F6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651239" y="1932764"/>
            <a:ext cx="1076474" cy="1154633"/>
          </a:xfrm>
          <a:prstGeom prst="rect">
            <a:avLst/>
          </a:prstGeom>
          <a:noFill/>
          <a:extLst>
            <a:ext uri="{909E8E84-426E-40dd-AFC4-6F175D3DCCD1}">
              <a14:hiddenFill xmlns:a14="http://schemas.microsoft.com/office/drawing/2010/main" xmlns="">
                <a:solidFill>
                  <a:srgbClr val="FFFFFF"/>
                </a:solidFill>
              </a14:hiddenFill>
            </a:ext>
          </a:extLst>
        </p:spPr>
      </p:pic>
      <p:pic>
        <p:nvPicPr>
          <p:cNvPr id="9" name="Picture 8">
            <a:extLst>
              <a:ext uri="{FF2B5EF4-FFF2-40B4-BE49-F238E27FC236}">
                <a16:creationId xmlns:a16="http://schemas.microsoft.com/office/drawing/2014/main" id="{2806FF09-669B-4FFA-8DE0-06505DEBACE2}"/>
              </a:ext>
            </a:extLst>
          </p:cNvPr>
          <p:cNvPicPr>
            <a:picLocks noChangeAspect="1"/>
          </p:cNvPicPr>
          <p:nvPr/>
        </p:nvPicPr>
        <p:blipFill>
          <a:blip r:embed="rId5"/>
          <a:stretch>
            <a:fillRect/>
          </a:stretch>
        </p:blipFill>
        <p:spPr>
          <a:xfrm>
            <a:off x="1123569" y="3095257"/>
            <a:ext cx="2604144" cy="2994764"/>
          </a:xfrm>
          <a:prstGeom prst="rect">
            <a:avLst/>
          </a:prstGeom>
        </p:spPr>
      </p:pic>
      <p:sp>
        <p:nvSpPr>
          <p:cNvPr id="11" name="TextBox 10">
            <a:extLst>
              <a:ext uri="{FF2B5EF4-FFF2-40B4-BE49-F238E27FC236}">
                <a16:creationId xmlns:a16="http://schemas.microsoft.com/office/drawing/2014/main" id="{807087FA-4AED-49D4-AF45-07E0A51604FF}"/>
              </a:ext>
            </a:extLst>
          </p:cNvPr>
          <p:cNvSpPr txBox="1"/>
          <p:nvPr/>
        </p:nvSpPr>
        <p:spPr>
          <a:xfrm>
            <a:off x="585458" y="6030705"/>
            <a:ext cx="4810540" cy="276999"/>
          </a:xfrm>
          <a:prstGeom prst="rect">
            <a:avLst/>
          </a:prstGeom>
          <a:noFill/>
        </p:spPr>
        <p:txBody>
          <a:bodyPr wrap="square">
            <a:spAutoFit/>
          </a:bodyPr>
          <a:lstStyle/>
          <a:p>
            <a:r>
              <a:rPr lang="en-US" sz="1200" dirty="0" err="1"/>
              <a:t>Klimov</a:t>
            </a:r>
            <a:r>
              <a:rPr lang="en-US" sz="1200" dirty="0"/>
              <a:t> et al, </a:t>
            </a:r>
            <a:r>
              <a:rPr lang="en-US" sz="1200" i="1" dirty="0"/>
              <a:t>Vaccine</a:t>
            </a:r>
            <a:r>
              <a:rPr lang="en-US" sz="1200" dirty="0"/>
              <a:t>. 2012 Oct 5;30(45):6461-71.</a:t>
            </a:r>
          </a:p>
        </p:txBody>
      </p:sp>
    </p:spTree>
    <p:extLst>
      <p:ext uri="{BB962C8B-B14F-4D97-AF65-F5344CB8AC3E}">
        <p14:creationId xmlns:p14="http://schemas.microsoft.com/office/powerpoint/2010/main" val="1512700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CB66F-274C-4397-8D47-62F4843A9D8B}"/>
              </a:ext>
            </a:extLst>
          </p:cNvPr>
          <p:cNvSpPr>
            <a:spLocks noGrp="1"/>
          </p:cNvSpPr>
          <p:nvPr>
            <p:ph type="title"/>
          </p:nvPr>
        </p:nvSpPr>
        <p:spPr>
          <a:xfrm>
            <a:off x="432790" y="0"/>
            <a:ext cx="11081253" cy="522114"/>
          </a:xfrm>
        </p:spPr>
        <p:txBody>
          <a:bodyPr>
            <a:normAutofit fontScale="90000"/>
          </a:bodyPr>
          <a:lstStyle/>
          <a:p>
            <a:r>
              <a:rPr lang="en-US" dirty="0"/>
              <a:t>Nextstrain</a:t>
            </a:r>
          </a:p>
        </p:txBody>
      </p:sp>
      <p:sp>
        <p:nvSpPr>
          <p:cNvPr id="7" name="TextBox 6">
            <a:extLst>
              <a:ext uri="{FF2B5EF4-FFF2-40B4-BE49-F238E27FC236}">
                <a16:creationId xmlns:a16="http://schemas.microsoft.com/office/drawing/2014/main" id="{D6ACE976-4936-43A0-9534-833C00409258}"/>
              </a:ext>
            </a:extLst>
          </p:cNvPr>
          <p:cNvSpPr txBox="1"/>
          <p:nvPr/>
        </p:nvSpPr>
        <p:spPr>
          <a:xfrm>
            <a:off x="7445572" y="5889899"/>
            <a:ext cx="4746428" cy="369332"/>
          </a:xfrm>
          <a:prstGeom prst="rect">
            <a:avLst/>
          </a:prstGeom>
          <a:noFill/>
        </p:spPr>
        <p:txBody>
          <a:bodyPr wrap="none" rtlCol="0">
            <a:spAutoFit/>
          </a:bodyPr>
          <a:lstStyle/>
          <a:p>
            <a:r>
              <a:rPr lang="en-US" dirty="0">
                <a:hlinkClick r:id="rId3"/>
              </a:rPr>
              <a:t>https://nextstrain.org/seasonal-flu/h3n2/ha/12y</a:t>
            </a:r>
            <a:endParaRPr lang="en-US" dirty="0"/>
          </a:p>
        </p:txBody>
      </p:sp>
      <p:sp>
        <p:nvSpPr>
          <p:cNvPr id="8" name="TextBox 7">
            <a:extLst>
              <a:ext uri="{FF2B5EF4-FFF2-40B4-BE49-F238E27FC236}">
                <a16:creationId xmlns:a16="http://schemas.microsoft.com/office/drawing/2014/main" id="{0E0E7BA1-3184-4F81-B5B6-247E1EF7C156}"/>
              </a:ext>
            </a:extLst>
          </p:cNvPr>
          <p:cNvSpPr txBox="1"/>
          <p:nvPr/>
        </p:nvSpPr>
        <p:spPr>
          <a:xfrm>
            <a:off x="2319284" y="5467813"/>
            <a:ext cx="1232132" cy="369332"/>
          </a:xfrm>
          <a:prstGeom prst="rect">
            <a:avLst/>
          </a:prstGeom>
          <a:noFill/>
        </p:spPr>
        <p:txBody>
          <a:bodyPr wrap="none" rtlCol="0">
            <a:spAutoFit/>
          </a:bodyPr>
          <a:lstStyle/>
          <a:p>
            <a:r>
              <a:rPr lang="en-US" dirty="0"/>
              <a:t>Divergence</a:t>
            </a:r>
          </a:p>
        </p:txBody>
      </p:sp>
      <p:sp>
        <p:nvSpPr>
          <p:cNvPr id="9" name="TextBox 8">
            <a:extLst>
              <a:ext uri="{FF2B5EF4-FFF2-40B4-BE49-F238E27FC236}">
                <a16:creationId xmlns:a16="http://schemas.microsoft.com/office/drawing/2014/main" id="{1A4A4EBC-26CC-421B-855B-29400613C00B}"/>
              </a:ext>
            </a:extLst>
          </p:cNvPr>
          <p:cNvSpPr txBox="1"/>
          <p:nvPr/>
        </p:nvSpPr>
        <p:spPr>
          <a:xfrm>
            <a:off x="8316155" y="5515425"/>
            <a:ext cx="1306448" cy="369332"/>
          </a:xfrm>
          <a:prstGeom prst="rect">
            <a:avLst/>
          </a:prstGeom>
          <a:noFill/>
        </p:spPr>
        <p:txBody>
          <a:bodyPr wrap="none" rtlCol="0">
            <a:spAutoFit/>
          </a:bodyPr>
          <a:lstStyle/>
          <a:p>
            <a:r>
              <a:rPr lang="en-US" dirty="0"/>
              <a:t>Time-scaled</a:t>
            </a:r>
          </a:p>
        </p:txBody>
      </p:sp>
      <p:pic>
        <p:nvPicPr>
          <p:cNvPr id="5" name="Picture 4" descr="Chart, bar chart&#10;&#10;AI-generated content may be incorrect.">
            <a:extLst>
              <a:ext uri="{FF2B5EF4-FFF2-40B4-BE49-F238E27FC236}">
                <a16:creationId xmlns:a16="http://schemas.microsoft.com/office/drawing/2014/main" id="{D1DFF9C2-CFB8-8EF4-B375-19F03BFB80C4}"/>
              </a:ext>
            </a:extLst>
          </p:cNvPr>
          <p:cNvPicPr>
            <a:picLocks noChangeAspect="1"/>
          </p:cNvPicPr>
          <p:nvPr/>
        </p:nvPicPr>
        <p:blipFill>
          <a:blip r:embed="rId4"/>
          <a:stretch>
            <a:fillRect/>
          </a:stretch>
        </p:blipFill>
        <p:spPr>
          <a:xfrm>
            <a:off x="95250" y="522114"/>
            <a:ext cx="6000750" cy="5053704"/>
          </a:xfrm>
          <a:prstGeom prst="rect">
            <a:avLst/>
          </a:prstGeom>
        </p:spPr>
      </p:pic>
      <p:pic>
        <p:nvPicPr>
          <p:cNvPr id="11" name="Picture 10" descr="Chart, bar chart&#10;&#10;AI-generated content may be incorrect.">
            <a:extLst>
              <a:ext uri="{FF2B5EF4-FFF2-40B4-BE49-F238E27FC236}">
                <a16:creationId xmlns:a16="http://schemas.microsoft.com/office/drawing/2014/main" id="{DA59141B-21A0-C248-FB09-13ACDFF3B4CD}"/>
              </a:ext>
            </a:extLst>
          </p:cNvPr>
          <p:cNvPicPr>
            <a:picLocks noChangeAspect="1"/>
          </p:cNvPicPr>
          <p:nvPr/>
        </p:nvPicPr>
        <p:blipFill>
          <a:blip r:embed="rId5"/>
          <a:stretch>
            <a:fillRect/>
          </a:stretch>
        </p:blipFill>
        <p:spPr>
          <a:xfrm>
            <a:off x="6152748" y="522113"/>
            <a:ext cx="5949927" cy="5053703"/>
          </a:xfrm>
          <a:prstGeom prst="rect">
            <a:avLst/>
          </a:prstGeom>
        </p:spPr>
      </p:pic>
    </p:spTree>
    <p:extLst>
      <p:ext uri="{BB962C8B-B14F-4D97-AF65-F5344CB8AC3E}">
        <p14:creationId xmlns:p14="http://schemas.microsoft.com/office/powerpoint/2010/main" val="2070378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182881" y="249844"/>
            <a:ext cx="11558016" cy="997196"/>
          </a:xfrm>
          <a:prstGeom prst="rect">
            <a:avLst/>
          </a:prstGeom>
        </p:spPr>
        <p:txBody>
          <a:bodyPr vert="horz" wrap="square" lIns="0" tIns="0" rIns="0" bIns="0" rtlCol="0">
            <a:spAutoFit/>
          </a:bodyPr>
          <a:lstStyle/>
          <a:p>
            <a:pPr marL="12700" marR="121920" algn="l">
              <a:buClr>
                <a:schemeClr val="tx1"/>
              </a:buClr>
              <a:tabLst>
                <a:tab pos="317500" algn="l"/>
              </a:tabLst>
            </a:pPr>
            <a:r>
              <a:rPr lang="en-US" spc="-5" dirty="0">
                <a:cs typeface="Arial"/>
              </a:rPr>
              <a:t>Goals of Global Influenza Genomic Surveillance: understand circulating viral diversity, where and </a:t>
            </a:r>
            <a:r>
              <a:rPr lang="en-US" dirty="0">
                <a:cs typeface="Arial"/>
              </a:rPr>
              <a:t>to </a:t>
            </a:r>
            <a:r>
              <a:rPr lang="en-US" spc="-5" dirty="0">
                <a:cs typeface="Arial"/>
              </a:rPr>
              <a:t>what</a:t>
            </a:r>
            <a:r>
              <a:rPr lang="en-US" spc="-95" dirty="0">
                <a:cs typeface="Arial"/>
              </a:rPr>
              <a:t> </a:t>
            </a:r>
            <a:r>
              <a:rPr lang="en-US" spc="-5" dirty="0">
                <a:cs typeface="Arial"/>
              </a:rPr>
              <a:t>extent</a:t>
            </a:r>
            <a:endParaRPr lang="en-US" dirty="0">
              <a:cs typeface="Arial"/>
            </a:endParaRPr>
          </a:p>
        </p:txBody>
      </p:sp>
      <p:sp>
        <p:nvSpPr>
          <p:cNvPr id="6" name="TextBox 5">
            <a:extLst>
              <a:ext uri="{FF2B5EF4-FFF2-40B4-BE49-F238E27FC236}">
                <a16:creationId xmlns:a16="http://schemas.microsoft.com/office/drawing/2014/main" id="{172A794D-398D-4AB7-8EBF-E5D6DC236DF7}"/>
              </a:ext>
            </a:extLst>
          </p:cNvPr>
          <p:cNvSpPr txBox="1"/>
          <p:nvPr/>
        </p:nvSpPr>
        <p:spPr>
          <a:xfrm>
            <a:off x="87631" y="2070195"/>
            <a:ext cx="5570219" cy="3046988"/>
          </a:xfrm>
          <a:prstGeom prst="rect">
            <a:avLst/>
          </a:prstGeom>
          <a:noFill/>
        </p:spPr>
        <p:txBody>
          <a:bodyPr wrap="square">
            <a:spAutoFit/>
          </a:bodyPr>
          <a:lstStyle/>
          <a:p>
            <a:pPr marL="96520" marR="482600" indent="-304800">
              <a:buClr>
                <a:schemeClr val="tx1"/>
              </a:buClr>
              <a:buChar char="•"/>
              <a:tabLst>
                <a:tab pos="553085" algn="l"/>
                <a:tab pos="553720" algn="l"/>
              </a:tabLst>
            </a:pPr>
            <a:r>
              <a:rPr lang="en-US" sz="2000" dirty="0">
                <a:cs typeface="Arial"/>
              </a:rPr>
              <a:t>Determine type of analysis and confidence levels to set sampling strategies</a:t>
            </a:r>
          </a:p>
          <a:p>
            <a:pPr marL="553720" marR="482600" lvl="1" indent="-304800">
              <a:buClr>
                <a:schemeClr val="tx1"/>
              </a:buClr>
              <a:buChar char="•"/>
              <a:tabLst>
                <a:tab pos="553085" algn="l"/>
                <a:tab pos="553720" algn="l"/>
              </a:tabLst>
            </a:pPr>
            <a:r>
              <a:rPr lang="en-US" sz="2000" dirty="0">
                <a:cs typeface="Arial"/>
              </a:rPr>
              <a:t>E.g., Random sampling of specimens from ILI surveillance</a:t>
            </a:r>
          </a:p>
          <a:p>
            <a:pPr marR="482600">
              <a:buClr>
                <a:schemeClr val="tx1"/>
              </a:buClr>
              <a:tabLst>
                <a:tab pos="553085" algn="l"/>
                <a:tab pos="553720" algn="l"/>
              </a:tabLst>
            </a:pPr>
            <a:endParaRPr lang="en-US" sz="2000" dirty="0">
              <a:cs typeface="Arial"/>
            </a:endParaRPr>
          </a:p>
          <a:p>
            <a:pPr marR="482600">
              <a:buClr>
                <a:schemeClr val="tx1"/>
              </a:buClr>
              <a:tabLst>
                <a:tab pos="553085" algn="l"/>
                <a:tab pos="553720" algn="l"/>
              </a:tabLst>
            </a:pPr>
            <a:r>
              <a:rPr lang="en-US" sz="2000" dirty="0">
                <a:cs typeface="Arial"/>
              </a:rPr>
              <a:t>US Sample Goals vs Actuals</a:t>
            </a:r>
          </a:p>
          <a:p>
            <a:pPr lvl="1">
              <a:tabLst>
                <a:tab pos="3657600" algn="l"/>
                <a:tab pos="5889625" algn="l"/>
                <a:tab pos="7658100" algn="l"/>
              </a:tabLst>
            </a:pPr>
            <a:r>
              <a:rPr lang="pt-BR" dirty="0"/>
              <a:t>B/Vic  =  100/wk 	=   3300/season</a:t>
            </a:r>
          </a:p>
          <a:p>
            <a:pPr lvl="1">
              <a:tabLst>
                <a:tab pos="3657600" algn="l"/>
                <a:tab pos="5889625" algn="l"/>
                <a:tab pos="7658100" algn="l"/>
              </a:tabLst>
            </a:pPr>
            <a:r>
              <a:rPr lang="pt-BR" dirty="0"/>
              <a:t>H1N1  =  100/wk	=   3300/season</a:t>
            </a:r>
          </a:p>
          <a:p>
            <a:pPr lvl="1">
              <a:tabLst>
                <a:tab pos="3657600" algn="l"/>
                <a:tab pos="5889625" algn="l"/>
                <a:tab pos="7658100" algn="l"/>
              </a:tabLst>
            </a:pPr>
            <a:r>
              <a:rPr lang="pt-BR" dirty="0"/>
              <a:t>H3N2  = 150/wk	=   4950/season</a:t>
            </a:r>
          </a:p>
          <a:p>
            <a:pPr lvl="1">
              <a:tabLst>
                <a:tab pos="3657600" algn="l"/>
                <a:tab pos="5889625" algn="l"/>
                <a:tab pos="7658100" algn="l"/>
              </a:tabLst>
            </a:pPr>
            <a:r>
              <a:rPr lang="pt-BR" dirty="0"/>
              <a:t>Total   = 350/wk	=   11,550/season</a:t>
            </a:r>
          </a:p>
        </p:txBody>
      </p:sp>
      <p:pic>
        <p:nvPicPr>
          <p:cNvPr id="2" name="Picture 1">
            <a:extLst>
              <a:ext uri="{FF2B5EF4-FFF2-40B4-BE49-F238E27FC236}">
                <a16:creationId xmlns:a16="http://schemas.microsoft.com/office/drawing/2014/main" id="{FA154BF1-BC53-C36E-D848-7F852323B30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585679" y="2070195"/>
            <a:ext cx="6423440" cy="2717609"/>
          </a:xfrm>
          <a:prstGeom prst="rect">
            <a:avLst/>
          </a:prstGeom>
        </p:spPr>
      </p:pic>
    </p:spTree>
    <p:extLst>
      <p:ext uri="{BB962C8B-B14F-4D97-AF65-F5344CB8AC3E}">
        <p14:creationId xmlns:p14="http://schemas.microsoft.com/office/powerpoint/2010/main" val="1285965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30A338-07B9-56B7-D5B5-B4E22F12939F}"/>
              </a:ext>
            </a:extLst>
          </p:cNvPr>
          <p:cNvSpPr>
            <a:spLocks noGrp="1"/>
          </p:cNvSpPr>
          <p:nvPr>
            <p:ph idx="1"/>
          </p:nvPr>
        </p:nvSpPr>
        <p:spPr>
          <a:xfrm>
            <a:off x="100463" y="935719"/>
            <a:ext cx="10786611" cy="2302782"/>
          </a:xfrm>
        </p:spPr>
        <p:txBody>
          <a:bodyPr>
            <a:normAutofit/>
          </a:bodyPr>
          <a:lstStyle/>
          <a:p>
            <a:r>
              <a:rPr lang="en-US" sz="2400" dirty="0"/>
              <a:t>Predominant clade/subclade, HA sequence by geography</a:t>
            </a:r>
          </a:p>
          <a:p>
            <a:pPr lvl="1"/>
            <a:r>
              <a:rPr lang="en-US" sz="2000" dirty="0"/>
              <a:t>Confidence dependent on sample size</a:t>
            </a:r>
          </a:p>
          <a:p>
            <a:pPr marL="0" indent="0">
              <a:buNone/>
            </a:pPr>
            <a:endParaRPr lang="en-US" sz="2400" dirty="0"/>
          </a:p>
        </p:txBody>
      </p:sp>
      <p:sp>
        <p:nvSpPr>
          <p:cNvPr id="4" name="object 4">
            <a:extLst>
              <a:ext uri="{FF2B5EF4-FFF2-40B4-BE49-F238E27FC236}">
                <a16:creationId xmlns:a16="http://schemas.microsoft.com/office/drawing/2014/main" id="{755CA35C-91A9-A601-D32A-2333DCC2B86C}"/>
              </a:ext>
            </a:extLst>
          </p:cNvPr>
          <p:cNvSpPr txBox="1">
            <a:spLocks noGrp="1"/>
          </p:cNvSpPr>
          <p:nvPr>
            <p:ph type="title"/>
          </p:nvPr>
        </p:nvSpPr>
        <p:spPr>
          <a:xfrm>
            <a:off x="554831" y="245207"/>
            <a:ext cx="11082337" cy="498598"/>
          </a:xfrm>
          <a:prstGeom prst="rect">
            <a:avLst/>
          </a:prstGeom>
        </p:spPr>
        <p:txBody>
          <a:bodyPr vert="horz" wrap="square" lIns="0" tIns="0" rIns="0" bIns="0" rtlCol="0">
            <a:spAutoFit/>
          </a:bodyPr>
          <a:lstStyle/>
          <a:p>
            <a:r>
              <a:rPr lang="en-US" sz="3600" dirty="0"/>
              <a:t>Understand the genetic diversity in epidemic</a:t>
            </a:r>
          </a:p>
        </p:txBody>
      </p:sp>
      <p:pic>
        <p:nvPicPr>
          <p:cNvPr id="6" name="Picture 5">
            <a:extLst>
              <a:ext uri="{FF2B5EF4-FFF2-40B4-BE49-F238E27FC236}">
                <a16:creationId xmlns:a16="http://schemas.microsoft.com/office/drawing/2014/main" id="{D0DB0893-0055-C749-38B1-431A2F7D6754}"/>
              </a:ext>
            </a:extLst>
          </p:cNvPr>
          <p:cNvPicPr>
            <a:picLocks noChangeAspect="1"/>
          </p:cNvPicPr>
          <p:nvPr/>
        </p:nvPicPr>
        <p:blipFill>
          <a:blip r:embed="rId3"/>
          <a:stretch>
            <a:fillRect/>
          </a:stretch>
        </p:blipFill>
        <p:spPr>
          <a:xfrm>
            <a:off x="1762125" y="1931125"/>
            <a:ext cx="9124950" cy="4139434"/>
          </a:xfrm>
          <a:prstGeom prst="rect">
            <a:avLst/>
          </a:prstGeom>
        </p:spPr>
      </p:pic>
    </p:spTree>
    <p:extLst>
      <p:ext uri="{BB962C8B-B14F-4D97-AF65-F5344CB8AC3E}">
        <p14:creationId xmlns:p14="http://schemas.microsoft.com/office/powerpoint/2010/main" val="509162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30A338-07B9-56B7-D5B5-B4E22F12939F}"/>
              </a:ext>
            </a:extLst>
          </p:cNvPr>
          <p:cNvSpPr>
            <a:spLocks noGrp="1"/>
          </p:cNvSpPr>
          <p:nvPr>
            <p:ph idx="1"/>
          </p:nvPr>
        </p:nvSpPr>
        <p:spPr>
          <a:xfrm>
            <a:off x="100463" y="935719"/>
            <a:ext cx="10824711" cy="2302782"/>
          </a:xfrm>
        </p:spPr>
        <p:txBody>
          <a:bodyPr>
            <a:normAutofit/>
          </a:bodyPr>
          <a:lstStyle/>
          <a:p>
            <a:r>
              <a:rPr lang="pt-BR" sz="2400" dirty="0"/>
              <a:t>What is the minimum proportion we are likely (i.e., confidence = 95%) to detect with a given sample size?</a:t>
            </a:r>
          </a:p>
          <a:p>
            <a:pPr lvl="1"/>
            <a:r>
              <a:rPr lang="pt-BR" sz="2000" dirty="0"/>
              <a:t>Goal to identify emerging genetic variants early</a:t>
            </a:r>
          </a:p>
          <a:p>
            <a:pPr marL="0" indent="0">
              <a:buNone/>
            </a:pPr>
            <a:endParaRPr lang="en-US" sz="2400" dirty="0"/>
          </a:p>
        </p:txBody>
      </p:sp>
      <p:sp>
        <p:nvSpPr>
          <p:cNvPr id="4" name="object 4">
            <a:extLst>
              <a:ext uri="{FF2B5EF4-FFF2-40B4-BE49-F238E27FC236}">
                <a16:creationId xmlns:a16="http://schemas.microsoft.com/office/drawing/2014/main" id="{755CA35C-91A9-A601-D32A-2333DCC2B86C}"/>
              </a:ext>
            </a:extLst>
          </p:cNvPr>
          <p:cNvSpPr txBox="1">
            <a:spLocks noGrp="1"/>
          </p:cNvSpPr>
          <p:nvPr>
            <p:ph type="title"/>
          </p:nvPr>
        </p:nvSpPr>
        <p:spPr>
          <a:xfrm>
            <a:off x="554831" y="245207"/>
            <a:ext cx="11082337" cy="498598"/>
          </a:xfrm>
          <a:prstGeom prst="rect">
            <a:avLst/>
          </a:prstGeom>
        </p:spPr>
        <p:txBody>
          <a:bodyPr vert="horz" wrap="square" lIns="0" tIns="0" rIns="0" bIns="0" rtlCol="0">
            <a:spAutoFit/>
          </a:bodyPr>
          <a:lstStyle/>
          <a:p>
            <a:r>
              <a:rPr lang="en-US" sz="3600" dirty="0"/>
              <a:t>Understand the genetic diversity in epidemic</a:t>
            </a:r>
          </a:p>
        </p:txBody>
      </p:sp>
      <p:pic>
        <p:nvPicPr>
          <p:cNvPr id="10" name="Picture 9">
            <a:extLst>
              <a:ext uri="{FF2B5EF4-FFF2-40B4-BE49-F238E27FC236}">
                <a16:creationId xmlns:a16="http://schemas.microsoft.com/office/drawing/2014/main" id="{B23DE500-EA4C-BF95-68F9-394CDF30B7E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529597" y="2397999"/>
            <a:ext cx="9132804" cy="3863878"/>
          </a:xfrm>
          <a:prstGeom prst="rect">
            <a:avLst/>
          </a:prstGeom>
        </p:spPr>
      </p:pic>
    </p:spTree>
    <p:extLst>
      <p:ext uri="{BB962C8B-B14F-4D97-AF65-F5344CB8AC3E}">
        <p14:creationId xmlns:p14="http://schemas.microsoft.com/office/powerpoint/2010/main" val="1725593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30A338-07B9-56B7-D5B5-B4E22F12939F}"/>
              </a:ext>
            </a:extLst>
          </p:cNvPr>
          <p:cNvSpPr>
            <a:spLocks noGrp="1"/>
          </p:cNvSpPr>
          <p:nvPr>
            <p:ph idx="1"/>
          </p:nvPr>
        </p:nvSpPr>
        <p:spPr>
          <a:xfrm>
            <a:off x="100463" y="935719"/>
            <a:ext cx="10824711" cy="2302782"/>
          </a:xfrm>
        </p:spPr>
        <p:txBody>
          <a:bodyPr>
            <a:normAutofit/>
          </a:bodyPr>
          <a:lstStyle/>
          <a:p>
            <a:r>
              <a:rPr lang="en-US" sz="2400" dirty="0"/>
              <a:t>Change in clade/subclade, HA sequence over time</a:t>
            </a:r>
          </a:p>
          <a:p>
            <a:pPr marL="0" indent="0">
              <a:buNone/>
            </a:pPr>
            <a:endParaRPr lang="en-US" sz="2400" dirty="0"/>
          </a:p>
        </p:txBody>
      </p:sp>
      <p:sp>
        <p:nvSpPr>
          <p:cNvPr id="4" name="object 4">
            <a:extLst>
              <a:ext uri="{FF2B5EF4-FFF2-40B4-BE49-F238E27FC236}">
                <a16:creationId xmlns:a16="http://schemas.microsoft.com/office/drawing/2014/main" id="{755CA35C-91A9-A601-D32A-2333DCC2B86C}"/>
              </a:ext>
            </a:extLst>
          </p:cNvPr>
          <p:cNvSpPr txBox="1">
            <a:spLocks noGrp="1"/>
          </p:cNvSpPr>
          <p:nvPr>
            <p:ph type="title"/>
          </p:nvPr>
        </p:nvSpPr>
        <p:spPr>
          <a:xfrm>
            <a:off x="554831" y="245207"/>
            <a:ext cx="11082337" cy="498598"/>
          </a:xfrm>
          <a:prstGeom prst="rect">
            <a:avLst/>
          </a:prstGeom>
        </p:spPr>
        <p:txBody>
          <a:bodyPr vert="horz" wrap="square" lIns="0" tIns="0" rIns="0" bIns="0" rtlCol="0">
            <a:spAutoFit/>
          </a:bodyPr>
          <a:lstStyle/>
          <a:p>
            <a:r>
              <a:rPr lang="en-US" sz="3600" dirty="0"/>
              <a:t>Understand the genetic diversity in epidemic</a:t>
            </a:r>
          </a:p>
        </p:txBody>
      </p:sp>
      <p:pic>
        <p:nvPicPr>
          <p:cNvPr id="7" name="Picture 6">
            <a:extLst>
              <a:ext uri="{FF2B5EF4-FFF2-40B4-BE49-F238E27FC236}">
                <a16:creationId xmlns:a16="http://schemas.microsoft.com/office/drawing/2014/main" id="{B65F3CA8-9E77-C8C7-F113-D234AA3BE8A4}"/>
              </a:ext>
            </a:extLst>
          </p:cNvPr>
          <p:cNvPicPr>
            <a:picLocks noChangeAspect="1"/>
          </p:cNvPicPr>
          <p:nvPr/>
        </p:nvPicPr>
        <p:blipFill>
          <a:blip r:embed="rId3"/>
          <a:stretch>
            <a:fillRect/>
          </a:stretch>
        </p:blipFill>
        <p:spPr>
          <a:xfrm>
            <a:off x="2006618" y="1877961"/>
            <a:ext cx="8413732" cy="4261324"/>
          </a:xfrm>
          <a:prstGeom prst="rect">
            <a:avLst/>
          </a:prstGeom>
        </p:spPr>
      </p:pic>
    </p:spTree>
    <p:extLst>
      <p:ext uri="{BB962C8B-B14F-4D97-AF65-F5344CB8AC3E}">
        <p14:creationId xmlns:p14="http://schemas.microsoft.com/office/powerpoint/2010/main" val="3512846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AA2E6-01D8-407F-8A97-35ACA0A01633}"/>
              </a:ext>
            </a:extLst>
          </p:cNvPr>
          <p:cNvSpPr>
            <a:spLocks noGrp="1"/>
          </p:cNvSpPr>
          <p:nvPr>
            <p:ph type="title"/>
          </p:nvPr>
        </p:nvSpPr>
        <p:spPr>
          <a:xfrm>
            <a:off x="104775" y="69129"/>
            <a:ext cx="11677649" cy="750021"/>
          </a:xfrm>
        </p:spPr>
        <p:txBody>
          <a:bodyPr vert="horz" lIns="91440" tIns="45720" rIns="91440" bIns="45720" rtlCol="0" anchor="ctr">
            <a:normAutofit/>
          </a:bodyPr>
          <a:lstStyle/>
          <a:p>
            <a:r>
              <a:rPr lang="en-US" kern="1200" dirty="0">
                <a:solidFill>
                  <a:srgbClr val="0057B7"/>
                </a:solidFill>
                <a:ea typeface="+mj-ea"/>
                <a:cs typeface="+mj-cs"/>
              </a:rPr>
              <a:t>Genotype to Phenotype</a:t>
            </a:r>
          </a:p>
        </p:txBody>
      </p:sp>
      <p:sp>
        <p:nvSpPr>
          <p:cNvPr id="3" name="Content Placeholder 2">
            <a:extLst>
              <a:ext uri="{FF2B5EF4-FFF2-40B4-BE49-F238E27FC236}">
                <a16:creationId xmlns:a16="http://schemas.microsoft.com/office/drawing/2014/main" id="{DC0FECF8-C07B-4992-8D8E-1EEF626B2172}"/>
              </a:ext>
            </a:extLst>
          </p:cNvPr>
          <p:cNvSpPr>
            <a:spLocks noGrp="1"/>
          </p:cNvSpPr>
          <p:nvPr>
            <p:ph idx="1"/>
          </p:nvPr>
        </p:nvSpPr>
        <p:spPr>
          <a:xfrm>
            <a:off x="4239386" y="1101883"/>
            <a:ext cx="7679817" cy="2971800"/>
          </a:xfrm>
        </p:spPr>
        <p:txBody>
          <a:bodyPr vert="horz" lIns="91440" tIns="45720" rIns="91440" bIns="45720" rtlCol="0" anchor="ctr">
            <a:noAutofit/>
          </a:bodyPr>
          <a:lstStyle/>
          <a:p>
            <a:r>
              <a:rPr lang="en-US" sz="2000" dirty="0"/>
              <a:t>Create phenotypic data representing the circulating genetic diversity</a:t>
            </a:r>
          </a:p>
          <a:p>
            <a:pPr lvl="1"/>
            <a:r>
              <a:rPr lang="en-US" sz="2000" dirty="0"/>
              <a:t>Prioritize viruses by their HA sequence and global observance</a:t>
            </a:r>
          </a:p>
          <a:p>
            <a:pPr lvl="1"/>
            <a:r>
              <a:rPr lang="en-US" sz="2000" dirty="0"/>
              <a:t>Create testing goal per HA sequence</a:t>
            </a:r>
          </a:p>
          <a:p>
            <a:r>
              <a:rPr lang="en-US" sz="2000" dirty="0"/>
              <a:t>Determine molecular determinants of antigenic change through genetic and antigenic data integration</a:t>
            </a:r>
          </a:p>
          <a:p>
            <a:pPr lvl="1"/>
            <a:r>
              <a:rPr lang="en-US" sz="2000" dirty="0"/>
              <a:t>E.g., Amino acid positions N158K and K189R associated with decreased antibody recognition using post-infection ferret antisera</a:t>
            </a:r>
          </a:p>
          <a:p>
            <a:pPr lvl="1"/>
            <a:r>
              <a:rPr lang="en-US" sz="2000" dirty="0"/>
              <a:t>Identify genetic and antigenic lineages for additional analysis using human sera</a:t>
            </a:r>
          </a:p>
          <a:p>
            <a:pPr marL="457200" lvl="1" indent="0">
              <a:buNone/>
            </a:pPr>
            <a:endParaRPr lang="en-US" sz="2000" dirty="0"/>
          </a:p>
        </p:txBody>
      </p:sp>
      <p:pic>
        <p:nvPicPr>
          <p:cNvPr id="31" name="Picture 30">
            <a:extLst>
              <a:ext uri="{FF2B5EF4-FFF2-40B4-BE49-F238E27FC236}">
                <a16:creationId xmlns:a16="http://schemas.microsoft.com/office/drawing/2014/main" id="{2870FF0E-2FC4-F029-F1E4-B58ED6053DD1}"/>
              </a:ext>
            </a:extLst>
          </p:cNvPr>
          <p:cNvPicPr>
            <a:picLocks noChangeAspect="1"/>
          </p:cNvPicPr>
          <p:nvPr/>
        </p:nvPicPr>
        <p:blipFill>
          <a:blip r:embed="rId3"/>
          <a:stretch>
            <a:fillRect/>
          </a:stretch>
        </p:blipFill>
        <p:spPr>
          <a:xfrm>
            <a:off x="104775" y="895351"/>
            <a:ext cx="4007931" cy="4476749"/>
          </a:xfrm>
          <a:prstGeom prst="rect">
            <a:avLst/>
          </a:prstGeom>
        </p:spPr>
      </p:pic>
      <p:pic>
        <p:nvPicPr>
          <p:cNvPr id="32" name="Picture 31">
            <a:extLst>
              <a:ext uri="{FF2B5EF4-FFF2-40B4-BE49-F238E27FC236}">
                <a16:creationId xmlns:a16="http://schemas.microsoft.com/office/drawing/2014/main" id="{52292BA2-5ABE-FB5F-BF59-00C68856CF6E}"/>
              </a:ext>
            </a:extLst>
          </p:cNvPr>
          <p:cNvPicPr>
            <a:picLocks noChangeAspect="1"/>
          </p:cNvPicPr>
          <p:nvPr/>
        </p:nvPicPr>
        <p:blipFill>
          <a:blip r:embed="rId4"/>
          <a:srcRect t="46758"/>
          <a:stretch/>
        </p:blipFill>
        <p:spPr>
          <a:xfrm>
            <a:off x="4274058" y="4270217"/>
            <a:ext cx="7610475" cy="2203766"/>
          </a:xfrm>
          <a:prstGeom prst="rect">
            <a:avLst/>
          </a:prstGeom>
        </p:spPr>
      </p:pic>
    </p:spTree>
    <p:extLst>
      <p:ext uri="{BB962C8B-B14F-4D97-AF65-F5344CB8AC3E}">
        <p14:creationId xmlns:p14="http://schemas.microsoft.com/office/powerpoint/2010/main" val="3284004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A2A6559-5372-B10B-316B-5EFAC04D1BF0}"/>
              </a:ext>
            </a:extLst>
          </p:cNvPr>
          <p:cNvSpPr txBox="1">
            <a:spLocks/>
          </p:cNvSpPr>
          <p:nvPr/>
        </p:nvSpPr>
        <p:spPr>
          <a:xfrm>
            <a:off x="104775" y="69129"/>
            <a:ext cx="11677649" cy="750021"/>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kern="1200">
                <a:solidFill>
                  <a:srgbClr val="0057B7"/>
                </a:solidFill>
                <a:latin typeface="+mn-lt"/>
                <a:ea typeface="+mj-ea"/>
                <a:cs typeface="+mj-cs"/>
              </a:defRPr>
            </a:lvl1pPr>
          </a:lstStyle>
          <a:p>
            <a:r>
              <a:rPr lang="en-US"/>
              <a:t>Genotype to Phenotype</a:t>
            </a:r>
            <a:endParaRPr lang="en-US" dirty="0"/>
          </a:p>
        </p:txBody>
      </p:sp>
      <p:sp>
        <p:nvSpPr>
          <p:cNvPr id="7" name="TextBox 6">
            <a:extLst>
              <a:ext uri="{FF2B5EF4-FFF2-40B4-BE49-F238E27FC236}">
                <a16:creationId xmlns:a16="http://schemas.microsoft.com/office/drawing/2014/main" id="{5FE207FE-FC3C-A5C7-E016-750FA78C3A8A}"/>
              </a:ext>
            </a:extLst>
          </p:cNvPr>
          <p:cNvSpPr txBox="1"/>
          <p:nvPr/>
        </p:nvSpPr>
        <p:spPr>
          <a:xfrm>
            <a:off x="383380" y="871819"/>
            <a:ext cx="11256169" cy="923330"/>
          </a:xfrm>
          <a:prstGeom prst="rect">
            <a:avLst/>
          </a:prstGeom>
          <a:noFill/>
        </p:spPr>
        <p:txBody>
          <a:bodyPr wrap="square">
            <a:spAutoFit/>
          </a:bodyPr>
          <a:lstStyle/>
          <a:p>
            <a:r>
              <a:rPr lang="en-US" i="1" dirty="0"/>
              <a:t>Infer Antigenic Characterization for HA proteins which have met testing and result quality thresholds</a:t>
            </a:r>
          </a:p>
          <a:p>
            <a:pPr marL="742950" lvl="1" indent="-285750">
              <a:buFont typeface="Arial" panose="020B0604020202020204" pitchFamily="34" charset="0"/>
              <a:buChar char="•"/>
            </a:pPr>
            <a:r>
              <a:rPr lang="en-US" i="1" dirty="0"/>
              <a:t>more of the genetic variation seen within a season to have actional antigenic results in time for the vaccine selection meetings</a:t>
            </a:r>
          </a:p>
        </p:txBody>
      </p:sp>
      <p:pic>
        <p:nvPicPr>
          <p:cNvPr id="11" name="Picture 10">
            <a:extLst>
              <a:ext uri="{FF2B5EF4-FFF2-40B4-BE49-F238E27FC236}">
                <a16:creationId xmlns:a16="http://schemas.microsoft.com/office/drawing/2014/main" id="{C468C710-C177-9A8B-BC79-7DD43BED081B}"/>
              </a:ext>
            </a:extLst>
          </p:cNvPr>
          <p:cNvPicPr>
            <a:picLocks noChangeAspect="1"/>
          </p:cNvPicPr>
          <p:nvPr/>
        </p:nvPicPr>
        <p:blipFill>
          <a:blip r:embed="rId3"/>
          <a:stretch>
            <a:fillRect/>
          </a:stretch>
        </p:blipFill>
        <p:spPr>
          <a:xfrm>
            <a:off x="383380" y="2152649"/>
            <a:ext cx="5177470" cy="3813886"/>
          </a:xfrm>
          <a:prstGeom prst="rect">
            <a:avLst/>
          </a:prstGeom>
        </p:spPr>
      </p:pic>
      <p:pic>
        <p:nvPicPr>
          <p:cNvPr id="13" name="Picture 12">
            <a:extLst>
              <a:ext uri="{FF2B5EF4-FFF2-40B4-BE49-F238E27FC236}">
                <a16:creationId xmlns:a16="http://schemas.microsoft.com/office/drawing/2014/main" id="{6AD9B3EC-8970-9D94-CF8A-9387CBE9DA83}"/>
              </a:ext>
            </a:extLst>
          </p:cNvPr>
          <p:cNvPicPr>
            <a:picLocks noChangeAspect="1"/>
          </p:cNvPicPr>
          <p:nvPr/>
        </p:nvPicPr>
        <p:blipFill>
          <a:blip r:embed="rId4"/>
          <a:stretch>
            <a:fillRect/>
          </a:stretch>
        </p:blipFill>
        <p:spPr>
          <a:xfrm>
            <a:off x="6448321" y="2070444"/>
            <a:ext cx="5334103" cy="3896091"/>
          </a:xfrm>
          <a:prstGeom prst="rect">
            <a:avLst/>
          </a:prstGeom>
        </p:spPr>
      </p:pic>
      <p:sp>
        <p:nvSpPr>
          <p:cNvPr id="14" name="TextBox 13">
            <a:extLst>
              <a:ext uri="{FF2B5EF4-FFF2-40B4-BE49-F238E27FC236}">
                <a16:creationId xmlns:a16="http://schemas.microsoft.com/office/drawing/2014/main" id="{B2149621-75D9-AF3D-8D37-4F35C0CC63AE}"/>
              </a:ext>
            </a:extLst>
          </p:cNvPr>
          <p:cNvSpPr txBox="1"/>
          <p:nvPr/>
        </p:nvSpPr>
        <p:spPr>
          <a:xfrm>
            <a:off x="2619375" y="5954703"/>
            <a:ext cx="1276440" cy="369332"/>
          </a:xfrm>
          <a:prstGeom prst="rect">
            <a:avLst/>
          </a:prstGeom>
          <a:noFill/>
        </p:spPr>
        <p:txBody>
          <a:bodyPr wrap="none" rtlCol="0">
            <a:spAutoFit/>
          </a:bodyPr>
          <a:lstStyle/>
          <a:p>
            <a:r>
              <a:rPr lang="en-US" dirty="0"/>
              <a:t>Test Results</a:t>
            </a:r>
          </a:p>
        </p:txBody>
      </p:sp>
      <p:sp>
        <p:nvSpPr>
          <p:cNvPr id="15" name="TextBox 14">
            <a:extLst>
              <a:ext uri="{FF2B5EF4-FFF2-40B4-BE49-F238E27FC236}">
                <a16:creationId xmlns:a16="http://schemas.microsoft.com/office/drawing/2014/main" id="{25C7C4F9-866F-A2A8-F31B-B5DD8BE9E26A}"/>
              </a:ext>
            </a:extLst>
          </p:cNvPr>
          <p:cNvSpPr txBox="1"/>
          <p:nvPr/>
        </p:nvSpPr>
        <p:spPr>
          <a:xfrm>
            <a:off x="8191412" y="5949063"/>
            <a:ext cx="2489399" cy="369332"/>
          </a:xfrm>
          <a:prstGeom prst="rect">
            <a:avLst/>
          </a:prstGeom>
          <a:noFill/>
        </p:spPr>
        <p:txBody>
          <a:bodyPr wrap="none" rtlCol="0">
            <a:spAutoFit/>
          </a:bodyPr>
          <a:lstStyle/>
          <a:p>
            <a:r>
              <a:rPr lang="en-US" dirty="0"/>
              <a:t>Test and Inferred Results</a:t>
            </a:r>
          </a:p>
        </p:txBody>
      </p:sp>
    </p:spTree>
    <p:extLst>
      <p:ext uri="{BB962C8B-B14F-4D97-AF65-F5344CB8AC3E}">
        <p14:creationId xmlns:p14="http://schemas.microsoft.com/office/powerpoint/2010/main" val="2793801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3607" y="228236"/>
            <a:ext cx="10515600" cy="693683"/>
          </a:xfrm>
        </p:spPr>
        <p:txBody>
          <a:bodyPr>
            <a:normAutofit/>
          </a:bodyPr>
          <a:lstStyle/>
          <a:p>
            <a:r>
              <a:rPr lang="en-US"/>
              <a:t>Predictive Models</a:t>
            </a:r>
          </a:p>
        </p:txBody>
      </p:sp>
      <p:sp>
        <p:nvSpPr>
          <p:cNvPr id="3" name="Content Placeholder 2"/>
          <p:cNvSpPr>
            <a:spLocks noGrp="1"/>
          </p:cNvSpPr>
          <p:nvPr>
            <p:ph idx="1"/>
          </p:nvPr>
        </p:nvSpPr>
        <p:spPr>
          <a:xfrm>
            <a:off x="145780" y="1598960"/>
            <a:ext cx="11619814" cy="3584450"/>
          </a:xfrm>
        </p:spPr>
        <p:txBody>
          <a:bodyPr>
            <a:noAutofit/>
          </a:bodyPr>
          <a:lstStyle/>
          <a:p>
            <a:pPr marL="457200" lvl="1" indent="0">
              <a:buNone/>
            </a:pPr>
            <a:endParaRPr lang="en-US" dirty="0"/>
          </a:p>
          <a:p>
            <a:pPr lvl="1"/>
            <a:r>
              <a:rPr lang="en-US" dirty="0"/>
              <a:t>Nextstrain – Richard Neher and Trevor Bedford</a:t>
            </a:r>
          </a:p>
          <a:p>
            <a:pPr lvl="1"/>
            <a:r>
              <a:rPr lang="en-US" dirty="0"/>
              <a:t>Previr - Marta Luksza and Michael Lassig</a:t>
            </a:r>
          </a:p>
          <a:p>
            <a:r>
              <a:rPr lang="en-US" sz="2400" dirty="0"/>
              <a:t>Clade fitness models </a:t>
            </a:r>
          </a:p>
          <a:p>
            <a:pPr lvl="1"/>
            <a:r>
              <a:rPr lang="en-US" dirty="0"/>
              <a:t>Sequence data from GISAID</a:t>
            </a:r>
          </a:p>
          <a:p>
            <a:pPr lvl="2"/>
            <a:r>
              <a:rPr lang="en-US" sz="2400" dirty="0"/>
              <a:t>Clade frequency</a:t>
            </a:r>
          </a:p>
          <a:p>
            <a:pPr lvl="2"/>
            <a:r>
              <a:rPr lang="en-US" sz="2400" dirty="0"/>
              <a:t>Mutational load</a:t>
            </a:r>
          </a:p>
          <a:p>
            <a:pPr lvl="2"/>
            <a:r>
              <a:rPr lang="en-US" sz="2400" dirty="0"/>
              <a:t>Epitope sites</a:t>
            </a:r>
          </a:p>
          <a:p>
            <a:pPr lvl="1"/>
            <a:r>
              <a:rPr lang="en-US" dirty="0"/>
              <a:t>Antigenic data from HI or neutralization assays</a:t>
            </a:r>
          </a:p>
          <a:p>
            <a:pPr lvl="1"/>
            <a:r>
              <a:rPr lang="en-US" dirty="0"/>
              <a:t>Corresponding meta-data</a:t>
            </a:r>
          </a:p>
          <a:p>
            <a:pPr lvl="1"/>
            <a:r>
              <a:rPr lang="en-US" dirty="0"/>
              <a:t>Correlated epidemiological data</a:t>
            </a:r>
          </a:p>
          <a:p>
            <a:pPr marL="0" indent="0">
              <a:buNone/>
            </a:pPr>
            <a:endParaRPr lang="en-US" sz="2400" dirty="0"/>
          </a:p>
          <a:p>
            <a:pPr marL="457200" lvl="1" indent="0">
              <a:buNone/>
            </a:pPr>
            <a:endParaRPr lang="en-US" dirty="0"/>
          </a:p>
          <a:p>
            <a:pPr marL="457200" lvl="1" indent="0">
              <a:buNone/>
            </a:pPr>
            <a:endParaRPr lang="en-US" dirty="0"/>
          </a:p>
          <a:p>
            <a:pPr lvl="1"/>
            <a:endParaRPr lang="en-US" dirty="0"/>
          </a:p>
        </p:txBody>
      </p:sp>
      <p:sp>
        <p:nvSpPr>
          <p:cNvPr id="4" name="Rectangle 3"/>
          <p:cNvSpPr/>
          <p:nvPr/>
        </p:nvSpPr>
        <p:spPr>
          <a:xfrm>
            <a:off x="6331054" y="4003991"/>
            <a:ext cx="2726938" cy="584775"/>
          </a:xfrm>
          <a:prstGeom prst="rect">
            <a:avLst/>
          </a:prstGeom>
        </p:spPr>
        <p:txBody>
          <a:bodyPr wrap="square">
            <a:spAutoFit/>
          </a:bodyPr>
          <a:lstStyle/>
          <a:p>
            <a:r>
              <a:rPr lang="en-US" sz="1600" dirty="0" err="1"/>
              <a:t>Luksza</a:t>
            </a:r>
            <a:r>
              <a:rPr lang="en-US" sz="1600" dirty="0"/>
              <a:t> M, </a:t>
            </a:r>
            <a:r>
              <a:rPr lang="en-US" sz="1600" dirty="0" err="1"/>
              <a:t>Lässig</a:t>
            </a:r>
            <a:r>
              <a:rPr lang="en-US" sz="1600" dirty="0"/>
              <a:t> M. </a:t>
            </a:r>
            <a:r>
              <a:rPr lang="en-US" sz="1600" i="1" dirty="0"/>
              <a:t>Nature</a:t>
            </a:r>
            <a:r>
              <a:rPr lang="en-US" sz="1600" dirty="0"/>
              <a:t>. 2014 Mar 6;507(7490):57-61</a:t>
            </a:r>
          </a:p>
        </p:txBody>
      </p:sp>
      <p:sp>
        <p:nvSpPr>
          <p:cNvPr id="5" name="TextBox 4"/>
          <p:cNvSpPr txBox="1"/>
          <p:nvPr/>
        </p:nvSpPr>
        <p:spPr>
          <a:xfrm>
            <a:off x="8673018" y="5494525"/>
            <a:ext cx="3697554" cy="646331"/>
          </a:xfrm>
          <a:prstGeom prst="rect">
            <a:avLst/>
          </a:prstGeom>
          <a:noFill/>
        </p:spPr>
        <p:txBody>
          <a:bodyPr wrap="square" rtlCol="0">
            <a:spAutoFit/>
          </a:bodyPr>
          <a:lstStyle/>
          <a:p>
            <a:r>
              <a:rPr lang="en-US"/>
              <a:t>Neher RA, Bedford T. </a:t>
            </a:r>
            <a:r>
              <a:rPr lang="en-US" i="1"/>
              <a:t>Bioinformatics</a:t>
            </a:r>
            <a:r>
              <a:rPr lang="en-US"/>
              <a:t>. 2015 Nov 1;31(21):3546-8. </a:t>
            </a:r>
          </a:p>
        </p:txBody>
      </p:sp>
      <p:pic>
        <p:nvPicPr>
          <p:cNvPr id="8" name="Picture 7">
            <a:extLst>
              <a:ext uri="{FF2B5EF4-FFF2-40B4-BE49-F238E27FC236}">
                <a16:creationId xmlns:a16="http://schemas.microsoft.com/office/drawing/2014/main" id="{9E490D10-A7EB-4B7E-9049-66A309FE0C4B}"/>
              </a:ext>
            </a:extLst>
          </p:cNvPr>
          <p:cNvPicPr>
            <a:picLocks noChangeAspect="1"/>
          </p:cNvPicPr>
          <p:nvPr/>
        </p:nvPicPr>
        <p:blipFill>
          <a:blip r:embed="rId3"/>
          <a:stretch>
            <a:fillRect/>
          </a:stretch>
        </p:blipFill>
        <p:spPr>
          <a:xfrm>
            <a:off x="8800685" y="1553792"/>
            <a:ext cx="2726939" cy="3674787"/>
          </a:xfrm>
          <a:prstGeom prst="rect">
            <a:avLst/>
          </a:prstGeom>
        </p:spPr>
      </p:pic>
      <p:sp>
        <p:nvSpPr>
          <p:cNvPr id="9" name="Rectangle 8">
            <a:extLst>
              <a:ext uri="{FF2B5EF4-FFF2-40B4-BE49-F238E27FC236}">
                <a16:creationId xmlns:a16="http://schemas.microsoft.com/office/drawing/2014/main" id="{A6F19EF7-4856-4F97-8BB2-E1C59A65F0EB}"/>
              </a:ext>
            </a:extLst>
          </p:cNvPr>
          <p:cNvSpPr/>
          <p:nvPr/>
        </p:nvSpPr>
        <p:spPr>
          <a:xfrm>
            <a:off x="8718738" y="5125193"/>
            <a:ext cx="3697554" cy="369332"/>
          </a:xfrm>
          <a:prstGeom prst="rect">
            <a:avLst/>
          </a:prstGeom>
        </p:spPr>
        <p:txBody>
          <a:bodyPr wrap="square">
            <a:spAutoFit/>
          </a:bodyPr>
          <a:lstStyle/>
          <a:p>
            <a:r>
              <a:rPr lang="en-US"/>
              <a:t>Huddleston J, et al. </a:t>
            </a:r>
            <a:r>
              <a:rPr lang="en-US" i="1" err="1"/>
              <a:t>eLife</a:t>
            </a:r>
            <a:r>
              <a:rPr lang="en-US" i="1"/>
              <a:t> 9:e60067</a:t>
            </a:r>
            <a:endParaRPr lang="en-US"/>
          </a:p>
        </p:txBody>
      </p:sp>
      <p:pic>
        <p:nvPicPr>
          <p:cNvPr id="11" name="Picture 10">
            <a:extLst>
              <a:ext uri="{FF2B5EF4-FFF2-40B4-BE49-F238E27FC236}">
                <a16:creationId xmlns:a16="http://schemas.microsoft.com/office/drawing/2014/main" id="{4EFBDE72-3317-46BD-9D1F-C9F0F6C11FCF}"/>
              </a:ext>
            </a:extLst>
          </p:cNvPr>
          <p:cNvPicPr>
            <a:picLocks noChangeAspect="1"/>
          </p:cNvPicPr>
          <p:nvPr/>
        </p:nvPicPr>
        <p:blipFill>
          <a:blip r:embed="rId4"/>
          <a:stretch>
            <a:fillRect/>
          </a:stretch>
        </p:blipFill>
        <p:spPr>
          <a:xfrm>
            <a:off x="6716029" y="1791969"/>
            <a:ext cx="1956989" cy="2212022"/>
          </a:xfrm>
          <a:prstGeom prst="rect">
            <a:avLst/>
          </a:prstGeom>
        </p:spPr>
      </p:pic>
      <p:sp>
        <p:nvSpPr>
          <p:cNvPr id="12" name="TextBox 11">
            <a:extLst>
              <a:ext uri="{FF2B5EF4-FFF2-40B4-BE49-F238E27FC236}">
                <a16:creationId xmlns:a16="http://schemas.microsoft.com/office/drawing/2014/main" id="{3420642B-F150-4829-A184-814E106CA2B8}"/>
              </a:ext>
            </a:extLst>
          </p:cNvPr>
          <p:cNvSpPr txBox="1"/>
          <p:nvPr/>
        </p:nvSpPr>
        <p:spPr>
          <a:xfrm>
            <a:off x="664376" y="991615"/>
            <a:ext cx="10837454" cy="830997"/>
          </a:xfrm>
          <a:prstGeom prst="rect">
            <a:avLst/>
          </a:prstGeom>
          <a:noFill/>
        </p:spPr>
        <p:txBody>
          <a:bodyPr wrap="none" rtlCol="0">
            <a:spAutoFit/>
          </a:bodyPr>
          <a:lstStyle/>
          <a:p>
            <a:r>
              <a:rPr lang="en-US" sz="2400" b="1"/>
              <a:t>Goals: predict the </a:t>
            </a:r>
            <a:r>
              <a:rPr lang="en-US" sz="2400" b="1" i="1" u="sng"/>
              <a:t>clade</a:t>
            </a:r>
            <a:r>
              <a:rPr lang="en-US" sz="2400" b="1"/>
              <a:t> which will </a:t>
            </a:r>
            <a:r>
              <a:rPr lang="en-US" sz="2400" b="1" i="1" u="sng"/>
              <a:t>continue</a:t>
            </a:r>
            <a:r>
              <a:rPr lang="en-US" sz="2400" b="1"/>
              <a:t> to circulate in the next 6 months/1 year</a:t>
            </a:r>
          </a:p>
          <a:p>
            <a:endParaRPr lang="en-US" sz="2400" b="1"/>
          </a:p>
        </p:txBody>
      </p:sp>
    </p:spTree>
    <p:extLst>
      <p:ext uri="{BB962C8B-B14F-4D97-AF65-F5344CB8AC3E}">
        <p14:creationId xmlns:p14="http://schemas.microsoft.com/office/powerpoint/2010/main" val="2507096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800100" y="49161"/>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0" kern="1200">
                <a:solidFill>
                  <a:schemeClr val="accent1">
                    <a:lumMod val="75000"/>
                  </a:schemeClr>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dirty="0">
                <a:ln>
                  <a:noFill/>
                </a:ln>
                <a:solidFill>
                  <a:srgbClr val="0057B7"/>
                </a:solidFill>
                <a:effectLst/>
                <a:uLnTx/>
                <a:uFillTx/>
                <a:latin typeface="Calibri Light" panose="020F0302020204030204"/>
                <a:ea typeface="+mj-ea"/>
                <a:cs typeface="+mj-cs"/>
              </a:rPr>
              <a:t>Current state of predictive modeling</a:t>
            </a:r>
          </a:p>
        </p:txBody>
      </p:sp>
      <p:sp>
        <p:nvSpPr>
          <p:cNvPr id="6" name="TextBox 5"/>
          <p:cNvSpPr txBox="1"/>
          <p:nvPr/>
        </p:nvSpPr>
        <p:spPr>
          <a:xfrm>
            <a:off x="562429" y="1153660"/>
            <a:ext cx="10990942" cy="48320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Still a lot of work to do</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Unable to predict which clade will predominate – but can have confidence that it will persist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Unable to predict which new clades will emerge</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Unable to predict which A subtype or B lineage will predominate</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Virus phenotype changes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Geographic and temporal differences in clade proportions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Clade turnover rate differences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Influenza B and A(H1N1)pdm09 – need to assess the how the models based on A(H3N2) work for other subtypes </a:t>
            </a:r>
          </a:p>
        </p:txBody>
      </p:sp>
    </p:spTree>
    <p:extLst>
      <p:ext uri="{BB962C8B-B14F-4D97-AF65-F5344CB8AC3E}">
        <p14:creationId xmlns:p14="http://schemas.microsoft.com/office/powerpoint/2010/main" val="3855627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2932" y="283265"/>
            <a:ext cx="11066136" cy="1325563"/>
          </a:xfrm>
        </p:spPr>
        <p:txBody>
          <a:bodyPr>
            <a:normAutofit/>
          </a:bodyPr>
          <a:lstStyle/>
          <a:p>
            <a:r>
              <a:rPr lang="en-US" sz="4000" dirty="0"/>
              <a:t>Future Landscape of Influenza Genomics</a:t>
            </a:r>
            <a:endParaRPr lang="en-US" sz="4800" dirty="0">
              <a:latin typeface="+mn-lt"/>
            </a:endParaRPr>
          </a:p>
        </p:txBody>
      </p:sp>
      <p:sp>
        <p:nvSpPr>
          <p:cNvPr id="3" name="Content Placeholder 2"/>
          <p:cNvSpPr>
            <a:spLocks noGrp="1"/>
          </p:cNvSpPr>
          <p:nvPr>
            <p:ph idx="1"/>
          </p:nvPr>
        </p:nvSpPr>
        <p:spPr>
          <a:xfrm>
            <a:off x="235107" y="1323068"/>
            <a:ext cx="5413697" cy="5425440"/>
          </a:xfrm>
        </p:spPr>
        <p:txBody>
          <a:bodyPr>
            <a:noAutofit/>
          </a:bodyPr>
          <a:lstStyle/>
          <a:p>
            <a:r>
              <a:rPr lang="en-US" sz="2400" dirty="0"/>
              <a:t>Improved lab-epi data integration </a:t>
            </a:r>
          </a:p>
          <a:p>
            <a:pPr lvl="1"/>
            <a:r>
              <a:rPr lang="en-US" dirty="0"/>
              <a:t>Automated electronic lab reporting</a:t>
            </a:r>
          </a:p>
          <a:p>
            <a:pPr lvl="1"/>
            <a:r>
              <a:rPr lang="en-US" dirty="0"/>
              <a:t>Data lake approach</a:t>
            </a:r>
          </a:p>
          <a:p>
            <a:pPr lvl="1"/>
            <a:r>
              <a:rPr lang="en-US" dirty="0"/>
              <a:t>Cloud computing</a:t>
            </a:r>
          </a:p>
          <a:p>
            <a:r>
              <a:rPr lang="en-US" sz="2400" dirty="0"/>
              <a:t>Synthetic genomics</a:t>
            </a:r>
          </a:p>
          <a:p>
            <a:pPr lvl="1"/>
            <a:r>
              <a:rPr lang="en-US" dirty="0"/>
              <a:t>Rapidly generated viruses from sequence data</a:t>
            </a:r>
          </a:p>
          <a:p>
            <a:r>
              <a:rPr lang="en-US" sz="2400" dirty="0"/>
              <a:t>New vaccine strategies may require different data analysis for recommendations  </a:t>
            </a:r>
          </a:p>
          <a:p>
            <a:pPr lvl="1"/>
            <a:endParaRPr lang="en-US" sz="2000" dirty="0"/>
          </a:p>
          <a:p>
            <a:endParaRPr lang="en-US" sz="2400" dirty="0"/>
          </a:p>
          <a:p>
            <a:endParaRPr lang="en-US" sz="2400" dirty="0"/>
          </a:p>
          <a:p>
            <a:endParaRPr lang="en-US" sz="2400" dirty="0"/>
          </a:p>
        </p:txBody>
      </p:sp>
      <p:pic>
        <p:nvPicPr>
          <p:cNvPr id="6" name="Picture 5">
            <a:extLst>
              <a:ext uri="{FF2B5EF4-FFF2-40B4-BE49-F238E27FC236}">
                <a16:creationId xmlns:a16="http://schemas.microsoft.com/office/drawing/2014/main" id="{5CD1E415-F431-4764-AC46-A64A86DFA95A}"/>
              </a:ext>
            </a:extLst>
          </p:cNvPr>
          <p:cNvPicPr>
            <a:picLocks noChangeAspect="1"/>
          </p:cNvPicPr>
          <p:nvPr/>
        </p:nvPicPr>
        <p:blipFill>
          <a:blip r:embed="rId3"/>
          <a:stretch>
            <a:fillRect/>
          </a:stretch>
        </p:blipFill>
        <p:spPr>
          <a:xfrm>
            <a:off x="5729224" y="2281129"/>
            <a:ext cx="5943531" cy="2024266"/>
          </a:xfrm>
          <a:prstGeom prst="rect">
            <a:avLst/>
          </a:prstGeom>
        </p:spPr>
      </p:pic>
      <p:sp>
        <p:nvSpPr>
          <p:cNvPr id="9" name="TextBox 8">
            <a:extLst>
              <a:ext uri="{FF2B5EF4-FFF2-40B4-BE49-F238E27FC236}">
                <a16:creationId xmlns:a16="http://schemas.microsoft.com/office/drawing/2014/main" id="{9CC46E97-E5FF-4A1E-B025-33E73825FCCE}"/>
              </a:ext>
            </a:extLst>
          </p:cNvPr>
          <p:cNvSpPr txBox="1"/>
          <p:nvPr/>
        </p:nvSpPr>
        <p:spPr>
          <a:xfrm>
            <a:off x="5648805" y="1908231"/>
            <a:ext cx="6104372" cy="338554"/>
          </a:xfrm>
          <a:prstGeom prst="rect">
            <a:avLst/>
          </a:prstGeom>
          <a:noFill/>
        </p:spPr>
        <p:txBody>
          <a:bodyPr wrap="square">
            <a:spAutoFit/>
          </a:bodyPr>
          <a:lstStyle/>
          <a:p>
            <a:pPr algn="ctr"/>
            <a:r>
              <a:rPr lang="en-US" sz="1600" b="1"/>
              <a:t>Use of genetic data to design and synthesize candidate vaccine viruses</a:t>
            </a:r>
          </a:p>
        </p:txBody>
      </p:sp>
      <p:sp>
        <p:nvSpPr>
          <p:cNvPr id="10" name="TextBox 9">
            <a:extLst>
              <a:ext uri="{FF2B5EF4-FFF2-40B4-BE49-F238E27FC236}">
                <a16:creationId xmlns:a16="http://schemas.microsoft.com/office/drawing/2014/main" id="{DF4317F1-31F8-4061-8C3E-CD7F5F262586}"/>
              </a:ext>
            </a:extLst>
          </p:cNvPr>
          <p:cNvSpPr txBox="1"/>
          <p:nvPr/>
        </p:nvSpPr>
        <p:spPr>
          <a:xfrm>
            <a:off x="8700990" y="4305395"/>
            <a:ext cx="2540054" cy="307777"/>
          </a:xfrm>
          <a:prstGeom prst="rect">
            <a:avLst/>
          </a:prstGeom>
          <a:noFill/>
        </p:spPr>
        <p:txBody>
          <a:bodyPr wrap="none" rtlCol="0">
            <a:spAutoFit/>
          </a:bodyPr>
          <a:lstStyle/>
          <a:p>
            <a:r>
              <a:rPr lang="en-US" sz="1400"/>
              <a:t>Courtesy of Dr. Dave Wentworth</a:t>
            </a:r>
          </a:p>
        </p:txBody>
      </p:sp>
    </p:spTree>
    <p:extLst>
      <p:ext uri="{BB962C8B-B14F-4D97-AF65-F5344CB8AC3E}">
        <p14:creationId xmlns:p14="http://schemas.microsoft.com/office/powerpoint/2010/main" val="3044632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21A53-098E-8D46-31E9-7B300AF7C74E}"/>
            </a:ext>
          </a:extLst>
        </p:cNvPr>
        <p:cNvGrpSpPr/>
        <p:nvPr/>
      </p:nvGrpSpPr>
      <p:grpSpPr>
        <a:xfrm>
          <a:off x="0" y="0"/>
          <a:ext cx="0" cy="0"/>
          <a:chOff x="0" y="0"/>
          <a:chExt cx="0" cy="0"/>
        </a:xfrm>
      </p:grpSpPr>
      <p:sp>
        <p:nvSpPr>
          <p:cNvPr id="15" name="Arrow: Right 14">
            <a:extLst>
              <a:ext uri="{FF2B5EF4-FFF2-40B4-BE49-F238E27FC236}">
                <a16:creationId xmlns:a16="http://schemas.microsoft.com/office/drawing/2014/main" id="{4C372C3C-36BB-6AB8-3962-1CAD80F65143}"/>
              </a:ext>
            </a:extLst>
          </p:cNvPr>
          <p:cNvSpPr/>
          <p:nvPr/>
        </p:nvSpPr>
        <p:spPr>
          <a:xfrm>
            <a:off x="171454" y="2639011"/>
            <a:ext cx="11953871" cy="749624"/>
          </a:xfrm>
          <a:prstGeom prst="rightArrow">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B5BA84F9-22F2-A0FE-70A0-7C7C9B318ABC}"/>
              </a:ext>
            </a:extLst>
          </p:cNvPr>
          <p:cNvCxnSpPr>
            <a:cxnSpLocks/>
          </p:cNvCxnSpPr>
          <p:nvPr/>
        </p:nvCxnSpPr>
        <p:spPr>
          <a:xfrm>
            <a:off x="721013" y="2487540"/>
            <a:ext cx="0" cy="369162"/>
          </a:xfrm>
          <a:prstGeom prst="line">
            <a:avLst/>
          </a:prstGeom>
          <a:ln w="76200"/>
        </p:spPr>
        <p:style>
          <a:lnRef idx="2">
            <a:schemeClr val="accent1"/>
          </a:lnRef>
          <a:fillRef idx="0">
            <a:schemeClr val="accent1"/>
          </a:fillRef>
          <a:effectRef idx="1">
            <a:schemeClr val="accent1"/>
          </a:effectRef>
          <a:fontRef idx="minor">
            <a:schemeClr val="tx1"/>
          </a:fontRef>
        </p:style>
      </p:cxnSp>
      <p:pic>
        <p:nvPicPr>
          <p:cNvPr id="5" name="Picture 4" descr="Diagram&#10;&#10;AI-generated content may be incorrect.">
            <a:extLst>
              <a:ext uri="{FF2B5EF4-FFF2-40B4-BE49-F238E27FC236}">
                <a16:creationId xmlns:a16="http://schemas.microsoft.com/office/drawing/2014/main" id="{0B04FD5F-EAFC-F3C2-68A4-E1FEDC51ECEC}"/>
              </a:ext>
            </a:extLst>
          </p:cNvPr>
          <p:cNvPicPr>
            <a:picLocks noChangeAspect="1"/>
          </p:cNvPicPr>
          <p:nvPr/>
        </p:nvPicPr>
        <p:blipFill>
          <a:blip r:embed="rId3"/>
          <a:srcRect l="11296" t="26538" r="73889" b="51667"/>
          <a:stretch>
            <a:fillRect/>
          </a:stretch>
        </p:blipFill>
        <p:spPr>
          <a:xfrm>
            <a:off x="1547343" y="3587152"/>
            <a:ext cx="762001" cy="747357"/>
          </a:xfrm>
          <a:prstGeom prst="rect">
            <a:avLst/>
          </a:prstGeom>
        </p:spPr>
      </p:pic>
      <p:sp>
        <p:nvSpPr>
          <p:cNvPr id="8" name="TextBox 7">
            <a:extLst>
              <a:ext uri="{FF2B5EF4-FFF2-40B4-BE49-F238E27FC236}">
                <a16:creationId xmlns:a16="http://schemas.microsoft.com/office/drawing/2014/main" id="{B775467C-1696-33EB-D60E-DCF75A3A2707}"/>
              </a:ext>
            </a:extLst>
          </p:cNvPr>
          <p:cNvSpPr txBox="1"/>
          <p:nvPr/>
        </p:nvSpPr>
        <p:spPr>
          <a:xfrm>
            <a:off x="760990" y="4294387"/>
            <a:ext cx="2318263" cy="1600438"/>
          </a:xfrm>
          <a:prstGeom prst="rect">
            <a:avLst/>
          </a:prstGeom>
          <a:noFill/>
        </p:spPr>
        <p:txBody>
          <a:bodyPr wrap="square" lIns="91440" tIns="45720" rIns="91440" bIns="45720" rtlCol="0" anchor="t">
            <a:spAutoFit/>
          </a:bodyPr>
          <a:lstStyle/>
          <a:p>
            <a:pPr algn="ctr"/>
            <a:r>
              <a:rPr lang="en-US" sz="1400" b="1">
                <a:latin typeface="Arial" panose="020B0604020202020204" pitchFamily="34" charset="0"/>
                <a:cs typeface="Arial" panose="020B0604020202020204" pitchFamily="34" charset="0"/>
              </a:rPr>
              <a:t>Detection</a:t>
            </a:r>
          </a:p>
          <a:p>
            <a:pPr algn="ctr"/>
            <a:r>
              <a:rPr lang="en-US" sz="1200">
                <a:latin typeface="Arial"/>
                <a:cs typeface="Arial"/>
              </a:rPr>
              <a:t>Sequence analysis highlighted J.2.4 viruses with ten amino acid changes relative to vaccine and promptly performed antigenic characterization;</a:t>
            </a:r>
          </a:p>
          <a:p>
            <a:pPr algn="ctr"/>
            <a:r>
              <a:rPr lang="en-US" sz="1200" i="1">
                <a:latin typeface="Arial"/>
                <a:cs typeface="Arial"/>
              </a:rPr>
              <a:t>Evidence of antigenic drift</a:t>
            </a:r>
          </a:p>
        </p:txBody>
      </p:sp>
      <p:pic>
        <p:nvPicPr>
          <p:cNvPr id="11" name="Picture 10" descr="Diagram&#10;&#10;AI-generated content may be incorrect.">
            <a:extLst>
              <a:ext uri="{FF2B5EF4-FFF2-40B4-BE49-F238E27FC236}">
                <a16:creationId xmlns:a16="http://schemas.microsoft.com/office/drawing/2014/main" id="{F9A1B317-9738-9934-ED8F-BC785322A686}"/>
              </a:ext>
            </a:extLst>
          </p:cNvPr>
          <p:cNvPicPr>
            <a:picLocks noChangeAspect="1"/>
          </p:cNvPicPr>
          <p:nvPr/>
        </p:nvPicPr>
        <p:blipFill>
          <a:blip r:embed="rId3"/>
          <a:srcRect l="42971" t="27017" r="43663" b="52488"/>
          <a:stretch>
            <a:fillRect/>
          </a:stretch>
        </p:blipFill>
        <p:spPr>
          <a:xfrm>
            <a:off x="4651977" y="1733179"/>
            <a:ext cx="733331" cy="749627"/>
          </a:xfrm>
          <a:prstGeom prst="rect">
            <a:avLst/>
          </a:prstGeom>
        </p:spPr>
      </p:pic>
      <p:sp>
        <p:nvSpPr>
          <p:cNvPr id="14" name="TextBox 13">
            <a:extLst>
              <a:ext uri="{FF2B5EF4-FFF2-40B4-BE49-F238E27FC236}">
                <a16:creationId xmlns:a16="http://schemas.microsoft.com/office/drawing/2014/main" id="{57B863BB-6673-2D6B-D0E4-356453BD30EC}"/>
              </a:ext>
            </a:extLst>
          </p:cNvPr>
          <p:cNvSpPr txBox="1"/>
          <p:nvPr/>
        </p:nvSpPr>
        <p:spPr>
          <a:xfrm>
            <a:off x="2122887" y="609501"/>
            <a:ext cx="1864391" cy="1200329"/>
          </a:xfrm>
          <a:prstGeom prst="rect">
            <a:avLst/>
          </a:prstGeom>
          <a:noFill/>
        </p:spPr>
        <p:txBody>
          <a:bodyPr wrap="square" lIns="91440" tIns="45720" rIns="91440" bIns="45720" rtlCol="0" anchor="t">
            <a:spAutoFit/>
          </a:bodyPr>
          <a:lstStyle/>
          <a:p>
            <a:pPr algn="ctr"/>
            <a:r>
              <a:rPr lang="en-US" sz="1200" b="1">
                <a:latin typeface="Arial"/>
                <a:cs typeface="Arial"/>
              </a:rPr>
              <a:t>CVV Initiation</a:t>
            </a:r>
          </a:p>
          <a:p>
            <a:pPr algn="ctr"/>
            <a:r>
              <a:rPr lang="en-US" sz="1200">
                <a:latin typeface="Arial" panose="020B0604020202020204" pitchFamily="34" charset="0"/>
                <a:cs typeface="Arial" panose="020B0604020202020204" pitchFamily="34" charset="0"/>
              </a:rPr>
              <a:t>Initial isolation attempts via provision of respiratory specimens  National Influenza Surveillance </a:t>
            </a:r>
          </a:p>
        </p:txBody>
      </p:sp>
      <p:sp>
        <p:nvSpPr>
          <p:cNvPr id="16" name="TextBox 15">
            <a:extLst>
              <a:ext uri="{FF2B5EF4-FFF2-40B4-BE49-F238E27FC236}">
                <a16:creationId xmlns:a16="http://schemas.microsoft.com/office/drawing/2014/main" id="{98AEE809-947E-B18B-5844-41453BA45560}"/>
              </a:ext>
            </a:extLst>
          </p:cNvPr>
          <p:cNvSpPr txBox="1"/>
          <p:nvPr/>
        </p:nvSpPr>
        <p:spPr>
          <a:xfrm>
            <a:off x="236148" y="2759674"/>
            <a:ext cx="761747" cy="523220"/>
          </a:xfrm>
          <a:prstGeom prst="rect">
            <a:avLst/>
          </a:prstGeom>
          <a:noFill/>
        </p:spPr>
        <p:txBody>
          <a:bodyPr wrap="none" rtlCol="0">
            <a:spAutoFit/>
          </a:bodyPr>
          <a:lstStyle/>
          <a:p>
            <a:pPr algn="ctr"/>
            <a:r>
              <a:rPr lang="en-US" sz="1400" b="1">
                <a:solidFill>
                  <a:schemeClr val="bg1"/>
                </a:solidFill>
                <a:latin typeface="Arial" panose="020B0604020202020204" pitchFamily="34" charset="0"/>
                <a:cs typeface="Arial" panose="020B0604020202020204" pitchFamily="34" charset="0"/>
              </a:rPr>
              <a:t>JUN to</a:t>
            </a:r>
          </a:p>
          <a:p>
            <a:pPr algn="ctr"/>
            <a:r>
              <a:rPr lang="en-US" sz="1400" b="1">
                <a:solidFill>
                  <a:schemeClr val="bg1"/>
                </a:solidFill>
                <a:latin typeface="Arial" panose="020B0604020202020204" pitchFamily="34" charset="0"/>
                <a:cs typeface="Arial" panose="020B0604020202020204" pitchFamily="34" charset="0"/>
              </a:rPr>
              <a:t>JUL</a:t>
            </a:r>
          </a:p>
        </p:txBody>
      </p:sp>
      <p:sp>
        <p:nvSpPr>
          <p:cNvPr id="18" name="TextBox 17">
            <a:extLst>
              <a:ext uri="{FF2B5EF4-FFF2-40B4-BE49-F238E27FC236}">
                <a16:creationId xmlns:a16="http://schemas.microsoft.com/office/drawing/2014/main" id="{209398CF-4AED-70D2-5849-6790388E6422}"/>
              </a:ext>
            </a:extLst>
          </p:cNvPr>
          <p:cNvSpPr txBox="1"/>
          <p:nvPr/>
        </p:nvSpPr>
        <p:spPr>
          <a:xfrm>
            <a:off x="1606418" y="2841473"/>
            <a:ext cx="639919" cy="338554"/>
          </a:xfrm>
          <a:prstGeom prst="rect">
            <a:avLst/>
          </a:prstGeom>
          <a:noFill/>
        </p:spPr>
        <p:txBody>
          <a:bodyPr wrap="none" rtlCol="0">
            <a:spAutoFit/>
          </a:bodyPr>
          <a:lstStyle/>
          <a:p>
            <a:r>
              <a:rPr lang="en-US" sz="1600" b="1">
                <a:solidFill>
                  <a:schemeClr val="bg1"/>
                </a:solidFill>
                <a:latin typeface="Arial" panose="020B0604020202020204" pitchFamily="34" charset="0"/>
                <a:cs typeface="Arial" panose="020B0604020202020204" pitchFamily="34" charset="0"/>
              </a:rPr>
              <a:t>AUG</a:t>
            </a:r>
          </a:p>
        </p:txBody>
      </p:sp>
      <p:sp>
        <p:nvSpPr>
          <p:cNvPr id="19" name="TextBox 18">
            <a:extLst>
              <a:ext uri="{FF2B5EF4-FFF2-40B4-BE49-F238E27FC236}">
                <a16:creationId xmlns:a16="http://schemas.microsoft.com/office/drawing/2014/main" id="{408AF505-DB15-E4AD-A958-77C85151C5F0}"/>
              </a:ext>
            </a:extLst>
          </p:cNvPr>
          <p:cNvSpPr txBox="1"/>
          <p:nvPr/>
        </p:nvSpPr>
        <p:spPr>
          <a:xfrm>
            <a:off x="3655031" y="2827179"/>
            <a:ext cx="593432" cy="338554"/>
          </a:xfrm>
          <a:prstGeom prst="rect">
            <a:avLst/>
          </a:prstGeom>
          <a:noFill/>
        </p:spPr>
        <p:txBody>
          <a:bodyPr wrap="none" rtlCol="0">
            <a:spAutoFit/>
          </a:bodyPr>
          <a:lstStyle/>
          <a:p>
            <a:r>
              <a:rPr lang="en-US" sz="1600" b="1">
                <a:solidFill>
                  <a:schemeClr val="bg1"/>
                </a:solidFill>
                <a:latin typeface="Arial" panose="020B0604020202020204" pitchFamily="34" charset="0"/>
                <a:cs typeface="Arial" panose="020B0604020202020204" pitchFamily="34" charset="0"/>
              </a:rPr>
              <a:t>SEP</a:t>
            </a:r>
          </a:p>
        </p:txBody>
      </p:sp>
      <p:sp>
        <p:nvSpPr>
          <p:cNvPr id="25" name="TextBox 24">
            <a:extLst>
              <a:ext uri="{FF2B5EF4-FFF2-40B4-BE49-F238E27FC236}">
                <a16:creationId xmlns:a16="http://schemas.microsoft.com/office/drawing/2014/main" id="{B9FF357A-0A2E-0DD3-8312-8A7661A44B56}"/>
              </a:ext>
            </a:extLst>
          </p:cNvPr>
          <p:cNvSpPr txBox="1"/>
          <p:nvPr/>
        </p:nvSpPr>
        <p:spPr>
          <a:xfrm>
            <a:off x="5811690" y="2835149"/>
            <a:ext cx="617477" cy="338554"/>
          </a:xfrm>
          <a:prstGeom prst="rect">
            <a:avLst/>
          </a:prstGeom>
          <a:noFill/>
        </p:spPr>
        <p:txBody>
          <a:bodyPr wrap="none" rtlCol="0">
            <a:spAutoFit/>
          </a:bodyPr>
          <a:lstStyle/>
          <a:p>
            <a:r>
              <a:rPr lang="en-US" sz="1600" b="1">
                <a:solidFill>
                  <a:schemeClr val="bg1"/>
                </a:solidFill>
                <a:latin typeface="Arial" panose="020B0604020202020204" pitchFamily="34" charset="0"/>
                <a:cs typeface="Arial" panose="020B0604020202020204" pitchFamily="34" charset="0"/>
              </a:rPr>
              <a:t>OCT</a:t>
            </a:r>
          </a:p>
        </p:txBody>
      </p:sp>
      <p:sp>
        <p:nvSpPr>
          <p:cNvPr id="26" name="TextBox 25">
            <a:extLst>
              <a:ext uri="{FF2B5EF4-FFF2-40B4-BE49-F238E27FC236}">
                <a16:creationId xmlns:a16="http://schemas.microsoft.com/office/drawing/2014/main" id="{F8997559-81D4-7F69-7F02-4FCF554C5405}"/>
              </a:ext>
            </a:extLst>
          </p:cNvPr>
          <p:cNvSpPr txBox="1"/>
          <p:nvPr/>
        </p:nvSpPr>
        <p:spPr>
          <a:xfrm>
            <a:off x="8132747" y="2834230"/>
            <a:ext cx="628698" cy="338554"/>
          </a:xfrm>
          <a:prstGeom prst="rect">
            <a:avLst/>
          </a:prstGeom>
          <a:noFill/>
        </p:spPr>
        <p:txBody>
          <a:bodyPr wrap="none" rtlCol="0">
            <a:spAutoFit/>
          </a:bodyPr>
          <a:lstStyle/>
          <a:p>
            <a:r>
              <a:rPr lang="en-US" sz="1600" b="1">
                <a:solidFill>
                  <a:schemeClr val="bg1"/>
                </a:solidFill>
                <a:latin typeface="Arial" panose="020B0604020202020204" pitchFamily="34" charset="0"/>
                <a:cs typeface="Arial" panose="020B0604020202020204" pitchFamily="34" charset="0"/>
              </a:rPr>
              <a:t>NOV</a:t>
            </a:r>
          </a:p>
        </p:txBody>
      </p:sp>
      <p:cxnSp>
        <p:nvCxnSpPr>
          <p:cNvPr id="3" name="Straight Connector 2">
            <a:extLst>
              <a:ext uri="{FF2B5EF4-FFF2-40B4-BE49-F238E27FC236}">
                <a16:creationId xmlns:a16="http://schemas.microsoft.com/office/drawing/2014/main" id="{7DB9C840-609C-0A74-2ED6-025C6A030B8C}"/>
              </a:ext>
            </a:extLst>
          </p:cNvPr>
          <p:cNvCxnSpPr>
            <a:cxnSpLocks/>
          </p:cNvCxnSpPr>
          <p:nvPr/>
        </p:nvCxnSpPr>
        <p:spPr>
          <a:xfrm>
            <a:off x="1928344" y="3172460"/>
            <a:ext cx="0" cy="390524"/>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D4D877B7-3D9C-C659-2954-6AECEAB3FEED}"/>
              </a:ext>
            </a:extLst>
          </p:cNvPr>
          <p:cNvCxnSpPr>
            <a:cxnSpLocks/>
          </p:cNvCxnSpPr>
          <p:nvPr/>
        </p:nvCxnSpPr>
        <p:spPr>
          <a:xfrm>
            <a:off x="3127566" y="2481453"/>
            <a:ext cx="0" cy="369162"/>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F7F19C7E-CDAA-22B6-66C7-5C753ED564F1}"/>
              </a:ext>
            </a:extLst>
          </p:cNvPr>
          <p:cNvCxnSpPr>
            <a:cxnSpLocks/>
          </p:cNvCxnSpPr>
          <p:nvPr/>
        </p:nvCxnSpPr>
        <p:spPr>
          <a:xfrm>
            <a:off x="5029307" y="2503630"/>
            <a:ext cx="0" cy="423547"/>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A459ACEA-6224-2B14-EDBC-32F143F32F57}"/>
              </a:ext>
            </a:extLst>
          </p:cNvPr>
          <p:cNvCxnSpPr>
            <a:cxnSpLocks/>
          </p:cNvCxnSpPr>
          <p:nvPr/>
        </p:nvCxnSpPr>
        <p:spPr>
          <a:xfrm>
            <a:off x="7615197" y="3187020"/>
            <a:ext cx="0" cy="423599"/>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4DBAB678-957D-736A-53FD-FDDA958205DE}"/>
              </a:ext>
            </a:extLst>
          </p:cNvPr>
          <p:cNvCxnSpPr>
            <a:cxnSpLocks/>
          </p:cNvCxnSpPr>
          <p:nvPr/>
        </p:nvCxnSpPr>
        <p:spPr>
          <a:xfrm>
            <a:off x="6795960" y="2508061"/>
            <a:ext cx="0" cy="427026"/>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EC0447D2-3723-19D0-0E9B-8019B8A17665}"/>
              </a:ext>
            </a:extLst>
          </p:cNvPr>
          <p:cNvCxnSpPr>
            <a:cxnSpLocks/>
          </p:cNvCxnSpPr>
          <p:nvPr/>
        </p:nvCxnSpPr>
        <p:spPr>
          <a:xfrm>
            <a:off x="8856988" y="3209925"/>
            <a:ext cx="0" cy="401160"/>
          </a:xfrm>
          <a:prstGeom prst="line">
            <a:avLst/>
          </a:prstGeom>
          <a:ln w="76200"/>
        </p:spPr>
        <p:style>
          <a:lnRef idx="2">
            <a:schemeClr val="accent1"/>
          </a:lnRef>
          <a:fillRef idx="0">
            <a:schemeClr val="accent1"/>
          </a:fillRef>
          <a:effectRef idx="1">
            <a:schemeClr val="accent1"/>
          </a:effectRef>
          <a:fontRef idx="minor">
            <a:schemeClr val="tx1"/>
          </a:fontRef>
        </p:style>
      </p:cxnSp>
      <p:pic>
        <p:nvPicPr>
          <p:cNvPr id="27" name="Picture 26" descr="Icon&#10;&#10;AI-generated content may be incorrect.">
            <a:extLst>
              <a:ext uri="{FF2B5EF4-FFF2-40B4-BE49-F238E27FC236}">
                <a16:creationId xmlns:a16="http://schemas.microsoft.com/office/drawing/2014/main" id="{F835861B-F0FE-55F7-06CB-C72A8D31FF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6201" y="1737915"/>
            <a:ext cx="749625" cy="749625"/>
          </a:xfrm>
          <a:prstGeom prst="rect">
            <a:avLst/>
          </a:prstGeom>
        </p:spPr>
      </p:pic>
      <p:sp>
        <p:nvSpPr>
          <p:cNvPr id="29" name="TextBox 28">
            <a:extLst>
              <a:ext uri="{FF2B5EF4-FFF2-40B4-BE49-F238E27FC236}">
                <a16:creationId xmlns:a16="http://schemas.microsoft.com/office/drawing/2014/main" id="{2A6A5965-CEBD-1812-FA2D-C151FE498510}"/>
              </a:ext>
            </a:extLst>
          </p:cNvPr>
          <p:cNvSpPr txBox="1"/>
          <p:nvPr/>
        </p:nvSpPr>
        <p:spPr>
          <a:xfrm>
            <a:off x="-91661" y="117059"/>
            <a:ext cx="1792151" cy="1692771"/>
          </a:xfrm>
          <a:prstGeom prst="rect">
            <a:avLst/>
          </a:prstGeom>
          <a:noFill/>
        </p:spPr>
        <p:txBody>
          <a:bodyPr wrap="square" rtlCol="0">
            <a:spAutoFit/>
          </a:bodyPr>
          <a:lstStyle/>
          <a:p>
            <a:pPr algn="ctr"/>
            <a:r>
              <a:rPr lang="en-US" sz="1400" b="1">
                <a:latin typeface="Arial" panose="020B0604020202020204" pitchFamily="34" charset="0"/>
                <a:cs typeface="Arial" panose="020B0604020202020204" pitchFamily="34" charset="0"/>
              </a:rPr>
              <a:t>Specimen Collection</a:t>
            </a:r>
          </a:p>
          <a:p>
            <a:pPr algn="ctr"/>
            <a:r>
              <a:rPr lang="en-US" sz="1200">
                <a:latin typeface="Arial" panose="020B0604020202020204" pitchFamily="34" charset="0"/>
                <a:cs typeface="Arial" panose="020B0604020202020204" pitchFamily="34" charset="0"/>
              </a:rPr>
              <a:t>First K specimens collected through CDC National Influenza Surveillance and Traveler-Based Genomic Surveillance</a:t>
            </a:r>
          </a:p>
        </p:txBody>
      </p:sp>
      <p:sp>
        <p:nvSpPr>
          <p:cNvPr id="30" name="TextBox 29">
            <a:extLst>
              <a:ext uri="{FF2B5EF4-FFF2-40B4-BE49-F238E27FC236}">
                <a16:creationId xmlns:a16="http://schemas.microsoft.com/office/drawing/2014/main" id="{275D953C-5E45-617B-9AAA-E33D92AE0959}"/>
              </a:ext>
            </a:extLst>
          </p:cNvPr>
          <p:cNvSpPr txBox="1"/>
          <p:nvPr/>
        </p:nvSpPr>
        <p:spPr>
          <a:xfrm>
            <a:off x="4044911" y="732612"/>
            <a:ext cx="1947461" cy="1077218"/>
          </a:xfrm>
          <a:prstGeom prst="rect">
            <a:avLst/>
          </a:prstGeom>
          <a:noFill/>
        </p:spPr>
        <p:txBody>
          <a:bodyPr wrap="square" lIns="91440" tIns="45720" rIns="91440" bIns="45720" rtlCol="0" anchor="t">
            <a:spAutoFit/>
          </a:bodyPr>
          <a:lstStyle/>
          <a:p>
            <a:pPr algn="ctr"/>
            <a:r>
              <a:rPr lang="en-US" sz="1400" b="1">
                <a:latin typeface="Arial"/>
                <a:cs typeface="Arial"/>
              </a:rPr>
              <a:t>CVVs Generated</a:t>
            </a:r>
            <a:endParaRPr lang="en-US" sz="1400" b="1">
              <a:latin typeface="Arial" panose="020B0604020202020204" pitchFamily="34" charset="0"/>
              <a:cs typeface="Arial" panose="020B0604020202020204" pitchFamily="34" charset="0"/>
            </a:endParaRPr>
          </a:p>
          <a:p>
            <a:pPr algn="ctr"/>
            <a:r>
              <a:rPr lang="en-US" sz="1200">
                <a:latin typeface="Arial" panose="020B0604020202020204" pitchFamily="34" charset="0"/>
                <a:cs typeface="Arial" panose="020B0604020202020204" pitchFamily="34" charset="0"/>
              </a:rPr>
              <a:t>Egg and cell reference viruses generated to newly emerging subclade of J.2.4 viruses </a:t>
            </a:r>
          </a:p>
        </p:txBody>
      </p:sp>
      <p:pic>
        <p:nvPicPr>
          <p:cNvPr id="32" name="Picture 31" descr="Icon&#10;&#10;AI-generated content may be incorrect.">
            <a:extLst>
              <a:ext uri="{FF2B5EF4-FFF2-40B4-BE49-F238E27FC236}">
                <a16:creationId xmlns:a16="http://schemas.microsoft.com/office/drawing/2014/main" id="{C221BC3C-7579-E051-E6BE-525F905EFE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23163" y="1734795"/>
            <a:ext cx="749624" cy="749624"/>
          </a:xfrm>
          <a:prstGeom prst="rect">
            <a:avLst/>
          </a:prstGeom>
        </p:spPr>
      </p:pic>
      <p:pic>
        <p:nvPicPr>
          <p:cNvPr id="2" name="Picture 1" descr="Diagram&#10;&#10;AI-generated content may be incorrect.">
            <a:extLst>
              <a:ext uri="{FF2B5EF4-FFF2-40B4-BE49-F238E27FC236}">
                <a16:creationId xmlns:a16="http://schemas.microsoft.com/office/drawing/2014/main" id="{7E8398C5-043A-B274-B4BF-3C738FD1FD64}"/>
              </a:ext>
            </a:extLst>
          </p:cNvPr>
          <p:cNvPicPr>
            <a:picLocks noChangeAspect="1"/>
          </p:cNvPicPr>
          <p:nvPr/>
        </p:nvPicPr>
        <p:blipFill>
          <a:blip r:embed="rId3"/>
          <a:srcRect l="72601" t="26600" r="13565" b="51500"/>
          <a:stretch>
            <a:fillRect/>
          </a:stretch>
        </p:blipFill>
        <p:spPr>
          <a:xfrm>
            <a:off x="10015551" y="1750046"/>
            <a:ext cx="712281" cy="751747"/>
          </a:xfrm>
          <a:prstGeom prst="rect">
            <a:avLst/>
          </a:prstGeom>
        </p:spPr>
      </p:pic>
      <p:pic>
        <p:nvPicPr>
          <p:cNvPr id="31" name="Picture 30">
            <a:extLst>
              <a:ext uri="{FF2B5EF4-FFF2-40B4-BE49-F238E27FC236}">
                <a16:creationId xmlns:a16="http://schemas.microsoft.com/office/drawing/2014/main" id="{A772BC02-CE0F-BD7F-4004-138A632D29B1}"/>
              </a:ext>
            </a:extLst>
          </p:cNvPr>
          <p:cNvPicPr>
            <a:picLocks noChangeAspect="1"/>
          </p:cNvPicPr>
          <p:nvPr/>
        </p:nvPicPr>
        <p:blipFill>
          <a:blip r:embed="rId6">
            <a:extLst>
              <a:ext uri="{28A0092B-C50C-407E-A947-70E740481C1C}">
                <a14:useLocalDpi xmlns:a14="http://schemas.microsoft.com/office/drawing/2010/main" val="0"/>
              </a:ext>
            </a:extLst>
          </a:blip>
          <a:srcRect l="34461" t="34399" r="34651" b="34401"/>
          <a:stretch>
            <a:fillRect/>
          </a:stretch>
        </p:blipFill>
        <p:spPr>
          <a:xfrm>
            <a:off x="3410784" y="3587152"/>
            <a:ext cx="739887" cy="747356"/>
          </a:xfrm>
          <a:prstGeom prst="rect">
            <a:avLst/>
          </a:prstGeom>
        </p:spPr>
      </p:pic>
      <p:pic>
        <p:nvPicPr>
          <p:cNvPr id="33" name="Picture 32">
            <a:extLst>
              <a:ext uri="{FF2B5EF4-FFF2-40B4-BE49-F238E27FC236}">
                <a16:creationId xmlns:a16="http://schemas.microsoft.com/office/drawing/2014/main" id="{44633EEE-3DA2-84F8-E524-B05E42458575}"/>
              </a:ext>
            </a:extLst>
          </p:cNvPr>
          <p:cNvPicPr>
            <a:picLocks noChangeAspect="1"/>
          </p:cNvPicPr>
          <p:nvPr/>
        </p:nvPicPr>
        <p:blipFill>
          <a:blip r:embed="rId6">
            <a:extLst>
              <a:ext uri="{28A0092B-C50C-407E-A947-70E740481C1C}">
                <a14:useLocalDpi xmlns:a14="http://schemas.microsoft.com/office/drawing/2010/main" val="0"/>
              </a:ext>
            </a:extLst>
          </a:blip>
          <a:srcRect l="2303" t="34600" r="66270" b="34334"/>
          <a:stretch>
            <a:fillRect/>
          </a:stretch>
        </p:blipFill>
        <p:spPr>
          <a:xfrm>
            <a:off x="7227397" y="3587152"/>
            <a:ext cx="749617" cy="741048"/>
          </a:xfrm>
          <a:prstGeom prst="rect">
            <a:avLst/>
          </a:prstGeom>
        </p:spPr>
      </p:pic>
      <p:sp>
        <p:nvSpPr>
          <p:cNvPr id="40" name="TextBox 39">
            <a:extLst>
              <a:ext uri="{FF2B5EF4-FFF2-40B4-BE49-F238E27FC236}">
                <a16:creationId xmlns:a16="http://schemas.microsoft.com/office/drawing/2014/main" id="{63137363-C74F-7734-F65E-FEDA241DD248}"/>
              </a:ext>
            </a:extLst>
          </p:cNvPr>
          <p:cNvSpPr txBox="1"/>
          <p:nvPr/>
        </p:nvSpPr>
        <p:spPr>
          <a:xfrm>
            <a:off x="6962774" y="4294387"/>
            <a:ext cx="1206727" cy="1661993"/>
          </a:xfrm>
          <a:prstGeom prst="rect">
            <a:avLst/>
          </a:prstGeom>
          <a:noFill/>
        </p:spPr>
        <p:txBody>
          <a:bodyPr wrap="square" lIns="91440" tIns="45720" rIns="91440" bIns="45720" rtlCol="0" anchor="t">
            <a:spAutoFit/>
          </a:bodyPr>
          <a:lstStyle/>
          <a:p>
            <a:pPr algn="ctr"/>
            <a:r>
              <a:rPr lang="en-US" sz="1400" b="1">
                <a:latin typeface="Arial"/>
                <a:cs typeface="Arial"/>
              </a:rPr>
              <a:t>Reference ferret antisera</a:t>
            </a:r>
          </a:p>
          <a:p>
            <a:pPr algn="ctr"/>
            <a:r>
              <a:rPr lang="en-US" sz="1200">
                <a:latin typeface="Arial" panose="020B0604020202020204" pitchFamily="34" charset="0"/>
                <a:cs typeface="Arial" panose="020B0604020202020204" pitchFamily="34" charset="0"/>
              </a:rPr>
              <a:t>Ferret antisera generated to K reference viruses and tested</a:t>
            </a:r>
          </a:p>
        </p:txBody>
      </p:sp>
      <p:sp>
        <p:nvSpPr>
          <p:cNvPr id="41" name="TextBox 40">
            <a:extLst>
              <a:ext uri="{FF2B5EF4-FFF2-40B4-BE49-F238E27FC236}">
                <a16:creationId xmlns:a16="http://schemas.microsoft.com/office/drawing/2014/main" id="{C6064E16-8A69-98F9-DF95-6153F4EE9D20}"/>
              </a:ext>
            </a:extLst>
          </p:cNvPr>
          <p:cNvSpPr txBox="1"/>
          <p:nvPr/>
        </p:nvSpPr>
        <p:spPr>
          <a:xfrm>
            <a:off x="8083776" y="4294387"/>
            <a:ext cx="1669287" cy="1415772"/>
          </a:xfrm>
          <a:prstGeom prst="rect">
            <a:avLst/>
          </a:prstGeom>
          <a:noFill/>
        </p:spPr>
        <p:txBody>
          <a:bodyPr wrap="square" lIns="91440" tIns="45720" rIns="91440" bIns="45720" rtlCol="0" anchor="t">
            <a:spAutoFit/>
          </a:bodyPr>
          <a:lstStyle/>
          <a:p>
            <a:pPr algn="ctr"/>
            <a:r>
              <a:rPr lang="en-US" sz="1400" b="1">
                <a:latin typeface="Arial"/>
                <a:cs typeface="Arial"/>
              </a:rPr>
              <a:t>CVV Distribution</a:t>
            </a:r>
            <a:endParaRPr lang="en-US" sz="1400" b="1">
              <a:latin typeface="Arial" panose="020B0604020202020204" pitchFamily="34" charset="0"/>
              <a:cs typeface="Arial" panose="020B0604020202020204" pitchFamily="34" charset="0"/>
            </a:endParaRPr>
          </a:p>
          <a:p>
            <a:pPr algn="ctr"/>
            <a:r>
              <a:rPr lang="en-US" sz="1200">
                <a:latin typeface="Arial" panose="020B0604020202020204" pitchFamily="34" charset="0"/>
                <a:cs typeface="Arial" panose="020B0604020202020204" pitchFamily="34" charset="0"/>
              </a:rPr>
              <a:t>Reference viruses for subclade K distributed to collaborators and reassorting laboratories</a:t>
            </a:r>
          </a:p>
        </p:txBody>
      </p:sp>
      <p:sp>
        <p:nvSpPr>
          <p:cNvPr id="42" name="TextBox 41">
            <a:extLst>
              <a:ext uri="{FF2B5EF4-FFF2-40B4-BE49-F238E27FC236}">
                <a16:creationId xmlns:a16="http://schemas.microsoft.com/office/drawing/2014/main" id="{881CADD0-1673-9DD2-7565-F13152002CA0}"/>
              </a:ext>
            </a:extLst>
          </p:cNvPr>
          <p:cNvSpPr txBox="1"/>
          <p:nvPr/>
        </p:nvSpPr>
        <p:spPr>
          <a:xfrm>
            <a:off x="9468103" y="732612"/>
            <a:ext cx="1792151" cy="1077218"/>
          </a:xfrm>
          <a:prstGeom prst="rect">
            <a:avLst/>
          </a:prstGeom>
          <a:noFill/>
        </p:spPr>
        <p:txBody>
          <a:bodyPr wrap="square" rtlCol="0">
            <a:spAutoFit/>
          </a:bodyPr>
          <a:lstStyle/>
          <a:p>
            <a:pPr algn="ctr"/>
            <a:r>
              <a:rPr lang="en-US" sz="1400" b="1" dirty="0">
                <a:latin typeface="Arial" panose="020B0604020202020204" pitchFamily="34" charset="0"/>
                <a:cs typeface="Arial" panose="020B0604020202020204" pitchFamily="34" charset="0"/>
              </a:rPr>
              <a:t>Reassortants</a:t>
            </a:r>
          </a:p>
          <a:p>
            <a:pPr algn="ctr"/>
            <a:r>
              <a:rPr lang="en-US" sz="1200" dirty="0">
                <a:latin typeface="Arial" panose="020B0604020202020204" pitchFamily="34" charset="0"/>
                <a:cs typeface="Arial" panose="020B0604020202020204" pitchFamily="34" charset="0"/>
              </a:rPr>
              <a:t>High growth reassortants started to arrive at CDC to subclade K</a:t>
            </a:r>
          </a:p>
        </p:txBody>
      </p:sp>
      <p:sp>
        <p:nvSpPr>
          <p:cNvPr id="34" name="TextBox 33">
            <a:extLst>
              <a:ext uri="{FF2B5EF4-FFF2-40B4-BE49-F238E27FC236}">
                <a16:creationId xmlns:a16="http://schemas.microsoft.com/office/drawing/2014/main" id="{7D4AA92A-3F3F-4C80-0AB4-ED6A465ACF98}"/>
              </a:ext>
            </a:extLst>
          </p:cNvPr>
          <p:cNvSpPr txBox="1"/>
          <p:nvPr/>
        </p:nvSpPr>
        <p:spPr>
          <a:xfrm>
            <a:off x="1081715" y="52628"/>
            <a:ext cx="10081381" cy="553998"/>
          </a:xfrm>
          <a:prstGeom prst="rect">
            <a:avLst/>
          </a:prstGeom>
          <a:noFill/>
        </p:spPr>
        <p:txBody>
          <a:bodyPr wrap="square" rtlCol="0">
            <a:spAutoFit/>
          </a:bodyPr>
          <a:lstStyle/>
          <a:p>
            <a:pPr algn="ctr"/>
            <a:r>
              <a:rPr lang="en-US" sz="3000" dirty="0">
                <a:solidFill>
                  <a:srgbClr val="0000FF"/>
                </a:solidFill>
                <a:cs typeface="Arial" panose="020B0604020202020204" pitchFamily="34" charset="0"/>
              </a:rPr>
              <a:t>Genomic Epi in Action: Subclade K CVV Generation Timeline</a:t>
            </a:r>
            <a:endParaRPr lang="en-US" sz="3000" b="1" dirty="0">
              <a:solidFill>
                <a:schemeClr val="accent1">
                  <a:lumMod val="50000"/>
                </a:schemeClr>
              </a:solidFill>
              <a:latin typeface="Arial" panose="020B0604020202020204" pitchFamily="34" charset="0"/>
              <a:cs typeface="Arial" panose="020B0604020202020204" pitchFamily="34" charset="0"/>
            </a:endParaRPr>
          </a:p>
        </p:txBody>
      </p:sp>
      <p:sp>
        <p:nvSpPr>
          <p:cNvPr id="39" name="TextBox 38">
            <a:extLst>
              <a:ext uri="{FF2B5EF4-FFF2-40B4-BE49-F238E27FC236}">
                <a16:creationId xmlns:a16="http://schemas.microsoft.com/office/drawing/2014/main" id="{AA95C534-C6E9-002B-9E7B-F3E50005C55E}"/>
              </a:ext>
            </a:extLst>
          </p:cNvPr>
          <p:cNvSpPr txBox="1"/>
          <p:nvPr/>
        </p:nvSpPr>
        <p:spPr>
          <a:xfrm>
            <a:off x="5693315" y="578724"/>
            <a:ext cx="2205289" cy="1231106"/>
          </a:xfrm>
          <a:prstGeom prst="rect">
            <a:avLst/>
          </a:prstGeom>
          <a:noFill/>
        </p:spPr>
        <p:txBody>
          <a:bodyPr wrap="square" lIns="91440" tIns="45720" rIns="91440" bIns="45720" rtlCol="0" anchor="t">
            <a:spAutoFit/>
          </a:bodyPr>
          <a:lstStyle/>
          <a:p>
            <a:pPr algn="ctr"/>
            <a:r>
              <a:rPr lang="en-US" sz="1400" b="1">
                <a:latin typeface="Arial"/>
                <a:cs typeface="Arial"/>
              </a:rPr>
              <a:t>Subclade Naming</a:t>
            </a:r>
            <a:endParaRPr lang="en-US" sz="1400" b="1">
              <a:latin typeface="Arial" panose="020B0604020202020204" pitchFamily="34" charset="0"/>
              <a:cs typeface="Arial" panose="020B0604020202020204" pitchFamily="34" charset="0"/>
            </a:endParaRPr>
          </a:p>
          <a:p>
            <a:pPr algn="ctr"/>
            <a:r>
              <a:rPr lang="en-US" sz="1200">
                <a:latin typeface="Arial" panose="020B0604020202020204" pitchFamily="34" charset="0"/>
                <a:cs typeface="Arial" panose="020B0604020202020204" pitchFamily="34" charset="0"/>
              </a:rPr>
              <a:t>Emerging subclade of J.2.4 viruses with specific amino acid substitutions were designated as subclade J.2.4.1 and then given alias K</a:t>
            </a:r>
          </a:p>
        </p:txBody>
      </p:sp>
      <p:cxnSp>
        <p:nvCxnSpPr>
          <p:cNvPr id="43" name="Straight Connector 42">
            <a:extLst>
              <a:ext uri="{FF2B5EF4-FFF2-40B4-BE49-F238E27FC236}">
                <a16:creationId xmlns:a16="http://schemas.microsoft.com/office/drawing/2014/main" id="{C9DB25C8-1079-D52F-37DA-923CDEB669FE}"/>
              </a:ext>
            </a:extLst>
          </p:cNvPr>
          <p:cNvCxnSpPr>
            <a:cxnSpLocks/>
          </p:cNvCxnSpPr>
          <p:nvPr/>
        </p:nvCxnSpPr>
        <p:spPr>
          <a:xfrm>
            <a:off x="3780728" y="3163968"/>
            <a:ext cx="0" cy="423547"/>
          </a:xfrm>
          <a:prstGeom prst="line">
            <a:avLst/>
          </a:prstGeom>
          <a:ln w="76200"/>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76163FF7-C36B-F13D-D432-4E324CEBB21B}"/>
              </a:ext>
            </a:extLst>
          </p:cNvPr>
          <p:cNvSpPr txBox="1"/>
          <p:nvPr/>
        </p:nvSpPr>
        <p:spPr>
          <a:xfrm>
            <a:off x="2908231" y="4294387"/>
            <a:ext cx="1679865" cy="1631216"/>
          </a:xfrm>
          <a:prstGeom prst="rect">
            <a:avLst/>
          </a:prstGeom>
          <a:noFill/>
        </p:spPr>
        <p:txBody>
          <a:bodyPr wrap="square" lIns="91440" tIns="45720" rIns="91440" bIns="45720" rtlCol="0" anchor="t">
            <a:spAutoFit/>
          </a:bodyPr>
          <a:lstStyle/>
          <a:p>
            <a:pPr algn="ctr"/>
            <a:r>
              <a:rPr lang="en-US" sz="1400" b="1">
                <a:latin typeface="Arial"/>
                <a:cs typeface="Arial"/>
              </a:rPr>
              <a:t>Collaborators Notified</a:t>
            </a:r>
            <a:endParaRPr lang="en-US" sz="1400" b="1">
              <a:latin typeface="Arial" panose="020B0604020202020204" pitchFamily="34" charset="0"/>
              <a:cs typeface="Arial" panose="020B0604020202020204" pitchFamily="34" charset="0"/>
            </a:endParaRPr>
          </a:p>
          <a:p>
            <a:pPr algn="ctr"/>
            <a:r>
              <a:rPr lang="en-US" sz="1200">
                <a:latin typeface="Arial" panose="020B0604020202020204" pitchFamily="34" charset="0"/>
                <a:cs typeface="Arial" panose="020B0604020202020204" pitchFamily="34" charset="0"/>
              </a:rPr>
              <a:t>CDC notified other GISRS collaborating centers of their findings for newly emerging subclade of J.2.4 viruses </a:t>
            </a:r>
            <a:endParaRPr lang="en-US" sz="1200">
              <a:highlight>
                <a:srgbClr val="FFFF00"/>
              </a:highlight>
              <a:latin typeface="Arial" panose="020B0604020202020204" pitchFamily="34" charset="0"/>
              <a:cs typeface="Arial" panose="020B0604020202020204" pitchFamily="34" charset="0"/>
            </a:endParaRPr>
          </a:p>
        </p:txBody>
      </p:sp>
      <p:grpSp>
        <p:nvGrpSpPr>
          <p:cNvPr id="59" name="Group 58">
            <a:extLst>
              <a:ext uri="{FF2B5EF4-FFF2-40B4-BE49-F238E27FC236}">
                <a16:creationId xmlns:a16="http://schemas.microsoft.com/office/drawing/2014/main" id="{B580EEF4-2414-C1EC-3C3E-96DB5EEE577A}"/>
              </a:ext>
            </a:extLst>
          </p:cNvPr>
          <p:cNvGrpSpPr/>
          <p:nvPr/>
        </p:nvGrpSpPr>
        <p:grpSpPr>
          <a:xfrm>
            <a:off x="9248718" y="2742566"/>
            <a:ext cx="158347" cy="517978"/>
            <a:chOff x="10276127" y="3009658"/>
            <a:chExt cx="158347" cy="517978"/>
          </a:xfrm>
        </p:grpSpPr>
        <p:cxnSp>
          <p:nvCxnSpPr>
            <p:cNvPr id="49" name="Straight Connector 48">
              <a:extLst>
                <a:ext uri="{FF2B5EF4-FFF2-40B4-BE49-F238E27FC236}">
                  <a16:creationId xmlns:a16="http://schemas.microsoft.com/office/drawing/2014/main" id="{E9B3EC1A-81D1-8BA7-1DAC-07CF5C06FF32}"/>
                </a:ext>
              </a:extLst>
            </p:cNvPr>
            <p:cNvCxnSpPr>
              <a:cxnSpLocks/>
            </p:cNvCxnSpPr>
            <p:nvPr/>
          </p:nvCxnSpPr>
          <p:spPr>
            <a:xfrm flipH="1">
              <a:off x="10276127" y="3009658"/>
              <a:ext cx="158347" cy="223647"/>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8A237C61-F04E-620D-358C-929D53802B6A}"/>
                </a:ext>
              </a:extLst>
            </p:cNvPr>
            <p:cNvCxnSpPr>
              <a:cxnSpLocks/>
            </p:cNvCxnSpPr>
            <p:nvPr/>
          </p:nvCxnSpPr>
          <p:spPr>
            <a:xfrm>
              <a:off x="10276127" y="3180631"/>
              <a:ext cx="158347" cy="150762"/>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8916C276-28B7-1073-FF43-B057388CA4F2}"/>
                </a:ext>
              </a:extLst>
            </p:cNvPr>
            <p:cNvCxnSpPr>
              <a:cxnSpLocks/>
            </p:cNvCxnSpPr>
            <p:nvPr/>
          </p:nvCxnSpPr>
          <p:spPr>
            <a:xfrm flipH="1">
              <a:off x="10276127" y="3287204"/>
              <a:ext cx="158347" cy="240432"/>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grpSp>
      <p:cxnSp>
        <p:nvCxnSpPr>
          <p:cNvPr id="60" name="Straight Connector 59">
            <a:extLst>
              <a:ext uri="{FF2B5EF4-FFF2-40B4-BE49-F238E27FC236}">
                <a16:creationId xmlns:a16="http://schemas.microsoft.com/office/drawing/2014/main" id="{9B12302B-2D29-C4EC-60D5-D66B6B1CED4F}"/>
              </a:ext>
            </a:extLst>
          </p:cNvPr>
          <p:cNvCxnSpPr>
            <a:cxnSpLocks/>
          </p:cNvCxnSpPr>
          <p:nvPr/>
        </p:nvCxnSpPr>
        <p:spPr>
          <a:xfrm>
            <a:off x="10384890" y="2491600"/>
            <a:ext cx="0" cy="369162"/>
          </a:xfrm>
          <a:prstGeom prst="line">
            <a:avLst/>
          </a:prstGeom>
          <a:ln w="76200"/>
        </p:spPr>
        <p:style>
          <a:lnRef idx="2">
            <a:schemeClr val="accent1"/>
          </a:lnRef>
          <a:fillRef idx="0">
            <a:schemeClr val="accent1"/>
          </a:fillRef>
          <a:effectRef idx="1">
            <a:schemeClr val="accent1"/>
          </a:effectRef>
          <a:fontRef idx="minor">
            <a:schemeClr val="tx1"/>
          </a:fontRef>
        </p:style>
      </p:cxnSp>
      <p:sp>
        <p:nvSpPr>
          <p:cNvPr id="61" name="Oval 60">
            <a:extLst>
              <a:ext uri="{FF2B5EF4-FFF2-40B4-BE49-F238E27FC236}">
                <a16:creationId xmlns:a16="http://schemas.microsoft.com/office/drawing/2014/main" id="{21D9117B-6B82-5F54-04F8-7B9130423EE5}"/>
              </a:ext>
            </a:extLst>
          </p:cNvPr>
          <p:cNvSpPr/>
          <p:nvPr/>
        </p:nvSpPr>
        <p:spPr>
          <a:xfrm>
            <a:off x="6431187" y="1798451"/>
            <a:ext cx="712278" cy="666375"/>
          </a:xfrm>
          <a:prstGeom prst="ellipse">
            <a:avLst/>
          </a:prstGeom>
          <a:solidFill>
            <a:srgbClr val="55A581"/>
          </a:solidFill>
          <a:ln>
            <a:solidFill>
              <a:srgbClr val="4EA5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88F32EF0-B207-8767-9A28-B89962560AE7}"/>
              </a:ext>
            </a:extLst>
          </p:cNvPr>
          <p:cNvSpPr txBox="1"/>
          <p:nvPr/>
        </p:nvSpPr>
        <p:spPr>
          <a:xfrm>
            <a:off x="6420590" y="1891700"/>
            <a:ext cx="733471" cy="523220"/>
          </a:xfrm>
          <a:prstGeom prst="rect">
            <a:avLst/>
          </a:prstGeom>
          <a:noFill/>
        </p:spPr>
        <p:txBody>
          <a:bodyPr wrap="none" rtlCol="0">
            <a:spAutoFit/>
          </a:bodyPr>
          <a:lstStyle/>
          <a:p>
            <a:pPr algn="ctr"/>
            <a:r>
              <a:rPr lang="en-US" sz="1400" b="1">
                <a:solidFill>
                  <a:schemeClr val="bg1"/>
                </a:solidFill>
                <a:latin typeface="Trade Gothic Inline" panose="020F0502020204030204" pitchFamily="34" charset="0"/>
                <a:cs typeface="Arial" panose="020B0604020202020204" pitchFamily="34" charset="0"/>
              </a:rPr>
              <a:t>J.2.4.1</a:t>
            </a:r>
          </a:p>
          <a:p>
            <a:pPr algn="ctr"/>
            <a:r>
              <a:rPr lang="en-US" sz="1400" b="1">
                <a:solidFill>
                  <a:schemeClr val="bg1"/>
                </a:solidFill>
                <a:latin typeface="Trade Gothic Inline" panose="020F0502020204030204" pitchFamily="34" charset="0"/>
                <a:cs typeface="Arial" panose="020B0604020202020204" pitchFamily="34" charset="0"/>
              </a:rPr>
              <a:t>(K)</a:t>
            </a:r>
          </a:p>
        </p:txBody>
      </p:sp>
      <p:sp>
        <p:nvSpPr>
          <p:cNvPr id="63" name="TextBox 62">
            <a:extLst>
              <a:ext uri="{FF2B5EF4-FFF2-40B4-BE49-F238E27FC236}">
                <a16:creationId xmlns:a16="http://schemas.microsoft.com/office/drawing/2014/main" id="{37B577C2-671F-00D1-A172-1C572C910FE7}"/>
              </a:ext>
            </a:extLst>
          </p:cNvPr>
          <p:cNvSpPr txBox="1"/>
          <p:nvPr/>
        </p:nvSpPr>
        <p:spPr>
          <a:xfrm>
            <a:off x="9477492" y="2827179"/>
            <a:ext cx="593432" cy="338554"/>
          </a:xfrm>
          <a:prstGeom prst="rect">
            <a:avLst/>
          </a:prstGeom>
          <a:noFill/>
        </p:spPr>
        <p:txBody>
          <a:bodyPr wrap="none" rtlCol="0">
            <a:spAutoFit/>
          </a:bodyPr>
          <a:lstStyle/>
          <a:p>
            <a:r>
              <a:rPr lang="en-US" sz="1600" b="1">
                <a:solidFill>
                  <a:schemeClr val="bg1"/>
                </a:solidFill>
                <a:latin typeface="Arial" panose="020B0604020202020204" pitchFamily="34" charset="0"/>
                <a:cs typeface="Arial" panose="020B0604020202020204" pitchFamily="34" charset="0"/>
              </a:rPr>
              <a:t>JAN</a:t>
            </a:r>
          </a:p>
        </p:txBody>
      </p:sp>
      <p:grpSp>
        <p:nvGrpSpPr>
          <p:cNvPr id="64" name="Group 63">
            <a:extLst>
              <a:ext uri="{FF2B5EF4-FFF2-40B4-BE49-F238E27FC236}">
                <a16:creationId xmlns:a16="http://schemas.microsoft.com/office/drawing/2014/main" id="{4018B7D6-6D2E-05AB-AC08-35A21BDE8376}"/>
              </a:ext>
            </a:extLst>
          </p:cNvPr>
          <p:cNvGrpSpPr/>
          <p:nvPr/>
        </p:nvGrpSpPr>
        <p:grpSpPr>
          <a:xfrm>
            <a:off x="1033031" y="2777908"/>
            <a:ext cx="158347" cy="517978"/>
            <a:chOff x="10276127" y="3009658"/>
            <a:chExt cx="158347" cy="517978"/>
          </a:xfrm>
        </p:grpSpPr>
        <p:cxnSp>
          <p:nvCxnSpPr>
            <p:cNvPr id="65" name="Straight Connector 64">
              <a:extLst>
                <a:ext uri="{FF2B5EF4-FFF2-40B4-BE49-F238E27FC236}">
                  <a16:creationId xmlns:a16="http://schemas.microsoft.com/office/drawing/2014/main" id="{C0A55403-9D71-DC27-8606-B0C6B6EC39DC}"/>
                </a:ext>
              </a:extLst>
            </p:cNvPr>
            <p:cNvCxnSpPr>
              <a:cxnSpLocks/>
            </p:cNvCxnSpPr>
            <p:nvPr/>
          </p:nvCxnSpPr>
          <p:spPr>
            <a:xfrm flipH="1">
              <a:off x="10276127" y="3009658"/>
              <a:ext cx="158347" cy="223647"/>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CC5DC1BD-68C0-1A77-6D26-681B44C7ED85}"/>
                </a:ext>
              </a:extLst>
            </p:cNvPr>
            <p:cNvCxnSpPr>
              <a:cxnSpLocks/>
            </p:cNvCxnSpPr>
            <p:nvPr/>
          </p:nvCxnSpPr>
          <p:spPr>
            <a:xfrm>
              <a:off x="10276127" y="3180631"/>
              <a:ext cx="158347" cy="150762"/>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3A9708D6-D797-1EE6-B63C-E3C64410B1B4}"/>
                </a:ext>
              </a:extLst>
            </p:cNvPr>
            <p:cNvCxnSpPr>
              <a:cxnSpLocks/>
            </p:cNvCxnSpPr>
            <p:nvPr/>
          </p:nvCxnSpPr>
          <p:spPr>
            <a:xfrm flipH="1">
              <a:off x="10276127" y="3287204"/>
              <a:ext cx="158347" cy="240432"/>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68" name="TextBox 67">
            <a:extLst>
              <a:ext uri="{FF2B5EF4-FFF2-40B4-BE49-F238E27FC236}">
                <a16:creationId xmlns:a16="http://schemas.microsoft.com/office/drawing/2014/main" id="{4BCAC037-E130-2470-F0FD-7060D02E2804}"/>
              </a:ext>
            </a:extLst>
          </p:cNvPr>
          <p:cNvSpPr txBox="1"/>
          <p:nvPr/>
        </p:nvSpPr>
        <p:spPr>
          <a:xfrm>
            <a:off x="10781371" y="2819643"/>
            <a:ext cx="593432" cy="338554"/>
          </a:xfrm>
          <a:prstGeom prst="rect">
            <a:avLst/>
          </a:prstGeom>
          <a:noFill/>
        </p:spPr>
        <p:txBody>
          <a:bodyPr wrap="none" rtlCol="0">
            <a:spAutoFit/>
          </a:bodyPr>
          <a:lstStyle/>
          <a:p>
            <a:r>
              <a:rPr lang="en-US" sz="1600" b="1">
                <a:solidFill>
                  <a:schemeClr val="bg1"/>
                </a:solidFill>
                <a:latin typeface="Arial" panose="020B0604020202020204" pitchFamily="34" charset="0"/>
                <a:cs typeface="Arial" panose="020B0604020202020204" pitchFamily="34" charset="0"/>
              </a:rPr>
              <a:t>FEB</a:t>
            </a:r>
          </a:p>
        </p:txBody>
      </p:sp>
      <p:sp>
        <p:nvSpPr>
          <p:cNvPr id="69" name="Star: 5 Points 68">
            <a:extLst>
              <a:ext uri="{FF2B5EF4-FFF2-40B4-BE49-F238E27FC236}">
                <a16:creationId xmlns:a16="http://schemas.microsoft.com/office/drawing/2014/main" id="{BB5D853E-17D6-CDA8-7020-19CAEA71CD0E}"/>
              </a:ext>
            </a:extLst>
          </p:cNvPr>
          <p:cNvSpPr/>
          <p:nvPr/>
        </p:nvSpPr>
        <p:spPr>
          <a:xfrm>
            <a:off x="5624691" y="2898368"/>
            <a:ext cx="116601" cy="98088"/>
          </a:xfrm>
          <a:prstGeom prst="star5">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Star: 5 Points 69">
            <a:extLst>
              <a:ext uri="{FF2B5EF4-FFF2-40B4-BE49-F238E27FC236}">
                <a16:creationId xmlns:a16="http://schemas.microsoft.com/office/drawing/2014/main" id="{D4088809-092A-6AEF-69E1-00F914F54EDA}"/>
              </a:ext>
            </a:extLst>
          </p:cNvPr>
          <p:cNvSpPr/>
          <p:nvPr/>
        </p:nvSpPr>
        <p:spPr>
          <a:xfrm>
            <a:off x="11456958" y="2910816"/>
            <a:ext cx="116601" cy="98088"/>
          </a:xfrm>
          <a:prstGeom prst="star5">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4" name="Picture 73" descr="Logo, icon&#10;&#10;AI-generated content may be incorrect.">
            <a:extLst>
              <a:ext uri="{FF2B5EF4-FFF2-40B4-BE49-F238E27FC236}">
                <a16:creationId xmlns:a16="http://schemas.microsoft.com/office/drawing/2014/main" id="{5B7F4874-BB93-489A-7FA4-5BCC90D59BDF}"/>
              </a:ext>
            </a:extLst>
          </p:cNvPr>
          <p:cNvPicPr>
            <a:picLocks noChangeAspect="1"/>
          </p:cNvPicPr>
          <p:nvPr/>
        </p:nvPicPr>
        <p:blipFill>
          <a:blip r:embed="rId7"/>
          <a:stretch>
            <a:fillRect/>
          </a:stretch>
        </p:blipFill>
        <p:spPr>
          <a:xfrm>
            <a:off x="8494501" y="3587152"/>
            <a:ext cx="739888" cy="765578"/>
          </a:xfrm>
          <a:prstGeom prst="rect">
            <a:avLst/>
          </a:prstGeom>
        </p:spPr>
      </p:pic>
      <p:sp>
        <p:nvSpPr>
          <p:cNvPr id="76" name="TextBox 75">
            <a:extLst>
              <a:ext uri="{FF2B5EF4-FFF2-40B4-BE49-F238E27FC236}">
                <a16:creationId xmlns:a16="http://schemas.microsoft.com/office/drawing/2014/main" id="{F1A38622-1485-3EE7-2809-2BB81F87F7DE}"/>
              </a:ext>
            </a:extLst>
          </p:cNvPr>
          <p:cNvSpPr txBox="1"/>
          <p:nvPr/>
        </p:nvSpPr>
        <p:spPr>
          <a:xfrm>
            <a:off x="9918955" y="6051317"/>
            <a:ext cx="2318263" cy="246221"/>
          </a:xfrm>
          <a:prstGeom prst="rect">
            <a:avLst/>
          </a:prstGeom>
          <a:noFill/>
        </p:spPr>
        <p:txBody>
          <a:bodyPr wrap="none" rtlCol="0">
            <a:spAutoFit/>
          </a:bodyPr>
          <a:lstStyle/>
          <a:p>
            <a:r>
              <a:rPr lang="en-US" sz="1000">
                <a:latin typeface="Arial" panose="020B0604020202020204" pitchFamily="34" charset="0"/>
                <a:cs typeface="Arial" panose="020B0604020202020204" pitchFamily="34" charset="0"/>
              </a:rPr>
              <a:t>NOTE – timeline length is not to scale</a:t>
            </a:r>
          </a:p>
        </p:txBody>
      </p:sp>
      <p:sp>
        <p:nvSpPr>
          <p:cNvPr id="37" name="TextBox 36">
            <a:extLst>
              <a:ext uri="{FF2B5EF4-FFF2-40B4-BE49-F238E27FC236}">
                <a16:creationId xmlns:a16="http://schemas.microsoft.com/office/drawing/2014/main" id="{2B32A801-396A-C4D6-CAE9-FB8EFEE4CE0B}"/>
              </a:ext>
            </a:extLst>
          </p:cNvPr>
          <p:cNvSpPr txBox="1"/>
          <p:nvPr/>
        </p:nvSpPr>
        <p:spPr>
          <a:xfrm>
            <a:off x="0" y="5974372"/>
            <a:ext cx="6167436" cy="646331"/>
          </a:xfrm>
          <a:prstGeom prst="rect">
            <a:avLst/>
          </a:prstGeom>
          <a:noFill/>
        </p:spPr>
        <p:txBody>
          <a:bodyPr wrap="square">
            <a:spAutoFit/>
          </a:bodyPr>
          <a:lstStyle/>
          <a:p>
            <a:r>
              <a:rPr lang="en-US">
                <a:hlinkClick r:id="rId8"/>
              </a:rPr>
              <a:t>Pre-print Interim US 2025-26 Season SSRN</a:t>
            </a:r>
            <a:endParaRPr lang="en-US"/>
          </a:p>
          <a:p>
            <a:endParaRPr lang="en-US"/>
          </a:p>
        </p:txBody>
      </p:sp>
      <p:sp>
        <p:nvSpPr>
          <p:cNvPr id="38" name="TextBox 37">
            <a:extLst>
              <a:ext uri="{FF2B5EF4-FFF2-40B4-BE49-F238E27FC236}">
                <a16:creationId xmlns:a16="http://schemas.microsoft.com/office/drawing/2014/main" id="{DAF8C66D-7C49-A6A3-3AC2-AA4CC33E0F8F}"/>
              </a:ext>
            </a:extLst>
          </p:cNvPr>
          <p:cNvSpPr txBox="1"/>
          <p:nvPr/>
        </p:nvSpPr>
        <p:spPr>
          <a:xfrm>
            <a:off x="4482202" y="4294387"/>
            <a:ext cx="2170971" cy="1815882"/>
          </a:xfrm>
          <a:prstGeom prst="rect">
            <a:avLst/>
          </a:prstGeom>
          <a:noFill/>
        </p:spPr>
        <p:txBody>
          <a:bodyPr wrap="square" lIns="91440" tIns="45720" rIns="91440" bIns="45720" rtlCol="0" anchor="t">
            <a:spAutoFit/>
          </a:bodyPr>
          <a:lstStyle/>
          <a:p>
            <a:pPr algn="ctr"/>
            <a:r>
              <a:rPr lang="en-US" sz="1400" b="1">
                <a:latin typeface="Arial" panose="020B0604020202020204" pitchFamily="34" charset="0"/>
                <a:cs typeface="Arial" panose="020B0604020202020204" pitchFamily="34" charset="0"/>
              </a:rPr>
              <a:t>2026 SH Vaccine Recommendation </a:t>
            </a:r>
            <a:r>
              <a:rPr lang="en-US" sz="1200">
                <a:latin typeface="Arial" panose="020B0604020202020204" pitchFamily="34" charset="0"/>
                <a:cs typeface="Arial" panose="020B0604020202020204" pitchFamily="34" charset="0"/>
              </a:rPr>
              <a:t>Report: J.2.4 viruses well including those with </a:t>
            </a:r>
            <a:r>
              <a:rPr lang="en-US" sz="1200" b="1" i="1">
                <a:latin typeface="Arial" panose="020B0604020202020204" pitchFamily="34" charset="0"/>
                <a:cs typeface="Arial" panose="020B0604020202020204" pitchFamily="34" charset="0"/>
              </a:rPr>
              <a:t>notable additional HA substitutions</a:t>
            </a:r>
            <a:r>
              <a:rPr lang="en-US" sz="1200">
                <a:latin typeface="Arial" panose="020B0604020202020204" pitchFamily="34" charset="0"/>
                <a:cs typeface="Arial" panose="020B0604020202020204" pitchFamily="34" charset="0"/>
              </a:rPr>
              <a:t> S144N (a potential addition of an N-glycosylation site), N158D, I160K and Q173R, which have recently emerged</a:t>
            </a:r>
          </a:p>
        </p:txBody>
      </p:sp>
      <p:sp>
        <p:nvSpPr>
          <p:cNvPr id="45" name="Oval 44">
            <a:extLst>
              <a:ext uri="{FF2B5EF4-FFF2-40B4-BE49-F238E27FC236}">
                <a16:creationId xmlns:a16="http://schemas.microsoft.com/office/drawing/2014/main" id="{46D2D7CC-4238-FAD8-78FF-333F9C4209E5}"/>
              </a:ext>
            </a:extLst>
          </p:cNvPr>
          <p:cNvSpPr/>
          <p:nvPr/>
        </p:nvSpPr>
        <p:spPr>
          <a:xfrm>
            <a:off x="5316177" y="3587152"/>
            <a:ext cx="712278" cy="666375"/>
          </a:xfrm>
          <a:prstGeom prst="ellipse">
            <a:avLst/>
          </a:prstGeom>
          <a:solidFill>
            <a:srgbClr val="55A581"/>
          </a:solidFill>
          <a:ln>
            <a:solidFill>
              <a:srgbClr val="4EA5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DCDEF5AE-55C8-5787-6592-F3691A42C2CF}"/>
              </a:ext>
            </a:extLst>
          </p:cNvPr>
          <p:cNvSpPr txBox="1"/>
          <p:nvPr/>
        </p:nvSpPr>
        <p:spPr>
          <a:xfrm>
            <a:off x="5363704" y="3766450"/>
            <a:ext cx="577339" cy="307777"/>
          </a:xfrm>
          <a:prstGeom prst="rect">
            <a:avLst/>
          </a:prstGeom>
          <a:noFill/>
        </p:spPr>
        <p:txBody>
          <a:bodyPr wrap="none" rtlCol="0">
            <a:spAutoFit/>
          </a:bodyPr>
          <a:lstStyle/>
          <a:p>
            <a:pPr algn="ctr"/>
            <a:r>
              <a:rPr lang="en-US" sz="1400" b="1">
                <a:solidFill>
                  <a:srgbClr val="FFFF00"/>
                </a:solidFill>
                <a:latin typeface="Trade Gothic Inline" panose="020F0502020204030204" pitchFamily="34" charset="0"/>
                <a:cs typeface="Arial" panose="020B0604020202020204" pitchFamily="34" charset="0"/>
              </a:rPr>
              <a:t>VCM</a:t>
            </a:r>
          </a:p>
        </p:txBody>
      </p:sp>
      <p:cxnSp>
        <p:nvCxnSpPr>
          <p:cNvPr id="47" name="Straight Connector 46">
            <a:extLst>
              <a:ext uri="{FF2B5EF4-FFF2-40B4-BE49-F238E27FC236}">
                <a16:creationId xmlns:a16="http://schemas.microsoft.com/office/drawing/2014/main" id="{534D1B7F-9659-601E-8C28-7BFAB476D198}"/>
              </a:ext>
            </a:extLst>
          </p:cNvPr>
          <p:cNvCxnSpPr>
            <a:cxnSpLocks/>
          </p:cNvCxnSpPr>
          <p:nvPr/>
        </p:nvCxnSpPr>
        <p:spPr>
          <a:xfrm>
            <a:off x="5672316" y="3136434"/>
            <a:ext cx="0" cy="427026"/>
          </a:xfrm>
          <a:prstGeom prst="line">
            <a:avLst/>
          </a:prstGeom>
          <a:ln w="76200"/>
        </p:spPr>
        <p:style>
          <a:lnRef idx="2">
            <a:schemeClr val="accent1"/>
          </a:lnRef>
          <a:fillRef idx="0">
            <a:schemeClr val="accent1"/>
          </a:fillRef>
          <a:effectRef idx="1">
            <a:schemeClr val="accent1"/>
          </a:effectRef>
          <a:fontRef idx="minor">
            <a:schemeClr val="tx1"/>
          </a:fontRef>
        </p:style>
      </p:cxnSp>
      <p:sp>
        <p:nvSpPr>
          <p:cNvPr id="48" name="Oval 47">
            <a:extLst>
              <a:ext uri="{FF2B5EF4-FFF2-40B4-BE49-F238E27FC236}">
                <a16:creationId xmlns:a16="http://schemas.microsoft.com/office/drawing/2014/main" id="{1E434F64-C68C-5ED2-7E6B-8A175F427BD0}"/>
              </a:ext>
            </a:extLst>
          </p:cNvPr>
          <p:cNvSpPr/>
          <p:nvPr/>
        </p:nvSpPr>
        <p:spPr>
          <a:xfrm>
            <a:off x="11174052" y="3604675"/>
            <a:ext cx="712278" cy="666375"/>
          </a:xfrm>
          <a:prstGeom prst="ellipse">
            <a:avLst/>
          </a:prstGeom>
          <a:solidFill>
            <a:srgbClr val="55A581"/>
          </a:solidFill>
          <a:ln>
            <a:solidFill>
              <a:srgbClr val="4EA5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733C2D5E-38BB-C771-05AC-E8843831CFEE}"/>
              </a:ext>
            </a:extLst>
          </p:cNvPr>
          <p:cNvSpPr txBox="1"/>
          <p:nvPr/>
        </p:nvSpPr>
        <p:spPr>
          <a:xfrm>
            <a:off x="11241521" y="3748510"/>
            <a:ext cx="577339" cy="307777"/>
          </a:xfrm>
          <a:prstGeom prst="rect">
            <a:avLst/>
          </a:prstGeom>
          <a:noFill/>
        </p:spPr>
        <p:txBody>
          <a:bodyPr wrap="none" rtlCol="0">
            <a:spAutoFit/>
          </a:bodyPr>
          <a:lstStyle/>
          <a:p>
            <a:pPr algn="ctr"/>
            <a:r>
              <a:rPr lang="en-US" sz="1400" b="1">
                <a:solidFill>
                  <a:srgbClr val="FFFF00"/>
                </a:solidFill>
                <a:latin typeface="Trade Gothic Inline" panose="020F0502020204030204" pitchFamily="34" charset="0"/>
                <a:cs typeface="Arial" panose="020B0604020202020204" pitchFamily="34" charset="0"/>
              </a:rPr>
              <a:t>VCM</a:t>
            </a:r>
          </a:p>
        </p:txBody>
      </p:sp>
      <p:cxnSp>
        <p:nvCxnSpPr>
          <p:cNvPr id="52" name="Straight Connector 51">
            <a:extLst>
              <a:ext uri="{FF2B5EF4-FFF2-40B4-BE49-F238E27FC236}">
                <a16:creationId xmlns:a16="http://schemas.microsoft.com/office/drawing/2014/main" id="{67DACFAC-0EA8-4665-8B17-2F5A130D7577}"/>
              </a:ext>
            </a:extLst>
          </p:cNvPr>
          <p:cNvCxnSpPr>
            <a:cxnSpLocks/>
          </p:cNvCxnSpPr>
          <p:nvPr/>
        </p:nvCxnSpPr>
        <p:spPr>
          <a:xfrm>
            <a:off x="11530191" y="3129622"/>
            <a:ext cx="0" cy="427026"/>
          </a:xfrm>
          <a:prstGeom prst="line">
            <a:avLst/>
          </a:prstGeom>
          <a:ln w="76200"/>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660DF0EC-27F7-A926-05F2-3DC8ED4B53AF}"/>
              </a:ext>
            </a:extLst>
          </p:cNvPr>
          <p:cNvSpPr txBox="1"/>
          <p:nvPr/>
        </p:nvSpPr>
        <p:spPr>
          <a:xfrm>
            <a:off x="10384890" y="4256534"/>
            <a:ext cx="1874647" cy="1384995"/>
          </a:xfrm>
          <a:prstGeom prst="rect">
            <a:avLst/>
          </a:prstGeom>
          <a:noFill/>
        </p:spPr>
        <p:txBody>
          <a:bodyPr wrap="square" lIns="91440" tIns="45720" rIns="91440" bIns="45720" rtlCol="0" anchor="t">
            <a:spAutoFit/>
          </a:bodyPr>
          <a:lstStyle/>
          <a:p>
            <a:pPr algn="ctr"/>
            <a:r>
              <a:rPr lang="en-US" sz="1400" b="1">
                <a:latin typeface="Arial" panose="020B0604020202020204" pitchFamily="34" charset="0"/>
                <a:cs typeface="Arial" panose="020B0604020202020204" pitchFamily="34" charset="0"/>
              </a:rPr>
              <a:t>2026-27 NH Vaccine Recommendation:</a:t>
            </a:r>
          </a:p>
          <a:p>
            <a:pPr algn="ctr"/>
            <a:r>
              <a:rPr lang="en-US" sz="1400" b="1">
                <a:latin typeface="Arial" panose="020B0604020202020204" pitchFamily="34" charset="0"/>
                <a:cs typeface="Arial" panose="020B0604020202020204" pitchFamily="34" charset="0"/>
              </a:rPr>
              <a:t>Subclade K viruses recommended as A(H3N2) component</a:t>
            </a:r>
            <a:endParaRPr lang="en-US" sz="1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0102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B79E9-CD91-70BE-E984-315391586D4B}"/>
              </a:ext>
            </a:extLst>
          </p:cNvPr>
          <p:cNvSpPr>
            <a:spLocks noGrp="1"/>
          </p:cNvSpPr>
          <p:nvPr>
            <p:ph type="title"/>
          </p:nvPr>
        </p:nvSpPr>
        <p:spPr/>
        <p:txBody>
          <a:bodyPr/>
          <a:lstStyle/>
          <a:p>
            <a:r>
              <a:rPr lang="en-US" dirty="0"/>
              <a:t>Thank you!</a:t>
            </a:r>
          </a:p>
        </p:txBody>
      </p:sp>
      <p:pic>
        <p:nvPicPr>
          <p:cNvPr id="4" name="Content Placeholder 3">
            <a:extLst>
              <a:ext uri="{FF2B5EF4-FFF2-40B4-BE49-F238E27FC236}">
                <a16:creationId xmlns:a16="http://schemas.microsoft.com/office/drawing/2014/main" id="{E5B19712-34A5-15BF-C948-54A598408424}"/>
              </a:ext>
            </a:extLst>
          </p:cNvPr>
          <p:cNvPicPr>
            <a:picLocks noGrp="1" noChangeAspect="1"/>
          </p:cNvPicPr>
          <p:nvPr>
            <p:ph idx="1"/>
          </p:nvPr>
        </p:nvPicPr>
        <p:blipFill>
          <a:blip r:embed="rId3"/>
          <a:stretch>
            <a:fillRect/>
          </a:stretch>
        </p:blipFill>
        <p:spPr>
          <a:xfrm>
            <a:off x="3928397" y="2205219"/>
            <a:ext cx="4359018" cy="3139712"/>
          </a:xfrm>
          <a:prstGeom prst="rect">
            <a:avLst/>
          </a:prstGeom>
        </p:spPr>
      </p:pic>
    </p:spTree>
    <p:extLst>
      <p:ext uri="{BB962C8B-B14F-4D97-AF65-F5344CB8AC3E}">
        <p14:creationId xmlns:p14="http://schemas.microsoft.com/office/powerpoint/2010/main" val="438386055"/>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9974</TotalTime>
  <Words>2361</Words>
  <Application>Microsoft Macintosh PowerPoint</Application>
  <PresentationFormat>Widescreen</PresentationFormat>
  <Paragraphs>181</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Calibri</vt:lpstr>
      <vt:lpstr>Calibri Light</vt:lpstr>
      <vt:lpstr>Trade Gothic Inline</vt:lpstr>
      <vt:lpstr>1_Office Theme</vt:lpstr>
      <vt:lpstr>Genomic Epidemiology</vt:lpstr>
      <vt:lpstr>Disclaimer</vt:lpstr>
      <vt:lpstr>Reiterating the Points of Genomic Epidemiology</vt:lpstr>
      <vt:lpstr>Goals of Global Influenza Genomic Surveillance: understand circulating viral diversity, where and to what extent</vt:lpstr>
      <vt:lpstr>Nextstrain</vt:lpstr>
      <vt:lpstr>Goals of Global Influenza Genomic Surveillance: understand circulating viral diversity, where and to what extent</vt:lpstr>
      <vt:lpstr>Understand the genetic diversity in epidemic</vt:lpstr>
      <vt:lpstr>Understand the genetic diversity in epidemic</vt:lpstr>
      <vt:lpstr>Understand the genetic diversity in epidemic</vt:lpstr>
      <vt:lpstr>Genotype to Phenotype</vt:lpstr>
      <vt:lpstr>PowerPoint Presentation</vt:lpstr>
      <vt:lpstr>Predictive Models</vt:lpstr>
      <vt:lpstr>PowerPoint Presentation</vt:lpstr>
      <vt:lpstr>Future Landscape of Influenza Genomics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Hassell, Norman (CDC/NCIRD/ID)</dc:creator>
  <cp:lastModifiedBy>Hassell, Norman (CDC/NCIRD/ID)</cp:lastModifiedBy>
  <cp:revision>10</cp:revision>
  <dcterms:created xsi:type="dcterms:W3CDTF">2026-03-25T13:16:21Z</dcterms:created>
  <dcterms:modified xsi:type="dcterms:W3CDTF">2026-04-15T16:30:00Z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af03ff0-41c5-4c41-b55e-fabb8fae94be_Enabled">
    <vt:lpwstr>true</vt:lpwstr>
  </property>
  <property fmtid="{D5CDD505-2E9C-101B-9397-08002B2CF9AE}" pid="3" name="MSIP_Label_8af03ff0-41c5-4c41-b55e-fabb8fae94be_SetDate">
    <vt:lpwstr>2026-03-25T18:06:42Z</vt:lpwstr>
  </property>
  <property fmtid="{D5CDD505-2E9C-101B-9397-08002B2CF9AE}" pid="4" name="MSIP_Label_8af03ff0-41c5-4c41-b55e-fabb8fae94be_Method">
    <vt:lpwstr>Privileged</vt:lpwstr>
  </property>
  <property fmtid="{D5CDD505-2E9C-101B-9397-08002B2CF9AE}" pid="5" name="MSIP_Label_8af03ff0-41c5-4c41-b55e-fabb8fae94be_Name">
    <vt:lpwstr>8af03ff0-41c5-4c41-b55e-fabb8fae94be</vt:lpwstr>
  </property>
  <property fmtid="{D5CDD505-2E9C-101B-9397-08002B2CF9AE}" pid="6" name="MSIP_Label_8af03ff0-41c5-4c41-b55e-fabb8fae94be_SiteId">
    <vt:lpwstr>9ce70869-60db-44fd-abe8-d2767077fc8f</vt:lpwstr>
  </property>
  <property fmtid="{D5CDD505-2E9C-101B-9397-08002B2CF9AE}" pid="7" name="MSIP_Label_8af03ff0-41c5-4c41-b55e-fabb8fae94be_ActionId">
    <vt:lpwstr>625d5500-6eaa-4018-bb66-8711d43b5e6d</vt:lpwstr>
  </property>
  <property fmtid="{D5CDD505-2E9C-101B-9397-08002B2CF9AE}" pid="8" name="MSIP_Label_8af03ff0-41c5-4c41-b55e-fabb8fae94be_ContentBits">
    <vt:lpwstr>0</vt:lpwstr>
  </property>
  <property fmtid="{D5CDD505-2E9C-101B-9397-08002B2CF9AE}" pid="9" name="MSIP_Label_8af03ff0-41c5-4c41-b55e-fabb8fae94be_Tag">
    <vt:lpwstr>50, 0, 1, 1</vt:lpwstr>
  </property>
</Properties>
</file>