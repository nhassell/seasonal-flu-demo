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8"/>
  </p:notesMasterIdLst>
  <p:sldIdLst>
    <p:sldId id="256" r:id="rId2"/>
    <p:sldId id="2147377179" r:id="rId3"/>
    <p:sldId id="2147377173" r:id="rId4"/>
    <p:sldId id="2147377163" r:id="rId5"/>
    <p:sldId id="2147377164" r:id="rId6"/>
    <p:sldId id="1714" r:id="rId7"/>
    <p:sldId id="2147377172" r:id="rId8"/>
    <p:sldId id="2147377170" r:id="rId9"/>
    <p:sldId id="2147377174" r:id="rId10"/>
    <p:sldId id="2147377165" r:id="rId11"/>
    <p:sldId id="2147377177" r:id="rId12"/>
    <p:sldId id="2147377175" r:id="rId13"/>
    <p:sldId id="2147377169" r:id="rId14"/>
    <p:sldId id="2147377176" r:id="rId15"/>
    <p:sldId id="263" r:id="rId16"/>
    <p:sldId id="2147377178"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83537"/>
  </p:normalViewPr>
  <p:slideViewPr>
    <p:cSldViewPr snapToGrid="0">
      <p:cViewPr varScale="1">
        <p:scale>
          <a:sx n="92" d="100"/>
          <a:sy n="92" d="100"/>
        </p:scale>
        <p:origin x="1864" y="4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5A64F87-FB49-F54F-A220-2A5CCF5EC68C}" type="datetimeFigureOut">
              <a:rPr lang="en-US" smtClean="0"/>
              <a:t>3/25/26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D0A15C3-A354-EF4A-94AB-02EE829E0D21}" type="slidenum">
              <a:rPr lang="en-US" smtClean="0"/>
              <a:t>‹#›</a:t>
            </a:fld>
            <a:endParaRPr lang="en-US"/>
          </a:p>
        </p:txBody>
      </p:sp>
    </p:spTree>
    <p:extLst>
      <p:ext uri="{BB962C8B-B14F-4D97-AF65-F5344CB8AC3E}">
        <p14:creationId xmlns:p14="http://schemas.microsoft.com/office/powerpoint/2010/main" val="32828108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all the work we’ve done today, we’re going to just reiterate and reinforce the concepts of genomic epidemiology (also known as molecular epidemiology). We’ve touched on all these concepts and have even been doing direct genomic epidemiology through the exercises we’ve done today.</a:t>
            </a:r>
          </a:p>
        </p:txBody>
      </p:sp>
      <p:sp>
        <p:nvSpPr>
          <p:cNvPr id="4" name="Slide Number Placeholder 3"/>
          <p:cNvSpPr>
            <a:spLocks noGrp="1"/>
          </p:cNvSpPr>
          <p:nvPr>
            <p:ph type="sldNum" sz="quarter" idx="5"/>
          </p:nvPr>
        </p:nvSpPr>
        <p:spPr/>
        <p:txBody>
          <a:bodyPr/>
          <a:lstStyle/>
          <a:p>
            <a:fld id="{9D0A15C3-A354-EF4A-94AB-02EE829E0D21}" type="slidenum">
              <a:rPr lang="en-US" smtClean="0"/>
              <a:t>2</a:t>
            </a:fld>
            <a:endParaRPr lang="en-US"/>
          </a:p>
        </p:txBody>
      </p:sp>
    </p:spTree>
    <p:extLst>
      <p:ext uri="{BB962C8B-B14F-4D97-AF65-F5344CB8AC3E}">
        <p14:creationId xmlns:p14="http://schemas.microsoft.com/office/powerpoint/2010/main" val="20804514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0A15C3-A354-EF4A-94AB-02EE829E0D21}" type="slidenum">
              <a:rPr lang="en-US" smtClean="0"/>
              <a:t>3</a:t>
            </a:fld>
            <a:endParaRPr lang="en-US"/>
          </a:p>
        </p:txBody>
      </p:sp>
    </p:spTree>
    <p:extLst>
      <p:ext uri="{BB962C8B-B14F-4D97-AF65-F5344CB8AC3E}">
        <p14:creationId xmlns:p14="http://schemas.microsoft.com/office/powerpoint/2010/main" val="13958236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So, I just mentioned clades and subclades and I showed you earlier in tree taxonomy what is meant by a clade. </a:t>
            </a:r>
          </a:p>
          <a:p>
            <a:pPr marL="628650" lvl="1" indent="-171450">
              <a:buFont typeface="Arial" panose="020B0604020202020204" pitchFamily="34" charset="0"/>
              <a:buChar char="•"/>
            </a:pPr>
            <a:r>
              <a:rPr lang="en-US" dirty="0"/>
              <a:t>If you recall, theoretically, any tip/leaf can be considered a clade. </a:t>
            </a:r>
          </a:p>
          <a:p>
            <a:pPr marL="628650" lvl="1" indent="-171450">
              <a:buFont typeface="Arial" panose="020B0604020202020204" pitchFamily="34" charset="0"/>
              <a:buChar char="•"/>
            </a:pPr>
            <a:r>
              <a:rPr lang="en-US" dirty="0"/>
              <a:t>But that is not really informative. </a:t>
            </a:r>
          </a:p>
          <a:p>
            <a:pPr marL="628650" lvl="1" indent="-171450">
              <a:buFont typeface="Arial" panose="020B0604020202020204" pitchFamily="34" charset="0"/>
              <a:buChar char="•"/>
            </a:pPr>
            <a:r>
              <a:rPr lang="en-US" dirty="0"/>
              <a:t>In order to more easily discuss phylogenetic changes and observations between WHO Collaborating Centers a system of classifications was devised</a:t>
            </a:r>
          </a:p>
          <a:p>
            <a:pPr marL="628650" lvl="1" indent="-171450">
              <a:buFont typeface="Arial" panose="020B0604020202020204" pitchFamily="34" charset="0"/>
              <a:buChar char="•"/>
            </a:pPr>
            <a:r>
              <a:rPr lang="en-US" dirty="0"/>
              <a:t>At CDC we use a classification which groups viruses on a phylogenetic tree by the shared amino acids between them.</a:t>
            </a:r>
          </a:p>
          <a:p>
            <a:pPr marL="628650" lvl="1" indent="-171450">
              <a:buFont typeface="Arial" panose="020B0604020202020204" pitchFamily="34" charset="0"/>
              <a:buChar char="•"/>
            </a:pPr>
            <a:r>
              <a:rPr lang="en-US" dirty="0"/>
              <a:t>The clade names were meant to be informative among influenza scientists</a:t>
            </a:r>
          </a:p>
          <a:p>
            <a:pPr marL="457200" lvl="1" indent="0">
              <a:buFont typeface="Arial" panose="020B0604020202020204" pitchFamily="34" charset="0"/>
              <a:buNone/>
            </a:pPr>
            <a:endParaRPr lang="en-US" dirty="0"/>
          </a:p>
          <a:p>
            <a:pPr marL="171450" indent="-171450">
              <a:buFont typeface="Arial" panose="020B0604020202020204" pitchFamily="34" charset="0"/>
              <a:buChar char="•"/>
            </a:pPr>
            <a:r>
              <a:rPr lang="en-US" b="1" dirty="0"/>
              <a:t>Prior to 2012</a:t>
            </a:r>
            <a:r>
              <a:rPr lang="en-US" dirty="0"/>
              <a:t>, the only information associated with a tip on the tree was its name [A/Brisbane/10/2007]</a:t>
            </a:r>
          </a:p>
          <a:p>
            <a:pPr marL="0" indent="0">
              <a:buFont typeface="Arial" panose="020B0604020202020204" pitchFamily="34" charset="0"/>
              <a:buNone/>
            </a:pPr>
            <a:endParaRPr lang="en-US" dirty="0"/>
          </a:p>
          <a:p>
            <a:pPr marL="171450" indent="-171450">
              <a:buFont typeface="Arial" panose="020B0604020202020204" pitchFamily="34" charset="0"/>
              <a:buChar char="•"/>
            </a:pPr>
            <a:r>
              <a:rPr lang="en-US" b="1" dirty="0"/>
              <a:t>In 2012</a:t>
            </a:r>
            <a:r>
              <a:rPr lang="en-US" dirty="0"/>
              <a:t>, we started adding a </a:t>
            </a:r>
            <a:r>
              <a:rPr lang="en-US" dirty="0" err="1"/>
              <a:t>hierarchial</a:t>
            </a:r>
            <a:r>
              <a:rPr lang="en-US" dirty="0"/>
              <a:t> alphanumeric classification to the strain </a:t>
            </a:r>
          </a:p>
          <a:p>
            <a:pPr marL="628650" lvl="1" indent="-171450">
              <a:buFont typeface="Arial" panose="020B0604020202020204" pitchFamily="34" charset="0"/>
              <a:buChar char="•"/>
            </a:pPr>
            <a:r>
              <a:rPr lang="en-US" dirty="0"/>
              <a:t>6B-6B.1-6B.1a, </a:t>
            </a:r>
            <a:r>
              <a:rPr lang="en-US" dirty="0" err="1"/>
              <a:t>etc</a:t>
            </a:r>
            <a:r>
              <a:rPr lang="en-US" dirty="0"/>
              <a:t>… </a:t>
            </a:r>
          </a:p>
          <a:p>
            <a:pPr marL="628650" lvl="1" indent="-171450">
              <a:buFont typeface="Arial" panose="020B0604020202020204" pitchFamily="34" charset="0"/>
              <a:buChar char="•"/>
            </a:pPr>
            <a:r>
              <a:rPr lang="en-US" dirty="0"/>
              <a:t>6B.1a viruses are progeny of the 6B.1 which are </a:t>
            </a:r>
            <a:r>
              <a:rPr lang="en-US" dirty="0" err="1"/>
              <a:t>descendents</a:t>
            </a:r>
            <a:r>
              <a:rPr lang="en-US" dirty="0"/>
              <a:t> of the 6B, and so forth</a:t>
            </a:r>
          </a:p>
          <a:p>
            <a:pPr marL="171450" indent="-171450">
              <a:buFont typeface="Arial" panose="020B0604020202020204" pitchFamily="34" charset="0"/>
              <a:buChar char="•"/>
            </a:pPr>
            <a:r>
              <a:rPr lang="en-US" dirty="0"/>
              <a:t>Since the analysis here at CDC follows  the </a:t>
            </a:r>
            <a:r>
              <a:rPr lang="en-US" b="1" dirty="0"/>
              <a:t>“</a:t>
            </a:r>
            <a:r>
              <a:rPr lang="en-US" b="1" dirty="0" err="1"/>
              <a:t>SeqFirst</a:t>
            </a:r>
            <a:r>
              <a:rPr lang="en-US" dirty="0"/>
              <a:t>” approach</a:t>
            </a:r>
          </a:p>
          <a:p>
            <a:pPr marL="628650" lvl="1" indent="-171450">
              <a:buFont typeface="Arial" panose="020B0604020202020204" pitchFamily="34" charset="0"/>
              <a:buChar char="•"/>
            </a:pPr>
            <a:r>
              <a:rPr lang="en-US" dirty="0"/>
              <a:t>all viruses that come into CDC are sequenced first and then a subset of those are antigenically characterized. </a:t>
            </a:r>
          </a:p>
          <a:p>
            <a:pPr marL="628650" lvl="1" indent="-171450">
              <a:buFont typeface="Arial" panose="020B0604020202020204" pitchFamily="34" charset="0"/>
              <a:buChar char="•"/>
            </a:pPr>
            <a:r>
              <a:rPr lang="en-US" dirty="0"/>
              <a:t>Viruses with the same set of amino acid substitutions should have similar antigenic profiles. </a:t>
            </a:r>
          </a:p>
          <a:p>
            <a:pPr marL="628650" lvl="1" indent="-171450">
              <a:buFont typeface="Arial" panose="020B0604020202020204" pitchFamily="34" charset="0"/>
              <a:buChar char="•"/>
            </a:pPr>
            <a:r>
              <a:rPr lang="en-US" dirty="0"/>
              <a:t>Classification by amino acid changes allows for some level of </a:t>
            </a:r>
            <a:r>
              <a:rPr lang="en-US" b="1" dirty="0"/>
              <a:t>inference</a:t>
            </a:r>
            <a:r>
              <a:rPr lang="en-US" dirty="0"/>
              <a:t> of those sequenced viruses that were not antigenically characterized</a:t>
            </a:r>
          </a:p>
          <a:p>
            <a:pPr marL="628650" lvl="1" indent="-171450">
              <a:buFont typeface="Arial" panose="020B0604020202020204" pitchFamily="34" charset="0"/>
              <a:buChar char="•"/>
            </a:pPr>
            <a:endParaRPr lang="en-US" dirty="0"/>
          </a:p>
          <a:p>
            <a:pPr marL="171450" indent="-171450">
              <a:buFont typeface="Arial" panose="020B0604020202020204" pitchFamily="34" charset="0"/>
              <a:buChar char="•"/>
            </a:pPr>
            <a:r>
              <a:rPr lang="en-US" b="1" dirty="0"/>
              <a:t>In 2020</a:t>
            </a:r>
            <a:r>
              <a:rPr lang="en-US" b="0" dirty="0"/>
              <a:t> subclade classifications were added (using a system inspired by the </a:t>
            </a:r>
            <a:r>
              <a:rPr lang="en-US" b="0" dirty="0" err="1"/>
              <a:t>pango</a:t>
            </a:r>
            <a:r>
              <a:rPr lang="en-US" b="0" dirty="0"/>
              <a:t> lineage system for SARS-CoV-2)</a:t>
            </a:r>
          </a:p>
          <a:p>
            <a:pPr marL="628650" lvl="1" indent="-171450">
              <a:buFont typeface="Arial" panose="020B0604020202020204" pitchFamily="34" charset="0"/>
              <a:buChar char="•"/>
            </a:pPr>
            <a:r>
              <a:rPr lang="en-US" b="0" dirty="0"/>
              <a:t>These are not specifically distinct phenotypes but aid in discussing genetic diversity, which includes synonymous nucleotide substitutions as well as non-synonymous ones</a:t>
            </a:r>
          </a:p>
          <a:p>
            <a:pPr marL="628650" lvl="1" indent="-171450">
              <a:buFont typeface="Arial" panose="020B0604020202020204" pitchFamily="34" charset="0"/>
              <a:buChar char="•"/>
            </a:pPr>
            <a:r>
              <a:rPr lang="en-US" b="0" dirty="0" err="1"/>
              <a:t>Sublades</a:t>
            </a:r>
            <a:r>
              <a:rPr lang="en-US" b="0" dirty="0"/>
              <a:t> are </a:t>
            </a:r>
            <a:r>
              <a:rPr lang="en-US" b="0" dirty="0" err="1"/>
              <a:t>hierarchial</a:t>
            </a:r>
            <a:r>
              <a:rPr lang="en-US" b="0" dirty="0"/>
              <a:t>, too</a:t>
            </a:r>
          </a:p>
          <a:p>
            <a:pPr marL="628650" lvl="1" indent="-171450">
              <a:buFont typeface="Arial" panose="020B0604020202020204" pitchFamily="34" charset="0"/>
              <a:buChar char="•"/>
            </a:pPr>
            <a:endParaRPr lang="en-US" b="0" dirty="0"/>
          </a:p>
          <a:p>
            <a:pPr marL="628650" lvl="1" indent="-171450">
              <a:buFont typeface="Arial" panose="020B0604020202020204" pitchFamily="34" charset="0"/>
              <a:buChar char="•"/>
            </a:pPr>
            <a:r>
              <a:rPr lang="en-US" b="0" dirty="0"/>
              <a:t>In addition, these classifications can identify frequency dynamics of circulating viral variants that do not possess distinct phenotypic properties</a:t>
            </a:r>
          </a:p>
          <a:p>
            <a:pPr marL="457200" lvl="1" indent="0">
              <a:buFont typeface="Arial" panose="020B0604020202020204" pitchFamily="34" charset="0"/>
              <a:buNone/>
            </a:pPr>
            <a:endParaRPr lang="en-US" b="0" dirty="0"/>
          </a:p>
          <a:p>
            <a:pPr marL="628650" lvl="1" indent="-171450">
              <a:buFont typeface="Arial" panose="020B0604020202020204" pitchFamily="34" charset="0"/>
              <a:buChar char="•"/>
            </a:pPr>
            <a:r>
              <a:rPr lang="en-US" b="0" dirty="0"/>
              <a:t>Along with creating HA subclade classifications, for the first time, NA subclade classifications were also defined</a:t>
            </a:r>
          </a:p>
          <a:p>
            <a:pPr marL="1085850" lvl="2" indent="-171450">
              <a:buFont typeface="Arial" panose="020B0604020202020204" pitchFamily="34" charset="0"/>
              <a:buChar char="•"/>
            </a:pPr>
            <a:r>
              <a:rPr lang="en-US" b="0" dirty="0"/>
              <a:t>This allows us to talk about the evolution of each gene independently </a:t>
            </a:r>
          </a:p>
          <a:p>
            <a:pPr marL="1085850" lvl="2" indent="-171450">
              <a:buFont typeface="Arial" panose="020B0604020202020204" pitchFamily="34" charset="0"/>
              <a:buChar char="•"/>
            </a:pPr>
            <a:r>
              <a:rPr lang="en-US" b="0" dirty="0"/>
              <a:t>By having independent classification of the surface proteins, we can identify the frequency of seasonal intrasubtypic reassortment frequency</a:t>
            </a:r>
          </a:p>
          <a:p>
            <a:pPr marL="1085850" lvl="2" indent="-171450">
              <a:buFont typeface="Arial" panose="020B0604020202020204" pitchFamily="34" charset="0"/>
              <a:buChar char="•"/>
            </a:pPr>
            <a:endParaRPr lang="en-US" b="0" dirty="0"/>
          </a:p>
          <a:p>
            <a:pPr marL="171450" lvl="0" indent="-171450">
              <a:buFont typeface="Arial" panose="020B0604020202020204" pitchFamily="34" charset="0"/>
              <a:buChar char="•"/>
            </a:pPr>
            <a:r>
              <a:rPr lang="en-US" b="1" dirty="0"/>
              <a:t>This can be visualized with a tangle tree. next slide</a:t>
            </a:r>
          </a:p>
          <a:p>
            <a:pPr marL="1085850" lvl="2" indent="-171450">
              <a:buFont typeface="Arial" panose="020B0604020202020204" pitchFamily="34" charset="0"/>
              <a:buChar char="•"/>
            </a:pPr>
            <a:endParaRPr lang="en-US" b="0" dirty="0"/>
          </a:p>
          <a:p>
            <a:pPr marL="171450" lvl="0" indent="-171450">
              <a:buFont typeface="Arial" panose="020B0604020202020204" pitchFamily="34" charset="0"/>
              <a:buChar char="•"/>
            </a:pPr>
            <a:endParaRPr lang="en-US" b="0" dirty="0"/>
          </a:p>
        </p:txBody>
      </p:sp>
      <p:sp>
        <p:nvSpPr>
          <p:cNvPr id="4" name="Slide Number Placeholder 3"/>
          <p:cNvSpPr>
            <a:spLocks noGrp="1"/>
          </p:cNvSpPr>
          <p:nvPr>
            <p:ph type="sldNum" sz="quarter" idx="5"/>
          </p:nvPr>
        </p:nvSpPr>
        <p:spPr/>
        <p:txBody>
          <a:bodyPr/>
          <a:lstStyle/>
          <a:p>
            <a:fld id="{6A1DD49A-1F23-40AC-B7D7-F5F1AB05AD7B}" type="slidenum">
              <a:rPr lang="en-US" smtClean="0"/>
              <a:t>4</a:t>
            </a:fld>
            <a:endParaRPr lang="en-US"/>
          </a:p>
        </p:txBody>
      </p:sp>
    </p:spTree>
    <p:extLst>
      <p:ext uri="{BB962C8B-B14F-4D97-AF65-F5344CB8AC3E}">
        <p14:creationId xmlns:p14="http://schemas.microsoft.com/office/powerpoint/2010/main" val="21448862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These are </a:t>
            </a:r>
            <a:r>
              <a:rPr lang="en-US" dirty="0" err="1"/>
              <a:t>NextStrain</a:t>
            </a:r>
            <a:r>
              <a:rPr lang="en-US" dirty="0"/>
              <a:t> trees (available for you at the hyperlink in the corner)</a:t>
            </a:r>
          </a:p>
          <a:p>
            <a:pPr marL="171450" indent="-171450">
              <a:buFont typeface="Arial" panose="020B0604020202020204" pitchFamily="34" charset="0"/>
              <a:buChar char="•"/>
            </a:pPr>
            <a:r>
              <a:rPr lang="en-US" dirty="0"/>
              <a:t>Both tree tips are colored by the genetic clade that the virus has been assigned (based on shared substitutions – mostly amino acids)</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On the left is a Divergence tree, this is showing you nucleotide change among the strains displayed (nucleotide evolution)</a:t>
            </a:r>
          </a:p>
          <a:p>
            <a:pPr marL="171450" indent="-171450">
              <a:buFont typeface="Arial" panose="020B0604020202020204" pitchFamily="34" charset="0"/>
              <a:buChar char="•"/>
            </a:pPr>
            <a:r>
              <a:rPr lang="en-US" dirty="0"/>
              <a:t>On the right is a Time-scaled tree of the same data which shows the appearance of taxa clades and subclades.</a:t>
            </a:r>
          </a:p>
          <a:p>
            <a:pPr marL="628650" lvl="1" indent="-171450">
              <a:buFont typeface="Arial" panose="020B0604020202020204" pitchFamily="34" charset="0"/>
              <a:buChar char="•"/>
            </a:pPr>
            <a:r>
              <a:rPr lang="en-US" dirty="0"/>
              <a:t>Showing </a:t>
            </a:r>
            <a:r>
              <a:rPr lang="en-US" sz="2000" dirty="0">
                <a:solidFill>
                  <a:srgbClr val="202122"/>
                </a:solidFill>
                <a:latin typeface="Arial" panose="020B0604020202020204" pitchFamily="34" charset="0"/>
              </a:rPr>
              <a:t>E</a:t>
            </a:r>
            <a:r>
              <a:rPr lang="en-US" sz="2000" b="0" i="0" dirty="0">
                <a:solidFill>
                  <a:srgbClr val="202122"/>
                </a:solidFill>
                <a:effectLst/>
                <a:latin typeface="Arial" panose="020B0604020202020204" pitchFamily="34" charset="0"/>
              </a:rPr>
              <a:t>volutionary relationships of a group of organisms in a temporal framework</a:t>
            </a:r>
          </a:p>
          <a:p>
            <a:pPr marL="1085850" lvl="2" indent="-171450">
              <a:buFont typeface="Arial" panose="020B0604020202020204" pitchFamily="34" charset="0"/>
              <a:buChar char="•"/>
            </a:pPr>
            <a:r>
              <a:rPr lang="en-US" sz="2000" dirty="0">
                <a:solidFill>
                  <a:srgbClr val="202122"/>
                </a:solidFill>
                <a:latin typeface="Arial" panose="020B0604020202020204" pitchFamily="34" charset="0"/>
              </a:rPr>
              <a:t>Asking the questions: When did this clade emerge?</a:t>
            </a:r>
          </a:p>
          <a:p>
            <a:pPr marL="1085850" lvl="2" indent="-171450">
              <a:buFont typeface="Arial" panose="020B0604020202020204" pitchFamily="34" charset="0"/>
              <a:buChar char="•"/>
            </a:pPr>
            <a:endParaRPr lang="en-US" sz="2000" dirty="0">
              <a:solidFill>
                <a:srgbClr val="202122"/>
              </a:solidFill>
              <a:latin typeface="Arial" panose="020B0604020202020204" pitchFamily="34" charset="0"/>
            </a:endParaRPr>
          </a:p>
          <a:p>
            <a:pPr marL="171450" lvl="0" indent="-171450">
              <a:buFont typeface="Arial" panose="020B0604020202020204" pitchFamily="34" charset="0"/>
              <a:buChar char="•"/>
            </a:pPr>
            <a:r>
              <a:rPr lang="en-US" sz="2000" b="1" dirty="0">
                <a:solidFill>
                  <a:srgbClr val="202122"/>
                </a:solidFill>
                <a:latin typeface="Arial" panose="020B0604020202020204" pitchFamily="34" charset="0"/>
              </a:rPr>
              <a:t>Next slide</a:t>
            </a:r>
            <a:endParaRPr lang="en-US" sz="2000" b="1" dirty="0"/>
          </a:p>
          <a:p>
            <a:endParaRPr lang="en-US" dirty="0"/>
          </a:p>
        </p:txBody>
      </p:sp>
      <p:sp>
        <p:nvSpPr>
          <p:cNvPr id="4" name="Slide Number Placeholder 3"/>
          <p:cNvSpPr>
            <a:spLocks noGrp="1"/>
          </p:cNvSpPr>
          <p:nvPr>
            <p:ph type="sldNum" sz="quarter" idx="5"/>
          </p:nvPr>
        </p:nvSpPr>
        <p:spPr/>
        <p:txBody>
          <a:bodyPr/>
          <a:lstStyle/>
          <a:p>
            <a:fld id="{6A1DD49A-1F23-40AC-B7D7-F5F1AB05AD7B}" type="slidenum">
              <a:rPr lang="en-US" smtClean="0"/>
              <a:t>5</a:t>
            </a:fld>
            <a:endParaRPr lang="en-US"/>
          </a:p>
        </p:txBody>
      </p:sp>
    </p:spTree>
    <p:extLst>
      <p:ext uri="{BB962C8B-B14F-4D97-AF65-F5344CB8AC3E}">
        <p14:creationId xmlns:p14="http://schemas.microsoft.com/office/powerpoint/2010/main" val="23355578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EA4942-3DDE-4B39-A2E7-111E034031B7}" type="slidenum">
              <a:rPr lang="en-US" smtClean="0"/>
              <a:t>7</a:t>
            </a:fld>
            <a:endParaRPr lang="en-US"/>
          </a:p>
        </p:txBody>
      </p:sp>
    </p:spTree>
    <p:extLst>
      <p:ext uri="{BB962C8B-B14F-4D97-AF65-F5344CB8AC3E}">
        <p14:creationId xmlns:p14="http://schemas.microsoft.com/office/powerpoint/2010/main" val="128236693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Title 1"/>
          <p:cNvSpPr>
            <a:spLocks noGrp="1"/>
          </p:cNvSpPr>
          <p:nvPr>
            <p:ph type="ctrTitle" hasCustomPrompt="1"/>
          </p:nvPr>
        </p:nvSpPr>
        <p:spPr>
          <a:xfrm>
            <a:off x="3730164" y="379408"/>
            <a:ext cx="7808687" cy="2387600"/>
          </a:xfrm>
        </p:spPr>
        <p:txBody>
          <a:bodyPr>
            <a:normAutofit/>
          </a:bodyPr>
          <a:lstStyle>
            <a:lvl1pPr>
              <a:defRPr sz="4400">
                <a:solidFill>
                  <a:srgbClr val="0057B7"/>
                </a:solidFill>
              </a:defRPr>
            </a:lvl1pPr>
          </a:lstStyle>
          <a:p>
            <a:r>
              <a:rPr lang="en-US">
                <a:solidFill>
                  <a:srgbClr val="0033CC"/>
                </a:solidFill>
                <a:latin typeface="+mn-lt"/>
              </a:rPr>
              <a:t>XX</a:t>
            </a:r>
          </a:p>
        </p:txBody>
      </p:sp>
      <p:sp>
        <p:nvSpPr>
          <p:cNvPr id="8" name="Subtitle 2"/>
          <p:cNvSpPr>
            <a:spLocks noGrp="1"/>
          </p:cNvSpPr>
          <p:nvPr>
            <p:ph type="subTitle" idx="1"/>
          </p:nvPr>
        </p:nvSpPr>
        <p:spPr>
          <a:xfrm>
            <a:off x="3744452" y="2916222"/>
            <a:ext cx="7808688" cy="1655762"/>
          </a:xfrm>
        </p:spPr>
        <p:txBody>
          <a:bodyPr>
            <a:normAutofit/>
          </a:bodyPr>
          <a:lstStyle>
            <a:lvl1pPr marL="0" indent="0" algn="ctr">
              <a:buFontTx/>
              <a:buNone/>
              <a:defRPr sz="3200"/>
            </a:lvl1pPr>
          </a:lstStyle>
          <a:p>
            <a:endParaRPr lang="en-US"/>
          </a:p>
        </p:txBody>
      </p:sp>
      <p:pic>
        <p:nvPicPr>
          <p:cNvPr id="13" name="Picture 12"/>
          <p:cNvPicPr>
            <a:picLocks noChangeAspect="1"/>
          </p:cNvPicPr>
          <p:nvPr userDrawn="1"/>
        </p:nvPicPr>
        <p:blipFill rotWithShape="1">
          <a:blip r:embed="rId2">
            <a:extLst>
              <a:ext uri="{28A0092B-C50C-407E-A947-70E740481C1C}">
                <a14:useLocalDpi xmlns:a14="http://schemas.microsoft.com/office/drawing/2010/main" val="0"/>
              </a:ext>
            </a:extLst>
          </a:blip>
          <a:srcRect l="8895" b="2275"/>
          <a:stretch/>
        </p:blipFill>
        <p:spPr>
          <a:xfrm>
            <a:off x="0" y="-288"/>
            <a:ext cx="3332249" cy="6858288"/>
          </a:xfrm>
          <a:prstGeom prst="rect">
            <a:avLst/>
          </a:prstGeom>
        </p:spPr>
      </p:pic>
    </p:spTree>
    <p:extLst>
      <p:ext uri="{BB962C8B-B14F-4D97-AF65-F5344CB8AC3E}">
        <p14:creationId xmlns:p14="http://schemas.microsoft.com/office/powerpoint/2010/main" val="255784295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itle 1"/>
          <p:cNvSpPr>
            <a:spLocks noGrp="1"/>
          </p:cNvSpPr>
          <p:nvPr>
            <p:ph type="title"/>
          </p:nvPr>
        </p:nvSpPr>
        <p:spPr>
          <a:xfrm>
            <a:off x="567188" y="279397"/>
            <a:ext cx="11081253" cy="906465"/>
          </a:xfrm>
        </p:spPr>
        <p:txBody>
          <a:bodyPr anchor="ctr">
            <a:normAutofit/>
          </a:bodyPr>
          <a:lstStyle/>
          <a:p>
            <a:endParaRPr lang="en-US" sz="3600">
              <a:solidFill>
                <a:srgbClr val="0000FF"/>
              </a:solidFill>
              <a:latin typeface="+mn-lt"/>
            </a:endParaRPr>
          </a:p>
        </p:txBody>
      </p:sp>
      <p:sp>
        <p:nvSpPr>
          <p:cNvPr id="8" name="Content Placeholder 2"/>
          <p:cNvSpPr>
            <a:spLocks noGrp="1"/>
          </p:cNvSpPr>
          <p:nvPr>
            <p:ph idx="1"/>
          </p:nvPr>
        </p:nvSpPr>
        <p:spPr>
          <a:xfrm>
            <a:off x="567189" y="1364343"/>
            <a:ext cx="11081252" cy="4822145"/>
          </a:xfrm>
        </p:spPr>
        <p:txBody>
          <a:bodyPr/>
          <a:lstStyle>
            <a:lvl1pPr>
              <a:lnSpc>
                <a:spcPct val="100000"/>
              </a:lnSpc>
              <a:spcBef>
                <a:spcPts val="600"/>
              </a:spcBef>
              <a:spcAft>
                <a:spcPts val="600"/>
              </a:spcAft>
              <a:defRPr/>
            </a:lvl1pPr>
          </a:lstStyle>
          <a:p>
            <a:endParaRPr lang="en-US"/>
          </a:p>
        </p:txBody>
      </p:sp>
    </p:spTree>
    <p:extLst>
      <p:ext uri="{BB962C8B-B14F-4D97-AF65-F5344CB8AC3E}">
        <p14:creationId xmlns:p14="http://schemas.microsoft.com/office/powerpoint/2010/main" val="26040605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Content Placeholder 2"/>
          <p:cNvSpPr>
            <a:spLocks noGrp="1"/>
          </p:cNvSpPr>
          <p:nvPr>
            <p:ph sz="half" idx="1"/>
          </p:nvPr>
        </p:nvSpPr>
        <p:spPr>
          <a:xfrm>
            <a:off x="838200" y="1422399"/>
            <a:ext cx="5181600" cy="4812620"/>
          </a:xfrm>
        </p:spPr>
        <p:txBody>
          <a:bodyPr/>
          <a:lstStyle/>
          <a:p>
            <a:endParaRPr lang="en-US"/>
          </a:p>
        </p:txBody>
      </p:sp>
      <p:sp>
        <p:nvSpPr>
          <p:cNvPr id="9" name="Content Placeholder 8"/>
          <p:cNvSpPr>
            <a:spLocks noGrp="1"/>
          </p:cNvSpPr>
          <p:nvPr>
            <p:ph sz="half" idx="2"/>
          </p:nvPr>
        </p:nvSpPr>
        <p:spPr>
          <a:xfrm>
            <a:off x="6172200" y="1422399"/>
            <a:ext cx="5181600" cy="4812620"/>
          </a:xfrm>
        </p:spPr>
        <p:txBody>
          <a:bodyPr/>
          <a:lstStyle/>
          <a:p>
            <a:endParaRPr lang="en-US"/>
          </a:p>
        </p:txBody>
      </p:sp>
      <p:sp>
        <p:nvSpPr>
          <p:cNvPr id="13" name="Title 3"/>
          <p:cNvSpPr>
            <a:spLocks noGrp="1"/>
          </p:cNvSpPr>
          <p:nvPr>
            <p:ph type="title"/>
          </p:nvPr>
        </p:nvSpPr>
        <p:spPr>
          <a:xfrm>
            <a:off x="571498" y="250822"/>
            <a:ext cx="11091231" cy="892178"/>
          </a:xfrm>
        </p:spPr>
        <p:txBody>
          <a:bodyPr>
            <a:normAutofit/>
          </a:bodyPr>
          <a:lstStyle/>
          <a:p>
            <a:endParaRPr lang="en-US" sz="3600">
              <a:solidFill>
                <a:srgbClr val="0000FF"/>
              </a:solidFill>
              <a:latin typeface="+mn-lt"/>
            </a:endParaRPr>
          </a:p>
        </p:txBody>
      </p:sp>
    </p:spTree>
    <p:extLst>
      <p:ext uri="{BB962C8B-B14F-4D97-AF65-F5344CB8AC3E}">
        <p14:creationId xmlns:p14="http://schemas.microsoft.com/office/powerpoint/2010/main" val="8421001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0075" y="228600"/>
            <a:ext cx="11001375" cy="1014414"/>
          </a:xfrm>
        </p:spPr>
        <p:txBody>
          <a:bodyPr/>
          <a:lstStyle/>
          <a:p>
            <a:r>
              <a:rPr lang="en-US"/>
              <a:t>Click to edit Master title style</a:t>
            </a:r>
          </a:p>
        </p:txBody>
      </p:sp>
      <p:sp>
        <p:nvSpPr>
          <p:cNvPr id="3" name="Text Placeholder 2"/>
          <p:cNvSpPr>
            <a:spLocks noGrp="1"/>
          </p:cNvSpPr>
          <p:nvPr>
            <p:ph type="body" idx="1"/>
          </p:nvPr>
        </p:nvSpPr>
        <p:spPr>
          <a:xfrm>
            <a:off x="839788" y="1352539"/>
            <a:ext cx="5157787" cy="823912"/>
          </a:xfrm>
        </p:spPr>
        <p:txBody>
          <a:bodyPr anchor="ctr"/>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176451"/>
            <a:ext cx="5157787" cy="4038612"/>
          </a:xfrm>
        </p:spPr>
        <p:txBody>
          <a:bodyPr/>
          <a:lstStyle>
            <a:lvl1pPr>
              <a:lnSpc>
                <a:spcPct val="100000"/>
              </a:lnSpc>
              <a:spcBef>
                <a:spcPts val="600"/>
              </a:spcBef>
              <a:defRPr/>
            </a:lvl1pPr>
            <a:lvl2pPr>
              <a:lnSpc>
                <a:spcPct val="100000"/>
              </a:lnSpc>
              <a:spcBef>
                <a:spcPts val="600"/>
              </a:spcBef>
              <a:defRPr/>
            </a:lvl2pPr>
            <a:lvl3pPr>
              <a:lnSpc>
                <a:spcPct val="100000"/>
              </a:lnSpc>
              <a:spcBef>
                <a:spcPts val="600"/>
              </a:spcBef>
              <a:defRPr/>
            </a:lvl3pPr>
            <a:lvl4pPr>
              <a:lnSpc>
                <a:spcPct val="100000"/>
              </a:lnSpc>
              <a:spcBef>
                <a:spcPts val="600"/>
              </a:spcBef>
              <a:defRPr/>
            </a:lvl4pPr>
            <a:lvl5pPr>
              <a:lnSpc>
                <a:spcPct val="100000"/>
              </a:lnSpc>
              <a:spcBef>
                <a:spcPts val="600"/>
              </a:spcBef>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352539"/>
            <a:ext cx="5183188" cy="823912"/>
          </a:xfrm>
        </p:spPr>
        <p:txBody>
          <a:bodyPr anchor="ctr"/>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176451"/>
            <a:ext cx="5183188" cy="4038612"/>
          </a:xfrm>
        </p:spPr>
        <p:txBody>
          <a:bodyPr/>
          <a:lstStyle>
            <a:lvl1pPr>
              <a:lnSpc>
                <a:spcPct val="100000"/>
              </a:lnSpc>
              <a:spcBef>
                <a:spcPts val="600"/>
              </a:spcBef>
              <a:defRPr/>
            </a:lvl1pPr>
            <a:lvl2pPr>
              <a:lnSpc>
                <a:spcPct val="100000"/>
              </a:lnSpc>
              <a:spcBef>
                <a:spcPts val="600"/>
              </a:spcBef>
              <a:defRPr/>
            </a:lvl2pPr>
            <a:lvl3pPr>
              <a:lnSpc>
                <a:spcPct val="100000"/>
              </a:lnSpc>
              <a:spcBef>
                <a:spcPts val="600"/>
              </a:spcBef>
              <a:defRPr/>
            </a:lvl3pPr>
            <a:lvl4pPr>
              <a:lnSpc>
                <a:spcPct val="100000"/>
              </a:lnSpc>
              <a:spcBef>
                <a:spcPts val="600"/>
              </a:spcBef>
              <a:defRPr/>
            </a:lvl4pPr>
            <a:lvl5pPr>
              <a:lnSpc>
                <a:spcPct val="100000"/>
              </a:lnSpc>
              <a:spcBef>
                <a:spcPts val="600"/>
              </a:spcBef>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653676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42937" y="228601"/>
            <a:ext cx="10929937" cy="1042987"/>
          </a:xfrm>
        </p:spPr>
        <p:txBody>
          <a:bodyPr/>
          <a:lstStyle/>
          <a:p>
            <a:r>
              <a:rPr lang="en-US"/>
              <a:t>Click to edit Master title style</a:t>
            </a:r>
          </a:p>
        </p:txBody>
      </p:sp>
    </p:spTree>
    <p:extLst>
      <p:ext uri="{BB962C8B-B14F-4D97-AF65-F5344CB8AC3E}">
        <p14:creationId xmlns:p14="http://schemas.microsoft.com/office/powerpoint/2010/main" val="5942677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035179B-9CBC-5BB3-4926-4FC8CAB949AC}"/>
              </a:ext>
            </a:extLst>
          </p:cNvPr>
          <p:cNvSpPr>
            <a:spLocks noGrp="1"/>
          </p:cNvSpPr>
          <p:nvPr>
            <p:ph type="dt" sz="half" idx="10"/>
          </p:nvPr>
        </p:nvSpPr>
        <p:spPr/>
        <p:txBody>
          <a:bodyPr/>
          <a:lstStyle/>
          <a:p>
            <a:fld id="{C764DE79-268F-4C1A-8933-263129D2AF90}" type="datetimeFigureOut">
              <a:rPr lang="en-US" smtClean="0"/>
              <a:t>3/19/26</a:t>
            </a:fld>
            <a:endParaRPr lang="en-US"/>
          </a:p>
        </p:txBody>
      </p:sp>
      <p:sp>
        <p:nvSpPr>
          <p:cNvPr id="3" name="Footer Placeholder 2">
            <a:extLst>
              <a:ext uri="{FF2B5EF4-FFF2-40B4-BE49-F238E27FC236}">
                <a16:creationId xmlns:a16="http://schemas.microsoft.com/office/drawing/2014/main" id="{39F18418-FF3A-B6A3-747F-C9661CB23AA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28538DF-9704-3239-44E1-66B142C6A533}"/>
              </a:ext>
            </a:extLst>
          </p:cNvPr>
          <p:cNvSpPr>
            <a:spLocks noGrp="1"/>
          </p:cNvSpPr>
          <p:nvPr>
            <p:ph type="sldNum" sz="quarter" idx="12"/>
          </p:nvPr>
        </p:nvSpPr>
        <p:spPr/>
        <p:txBody>
          <a:bodyPr/>
          <a:lstStyle/>
          <a:p>
            <a:fld id="{9B11AF8B-AA4A-4143-91D6-A716333E3D61}" type="slidenum">
              <a:rPr lang="en-US" smtClean="0"/>
              <a:t>‹#›</a:t>
            </a:fld>
            <a:endParaRPr lang="en-US"/>
          </a:p>
        </p:txBody>
      </p:sp>
    </p:spTree>
    <p:extLst>
      <p:ext uri="{BB962C8B-B14F-4D97-AF65-F5344CB8AC3E}">
        <p14:creationId xmlns:p14="http://schemas.microsoft.com/office/powerpoint/2010/main" val="9622423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228600"/>
            <a:ext cx="10515600" cy="100738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443038"/>
            <a:ext cx="10515600" cy="4743450"/>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Slide Number Placeholder 5">
            <a:extLst>
              <a:ext uri="{FF2B5EF4-FFF2-40B4-BE49-F238E27FC236}">
                <a16:creationId xmlns:a16="http://schemas.microsoft.com/office/drawing/2014/main" id="{4D1CB30D-92F6-4115-BFEF-7F1C4C5EDAD8}"/>
              </a:ext>
            </a:extLst>
          </p:cNvPr>
          <p:cNvSpPr txBox="1">
            <a:spLocks/>
          </p:cNvSpPr>
          <p:nvPr userDrawn="1"/>
        </p:nvSpPr>
        <p:spPr>
          <a:xfrm>
            <a:off x="11719882" y="24693"/>
            <a:ext cx="443089"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9B11AF8B-AA4A-4143-91D6-A716333E3D61}" type="slidenum">
              <a:rPr lang="en-US" sz="1400" b="1" smtClean="0">
                <a:solidFill>
                  <a:srgbClr val="0057B7"/>
                </a:solidFill>
              </a:rPr>
              <a:pPr algn="ctr"/>
              <a:t>‹#›</a:t>
            </a:fld>
            <a:endParaRPr lang="en-US" sz="1400" b="1">
              <a:solidFill>
                <a:srgbClr val="0057B7"/>
              </a:solidFill>
            </a:endParaRPr>
          </a:p>
        </p:txBody>
      </p:sp>
      <p:sp>
        <p:nvSpPr>
          <p:cNvPr id="8" name="Rectangle 7"/>
          <p:cNvSpPr/>
          <p:nvPr userDrawn="1"/>
        </p:nvSpPr>
        <p:spPr>
          <a:xfrm>
            <a:off x="0" y="6263235"/>
            <a:ext cx="12192000" cy="594765"/>
          </a:xfrm>
          <a:prstGeom prst="rect">
            <a:avLst/>
          </a:prstGeom>
          <a:gradFill flip="none" rotWithShape="1">
            <a:gsLst>
              <a:gs pos="0">
                <a:srgbClr val="0057B7"/>
              </a:gs>
              <a:gs pos="75000">
                <a:srgbClr val="5498DB"/>
              </a:gs>
              <a:gs pos="100000">
                <a:srgbClr val="A7D8FE"/>
              </a:gs>
            </a:gsLst>
            <a:lin ang="108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b="1" dirty="0">
              <a:effectLst>
                <a:outerShdw blurRad="38100" dist="38100" dir="2700000" algn="tl">
                  <a:srgbClr val="000000">
                    <a:alpha val="43137"/>
                  </a:srgbClr>
                </a:outerShdw>
              </a:effectLst>
            </a:endParaRPr>
          </a:p>
        </p:txBody>
      </p:sp>
      <p:pic>
        <p:nvPicPr>
          <p:cNvPr id="5" name="Picture 4" descr="Logo&#10;&#10;AI-generated content may be incorrect.">
            <a:extLst>
              <a:ext uri="{FF2B5EF4-FFF2-40B4-BE49-F238E27FC236}">
                <a16:creationId xmlns:a16="http://schemas.microsoft.com/office/drawing/2014/main" id="{3E3F2C35-C93A-CF21-BB06-796ACF4E8C36}"/>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11344274" y="6306674"/>
            <a:ext cx="809171" cy="512648"/>
          </a:xfrm>
          <a:prstGeom prst="rect">
            <a:avLst/>
          </a:prstGeom>
        </p:spPr>
      </p:pic>
    </p:spTree>
    <p:extLst>
      <p:ext uri="{BB962C8B-B14F-4D97-AF65-F5344CB8AC3E}">
        <p14:creationId xmlns:p14="http://schemas.microsoft.com/office/powerpoint/2010/main" val="135856427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ctr" defTabSz="914400" rtl="0" eaLnBrk="1" latinLnBrk="0" hangingPunct="1">
        <a:lnSpc>
          <a:spcPct val="90000"/>
        </a:lnSpc>
        <a:spcBef>
          <a:spcPct val="0"/>
        </a:spcBef>
        <a:buNone/>
        <a:defRPr sz="3600" kern="1200">
          <a:solidFill>
            <a:srgbClr val="0057B7"/>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gif"/></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influenza-clade-nomenclature" TargetMode="External"/><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hyperlink" Target="https://nextstrain.org/seasonal-flu/h3n2/ha/12y"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hyperlink" Target="https://papers.ssrn.com/sol3/papers.cfm?abstract_id=6201846&amp;__cf_chl_rt_tk=TYg8_.g26wj_cP3XSPiW758QjSEc2Scl0eCaC.6nrz8-1770903228-1.0.1.1-EW1U1CDFDDfnqmbEbJ17pvFXf7EQQR.H.AA7_3kD_3Y" TargetMode="External"/><Relationship Id="rId2" Type="http://schemas.openxmlformats.org/officeDocument/2006/relationships/image" Target="../media/image20.png"/><Relationship Id="rId1" Type="http://schemas.openxmlformats.org/officeDocument/2006/relationships/slideLayout" Target="../slideLayouts/slideLayout6.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BAC577-4581-3C5D-087B-87301570F9AE}"/>
              </a:ext>
            </a:extLst>
          </p:cNvPr>
          <p:cNvSpPr>
            <a:spLocks noGrp="1"/>
          </p:cNvSpPr>
          <p:nvPr>
            <p:ph type="ctrTitle"/>
          </p:nvPr>
        </p:nvSpPr>
        <p:spPr/>
        <p:txBody>
          <a:bodyPr/>
          <a:lstStyle/>
          <a:p>
            <a:r>
              <a:rPr lang="en-US" dirty="0"/>
              <a:t>Genomic Epidemiology</a:t>
            </a:r>
          </a:p>
        </p:txBody>
      </p:sp>
      <p:sp>
        <p:nvSpPr>
          <p:cNvPr id="3" name="Subtitle 2">
            <a:extLst>
              <a:ext uri="{FF2B5EF4-FFF2-40B4-BE49-F238E27FC236}">
                <a16:creationId xmlns:a16="http://schemas.microsoft.com/office/drawing/2014/main" id="{BA19D405-56B2-C3B1-4592-5ABA63A848C2}"/>
              </a:ext>
            </a:extLst>
          </p:cNvPr>
          <p:cNvSpPr>
            <a:spLocks noGrp="1"/>
          </p:cNvSpPr>
          <p:nvPr>
            <p:ph type="subTitle" idx="1"/>
          </p:nvPr>
        </p:nvSpPr>
        <p:spPr/>
        <p:txBody>
          <a:bodyPr/>
          <a:lstStyle/>
          <a:p>
            <a:r>
              <a:rPr lang="en-US" dirty="0"/>
              <a:t>Norman Hassell</a:t>
            </a:r>
          </a:p>
          <a:p>
            <a:r>
              <a:rPr lang="en-US" dirty="0"/>
              <a:t>Centers for Disease Control and Prevention</a:t>
            </a:r>
          </a:p>
        </p:txBody>
      </p:sp>
    </p:spTree>
    <p:extLst>
      <p:ext uri="{BB962C8B-B14F-4D97-AF65-F5344CB8AC3E}">
        <p14:creationId xmlns:p14="http://schemas.microsoft.com/office/powerpoint/2010/main" val="5456732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D5B529-33FD-56E1-6AE0-E3DA205B2B68}"/>
              </a:ext>
            </a:extLst>
          </p:cNvPr>
          <p:cNvSpPr>
            <a:spLocks noGrp="1"/>
          </p:cNvSpPr>
          <p:nvPr>
            <p:ph type="title"/>
          </p:nvPr>
        </p:nvSpPr>
        <p:spPr/>
        <p:txBody>
          <a:bodyPr/>
          <a:lstStyle/>
          <a:p>
            <a:r>
              <a:rPr lang="en-US" dirty="0"/>
              <a:t>Reiterating the Points of Genomic Epidemiology</a:t>
            </a:r>
          </a:p>
        </p:txBody>
      </p:sp>
      <p:sp>
        <p:nvSpPr>
          <p:cNvPr id="3" name="Content Placeholder 2">
            <a:extLst>
              <a:ext uri="{FF2B5EF4-FFF2-40B4-BE49-F238E27FC236}">
                <a16:creationId xmlns:a16="http://schemas.microsoft.com/office/drawing/2014/main" id="{15FFADB6-BEFC-0ABA-E79F-41F688FB57D8}"/>
              </a:ext>
            </a:extLst>
          </p:cNvPr>
          <p:cNvSpPr>
            <a:spLocks noGrp="1"/>
          </p:cNvSpPr>
          <p:nvPr>
            <p:ph idx="1"/>
          </p:nvPr>
        </p:nvSpPr>
        <p:spPr/>
        <p:txBody>
          <a:bodyPr/>
          <a:lstStyle/>
          <a:p>
            <a:r>
              <a:rPr lang="en-US" dirty="0"/>
              <a:t>Genomic Epidemiology (aka Molecular Epidemiology):</a:t>
            </a:r>
          </a:p>
          <a:p>
            <a:pPr lvl="1"/>
            <a:r>
              <a:rPr lang="en-US" dirty="0"/>
              <a:t>The use of genetic sequence data to study the distribution, transmission, and evolution of diseases in populations.</a:t>
            </a:r>
          </a:p>
          <a:p>
            <a:endParaRPr lang="en-US" dirty="0"/>
          </a:p>
        </p:txBody>
      </p:sp>
      <p:pic>
        <p:nvPicPr>
          <p:cNvPr id="5" name="Picture 4" descr="Graphical user interface, application&#10;&#10;AI-generated content may be incorrect.">
            <a:extLst>
              <a:ext uri="{FF2B5EF4-FFF2-40B4-BE49-F238E27FC236}">
                <a16:creationId xmlns:a16="http://schemas.microsoft.com/office/drawing/2014/main" id="{8EC1A925-1C29-1A0F-57E9-FA3450F61AC1}"/>
              </a:ext>
            </a:extLst>
          </p:cNvPr>
          <p:cNvPicPr>
            <a:picLocks noChangeAspect="1"/>
          </p:cNvPicPr>
          <p:nvPr/>
        </p:nvPicPr>
        <p:blipFill>
          <a:blip r:embed="rId3"/>
          <a:stretch>
            <a:fillRect/>
          </a:stretch>
        </p:blipFill>
        <p:spPr>
          <a:xfrm>
            <a:off x="2396836" y="2789634"/>
            <a:ext cx="7017327" cy="3396854"/>
          </a:xfrm>
          <a:prstGeom prst="rect">
            <a:avLst/>
          </a:prstGeom>
        </p:spPr>
      </p:pic>
    </p:spTree>
    <p:extLst>
      <p:ext uri="{BB962C8B-B14F-4D97-AF65-F5344CB8AC3E}">
        <p14:creationId xmlns:p14="http://schemas.microsoft.com/office/powerpoint/2010/main" val="34815941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182881" y="249844"/>
            <a:ext cx="11558016" cy="997196"/>
          </a:xfrm>
          <a:prstGeom prst="rect">
            <a:avLst/>
          </a:prstGeom>
        </p:spPr>
        <p:txBody>
          <a:bodyPr vert="horz" wrap="square" lIns="0" tIns="0" rIns="0" bIns="0" rtlCol="0">
            <a:spAutoFit/>
          </a:bodyPr>
          <a:lstStyle/>
          <a:p>
            <a:pPr marL="12700" marR="121920" algn="l">
              <a:buClr>
                <a:schemeClr val="tx1"/>
              </a:buClr>
              <a:tabLst>
                <a:tab pos="317500" algn="l"/>
              </a:tabLst>
            </a:pPr>
            <a:r>
              <a:rPr lang="en-US" spc="-5" dirty="0">
                <a:cs typeface="Arial"/>
              </a:rPr>
              <a:t>Goals of Global Influenza Genomic Surveillance: understand circulating viral diversity, where and </a:t>
            </a:r>
            <a:r>
              <a:rPr lang="en-US" dirty="0">
                <a:cs typeface="Arial"/>
              </a:rPr>
              <a:t>to </a:t>
            </a:r>
            <a:r>
              <a:rPr lang="en-US" spc="-5" dirty="0">
                <a:cs typeface="Arial"/>
              </a:rPr>
              <a:t>what</a:t>
            </a:r>
            <a:r>
              <a:rPr lang="en-US" spc="-95" dirty="0">
                <a:cs typeface="Arial"/>
              </a:rPr>
              <a:t> </a:t>
            </a:r>
            <a:r>
              <a:rPr lang="en-US" spc="-5" dirty="0">
                <a:cs typeface="Arial"/>
              </a:rPr>
              <a:t>extent</a:t>
            </a:r>
            <a:endParaRPr lang="en-US" dirty="0">
              <a:cs typeface="Arial"/>
            </a:endParaRPr>
          </a:p>
        </p:txBody>
      </p:sp>
      <p:sp>
        <p:nvSpPr>
          <p:cNvPr id="6" name="TextBox 5">
            <a:extLst>
              <a:ext uri="{FF2B5EF4-FFF2-40B4-BE49-F238E27FC236}">
                <a16:creationId xmlns:a16="http://schemas.microsoft.com/office/drawing/2014/main" id="{172A794D-398D-4AB7-8EBF-E5D6DC236DF7}"/>
              </a:ext>
            </a:extLst>
          </p:cNvPr>
          <p:cNvSpPr txBox="1"/>
          <p:nvPr/>
        </p:nvSpPr>
        <p:spPr>
          <a:xfrm>
            <a:off x="3974713" y="1438270"/>
            <a:ext cx="8017262" cy="3785652"/>
          </a:xfrm>
          <a:prstGeom prst="rect">
            <a:avLst/>
          </a:prstGeom>
          <a:noFill/>
        </p:spPr>
        <p:txBody>
          <a:bodyPr wrap="square">
            <a:spAutoFit/>
          </a:bodyPr>
          <a:lstStyle/>
          <a:p>
            <a:pPr marL="96520" marR="482600" indent="-304800">
              <a:buClr>
                <a:schemeClr val="tx1"/>
              </a:buClr>
              <a:buChar char="•"/>
              <a:tabLst>
                <a:tab pos="553085" algn="l"/>
                <a:tab pos="553720" algn="l"/>
              </a:tabLst>
            </a:pPr>
            <a:r>
              <a:rPr lang="en-US" sz="2000" b="1" u="sng" dirty="0">
                <a:cs typeface="Arial"/>
              </a:rPr>
              <a:t>Create quality sequence of a virus and share data publicly</a:t>
            </a:r>
          </a:p>
          <a:p>
            <a:pPr marR="482600">
              <a:buClr>
                <a:schemeClr val="tx1"/>
              </a:buClr>
              <a:tabLst>
                <a:tab pos="553085" algn="l"/>
                <a:tab pos="553720" algn="l"/>
              </a:tabLst>
            </a:pPr>
            <a:endParaRPr lang="en-US" sz="2000" dirty="0">
              <a:cs typeface="Arial"/>
            </a:endParaRPr>
          </a:p>
          <a:p>
            <a:pPr marL="96520" marR="482600" indent="-304800">
              <a:buClr>
                <a:schemeClr val="tx1"/>
              </a:buClr>
              <a:buChar char="•"/>
              <a:tabLst>
                <a:tab pos="553085" algn="l"/>
                <a:tab pos="553720" algn="l"/>
              </a:tabLst>
            </a:pPr>
            <a:endParaRPr lang="en-US" sz="2000" dirty="0">
              <a:cs typeface="Arial"/>
            </a:endParaRPr>
          </a:p>
          <a:p>
            <a:pPr marR="482600">
              <a:buClr>
                <a:schemeClr val="tx1"/>
              </a:buClr>
              <a:tabLst>
                <a:tab pos="553085" algn="l"/>
                <a:tab pos="553720" algn="l"/>
              </a:tabLst>
            </a:pPr>
            <a:r>
              <a:rPr lang="en-US" sz="2000" dirty="0">
                <a:cs typeface="Arial"/>
              </a:rPr>
              <a:t>Molecular Epidemiology</a:t>
            </a:r>
          </a:p>
          <a:p>
            <a:pPr marL="96520" marR="482600" indent="-304800">
              <a:buClr>
                <a:schemeClr val="tx1"/>
              </a:buClr>
              <a:buFontTx/>
              <a:buChar char="•"/>
              <a:tabLst>
                <a:tab pos="553085" algn="l"/>
                <a:tab pos="553720" algn="l"/>
              </a:tabLst>
            </a:pPr>
            <a:r>
              <a:rPr lang="en-US" sz="2000" dirty="0">
                <a:cs typeface="Arial"/>
              </a:rPr>
              <a:t>Multiple sequence alignment with relevant sequences of viruses/reference virus for your question</a:t>
            </a:r>
          </a:p>
          <a:p>
            <a:pPr marL="96520" marR="482600" indent="-304800">
              <a:buClr>
                <a:schemeClr val="tx1"/>
              </a:buClr>
              <a:buChar char="•"/>
              <a:tabLst>
                <a:tab pos="553085" algn="l"/>
                <a:tab pos="553720" algn="l"/>
              </a:tabLst>
            </a:pPr>
            <a:r>
              <a:rPr lang="en-US" sz="2000" dirty="0">
                <a:cs typeface="Arial"/>
              </a:rPr>
              <a:t>Create phylogenetic tree(s) – Maximum-likelihood and Time-scaled</a:t>
            </a:r>
          </a:p>
          <a:p>
            <a:pPr marL="317500" marR="5080" indent="-304800">
              <a:buClr>
                <a:schemeClr val="tx1"/>
              </a:buClr>
              <a:buFontTx/>
              <a:buChar char="•"/>
              <a:tabLst>
                <a:tab pos="316865" algn="l"/>
                <a:tab pos="317500" algn="l"/>
              </a:tabLst>
            </a:pPr>
            <a:r>
              <a:rPr lang="en-US" sz="2000" spc="-5" dirty="0">
                <a:cs typeface="Arial"/>
              </a:rPr>
              <a:t>Data integration</a:t>
            </a:r>
            <a:r>
              <a:rPr lang="en-US" sz="2000" spc="-55" dirty="0">
                <a:cs typeface="Arial"/>
              </a:rPr>
              <a:t> </a:t>
            </a:r>
          </a:p>
          <a:p>
            <a:pPr marL="774700" marR="5080" lvl="1" indent="-304800">
              <a:buClr>
                <a:schemeClr val="tx1"/>
              </a:buClr>
              <a:buFontTx/>
              <a:buChar char="•"/>
              <a:tabLst>
                <a:tab pos="316865" algn="l"/>
                <a:tab pos="317500" algn="l"/>
              </a:tabLst>
            </a:pPr>
            <a:r>
              <a:rPr lang="en-US" sz="2000" spc="-5" dirty="0">
                <a:cs typeface="Arial"/>
              </a:rPr>
              <a:t>Correlate genetic change</a:t>
            </a:r>
            <a:r>
              <a:rPr lang="en-US" sz="2000" spc="-55" dirty="0">
                <a:cs typeface="Arial"/>
              </a:rPr>
              <a:t> </a:t>
            </a:r>
            <a:r>
              <a:rPr lang="en-US" sz="2000" spc="-5" dirty="0">
                <a:cs typeface="Arial"/>
              </a:rPr>
              <a:t>with </a:t>
            </a:r>
            <a:r>
              <a:rPr lang="en-US" sz="2000" dirty="0"/>
              <a:t>metadata such as phenotypic, </a:t>
            </a:r>
            <a:r>
              <a:rPr lang="en-US" sz="2000" spc="-5" dirty="0"/>
              <a:t>proteomic </a:t>
            </a:r>
            <a:r>
              <a:rPr lang="en-US" sz="2000" dirty="0"/>
              <a:t>and</a:t>
            </a:r>
            <a:r>
              <a:rPr lang="en-US" sz="2000" spc="55" dirty="0"/>
              <a:t> </a:t>
            </a:r>
            <a:r>
              <a:rPr lang="en-US" sz="2000" dirty="0"/>
              <a:t>epidemiological data</a:t>
            </a:r>
          </a:p>
          <a:p>
            <a:pPr marL="317500" marR="5080" indent="-304800">
              <a:buClr>
                <a:schemeClr val="tx1"/>
              </a:buClr>
              <a:buFontTx/>
              <a:buChar char="•"/>
              <a:tabLst>
                <a:tab pos="316865" algn="l"/>
                <a:tab pos="317500" algn="l"/>
              </a:tabLst>
            </a:pPr>
            <a:r>
              <a:rPr lang="en-US" sz="2000" dirty="0">
                <a:cs typeface="Arial"/>
              </a:rPr>
              <a:t>Analysis is retrospective and a moving window by season – timeliness of data critical for situational awareness</a:t>
            </a:r>
          </a:p>
        </p:txBody>
      </p:sp>
      <p:pic>
        <p:nvPicPr>
          <p:cNvPr id="7" name="Picture 6">
            <a:extLst>
              <a:ext uri="{FF2B5EF4-FFF2-40B4-BE49-F238E27FC236}">
                <a16:creationId xmlns:a16="http://schemas.microsoft.com/office/drawing/2014/main" id="{7E398019-0044-4E7A-A318-F960CACCE9F3}"/>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1024218" y="2062725"/>
            <a:ext cx="1169733" cy="939420"/>
          </a:xfrm>
          <a:prstGeom prst="rect">
            <a:avLst/>
          </a:prstGeom>
        </p:spPr>
      </p:pic>
      <p:pic>
        <p:nvPicPr>
          <p:cNvPr id="8" name="Picture 6" descr="http://www.bdmainc.com/images/database.gif">
            <a:extLst>
              <a:ext uri="{FF2B5EF4-FFF2-40B4-BE49-F238E27FC236}">
                <a16:creationId xmlns:a16="http://schemas.microsoft.com/office/drawing/2014/main" id="{0A0018EB-1BFC-4960-8BA1-37FB327D7F64}"/>
              </a:ext>
            </a:extLst>
          </p:cNvPr>
          <p:cNvPicPr>
            <a:picLocks noChangeAspect="1" noChangeArrowheads="1"/>
          </p:cNvPicPr>
          <p:nvPr/>
        </p:nvPicPr>
        <p:blipFill>
          <a:blip r:embed="rId4" cstate="screen">
            <a:extLst>
              <a:ext uri="{28A0092B-C50C-407E-A947-70E740481C1C}">
                <a14:useLocalDpi xmlns:a14="http://schemas.microsoft.com/office/drawing/2010/main"/>
              </a:ext>
            </a:extLst>
          </a:blip>
          <a:srcRect/>
          <a:stretch>
            <a:fillRect/>
          </a:stretch>
        </p:blipFill>
        <p:spPr bwMode="auto">
          <a:xfrm>
            <a:off x="2651239" y="1932764"/>
            <a:ext cx="1076474" cy="1154633"/>
          </a:xfrm>
          <a:prstGeom prst="rect">
            <a:avLst/>
          </a:prstGeom>
          <a:noFill/>
          <a:extLst>
            <a:ext uri="{909E8E84-426E-40dd-AFC4-6F175D3DCCD1}">
              <a14:hiddenFill xmlns=""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2806FF09-669B-4FFA-8DE0-06505DEBACE2}"/>
              </a:ext>
            </a:extLst>
          </p:cNvPr>
          <p:cNvPicPr>
            <a:picLocks noChangeAspect="1"/>
          </p:cNvPicPr>
          <p:nvPr/>
        </p:nvPicPr>
        <p:blipFill>
          <a:blip r:embed="rId5"/>
          <a:stretch>
            <a:fillRect/>
          </a:stretch>
        </p:blipFill>
        <p:spPr>
          <a:xfrm>
            <a:off x="1123569" y="3095257"/>
            <a:ext cx="2604144" cy="2994764"/>
          </a:xfrm>
          <a:prstGeom prst="rect">
            <a:avLst/>
          </a:prstGeom>
        </p:spPr>
      </p:pic>
      <p:sp>
        <p:nvSpPr>
          <p:cNvPr id="11" name="TextBox 10">
            <a:extLst>
              <a:ext uri="{FF2B5EF4-FFF2-40B4-BE49-F238E27FC236}">
                <a16:creationId xmlns:a16="http://schemas.microsoft.com/office/drawing/2014/main" id="{807087FA-4AED-49D4-AF45-07E0A51604FF}"/>
              </a:ext>
            </a:extLst>
          </p:cNvPr>
          <p:cNvSpPr txBox="1"/>
          <p:nvPr/>
        </p:nvSpPr>
        <p:spPr>
          <a:xfrm>
            <a:off x="585458" y="6030705"/>
            <a:ext cx="4810540" cy="276999"/>
          </a:xfrm>
          <a:prstGeom prst="rect">
            <a:avLst/>
          </a:prstGeom>
          <a:noFill/>
        </p:spPr>
        <p:txBody>
          <a:bodyPr wrap="square">
            <a:spAutoFit/>
          </a:bodyPr>
          <a:lstStyle/>
          <a:p>
            <a:r>
              <a:rPr lang="en-US" sz="1200" dirty="0" err="1"/>
              <a:t>Klimov</a:t>
            </a:r>
            <a:r>
              <a:rPr lang="en-US" sz="1200" dirty="0"/>
              <a:t> et al, </a:t>
            </a:r>
            <a:r>
              <a:rPr lang="en-US" sz="1200" i="1" dirty="0"/>
              <a:t>Vaccine</a:t>
            </a:r>
            <a:r>
              <a:rPr lang="en-US" sz="1200" dirty="0"/>
              <a:t>. 2012 Oct 5;30(45):6461-71.</a:t>
            </a:r>
          </a:p>
        </p:txBody>
      </p:sp>
    </p:spTree>
    <p:extLst>
      <p:ext uri="{BB962C8B-B14F-4D97-AF65-F5344CB8AC3E}">
        <p14:creationId xmlns:p14="http://schemas.microsoft.com/office/powerpoint/2010/main" val="15127001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a:spLocks noGrp="1"/>
          </p:cNvSpPr>
          <p:nvPr>
            <p:ph type="title"/>
          </p:nvPr>
        </p:nvSpPr>
        <p:spPr>
          <a:xfrm>
            <a:off x="435218" y="0"/>
            <a:ext cx="11321562" cy="1143000"/>
          </a:xfrm>
        </p:spPr>
        <p:txBody>
          <a:bodyPr>
            <a:normAutofit/>
          </a:bodyPr>
          <a:lstStyle/>
          <a:p>
            <a:pPr algn="ctr" eaLnBrk="1" hangingPunct="1"/>
            <a:r>
              <a:rPr lang="en-US" dirty="0">
                <a:latin typeface="Calibri" panose="020F0502020204030204" pitchFamily="34" charset="0"/>
                <a:ea typeface="Calibri" panose="020F0502020204030204" pitchFamily="34" charset="0"/>
                <a:cs typeface="Calibri" panose="020F0502020204030204" pitchFamily="34" charset="0"/>
              </a:rPr>
              <a:t>HA Genetic Groups/Clades/Subclades</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sp>
        <p:nvSpPr>
          <p:cNvPr id="6" name="Content Placeholder 3"/>
          <p:cNvSpPr>
            <a:spLocks noGrp="1"/>
          </p:cNvSpPr>
          <p:nvPr>
            <p:ph sz="half" idx="1"/>
          </p:nvPr>
        </p:nvSpPr>
        <p:spPr>
          <a:xfrm>
            <a:off x="298938" y="1037492"/>
            <a:ext cx="11594123" cy="5172807"/>
          </a:xfrm>
        </p:spPr>
        <p:txBody>
          <a:bodyPr>
            <a:normAutofit fontScale="85000" lnSpcReduction="20000"/>
          </a:bodyPr>
          <a:lstStyle/>
          <a:p>
            <a:pPr marL="274320" indent="-274320">
              <a:lnSpc>
                <a:spcPct val="110000"/>
              </a:lnSpc>
              <a:buFont typeface="Wingdings 2"/>
              <a:buChar char=""/>
              <a:defRPr/>
            </a:pPr>
            <a:r>
              <a:rPr lang="en-US" altLang="ja-JP" dirty="0">
                <a:ea typeface="ＭＳ Ｐゴシック" pitchFamily="-65" charset="-128"/>
                <a:cs typeface="Arial" panose="020B0604020202020204" pitchFamily="34" charset="0"/>
              </a:rPr>
              <a:t>Classification mechanism to compare </a:t>
            </a:r>
            <a:r>
              <a:rPr lang="en-US" altLang="ja-JP" b="1" dirty="0">
                <a:ea typeface="ＭＳ Ｐゴシック" pitchFamily="-65" charset="-128"/>
                <a:cs typeface="Arial" panose="020B0604020202020204" pitchFamily="34" charset="0"/>
              </a:rPr>
              <a:t>between</a:t>
            </a:r>
            <a:r>
              <a:rPr lang="en-US" altLang="ja-JP" dirty="0">
                <a:ea typeface="ＭＳ Ｐゴシック" pitchFamily="-65" charset="-128"/>
                <a:cs typeface="Arial" panose="020B0604020202020204" pitchFamily="34" charset="0"/>
              </a:rPr>
              <a:t> WHO CC labs</a:t>
            </a:r>
          </a:p>
          <a:p>
            <a:pPr marL="731520" lvl="1" indent="-274320">
              <a:lnSpc>
                <a:spcPct val="110000"/>
              </a:lnSpc>
              <a:buFont typeface="Wingdings 2"/>
              <a:buChar char=""/>
              <a:defRPr/>
            </a:pPr>
            <a:r>
              <a:rPr lang="en-US" altLang="ja-JP" dirty="0">
                <a:ea typeface="ＭＳ Ｐゴシック" pitchFamily="-65" charset="-128"/>
                <a:cs typeface="Arial" panose="020B0604020202020204" pitchFamily="34" charset="0"/>
              </a:rPr>
              <a:t>In general, genetic groups are a </a:t>
            </a:r>
            <a:r>
              <a:rPr lang="en-US" altLang="ja-JP" b="1" u="sng" dirty="0">
                <a:ea typeface="ＭＳ Ｐゴシック" pitchFamily="-65" charset="-128"/>
                <a:cs typeface="Arial" panose="020B0604020202020204" pitchFamily="34" charset="0"/>
              </a:rPr>
              <a:t>clade</a:t>
            </a:r>
            <a:r>
              <a:rPr lang="en-US" altLang="ja-JP" dirty="0">
                <a:ea typeface="ＭＳ Ｐゴシック" pitchFamily="-65" charset="-128"/>
                <a:cs typeface="Arial" panose="020B0604020202020204" pitchFamily="34" charset="0"/>
              </a:rPr>
              <a:t> of the phylogenetic tree which shares specific amino acid changes</a:t>
            </a:r>
          </a:p>
          <a:p>
            <a:pPr marL="731520" lvl="1" indent="-274320">
              <a:lnSpc>
                <a:spcPct val="110000"/>
              </a:lnSpc>
              <a:buFont typeface="Wingdings 2"/>
              <a:buChar char=""/>
              <a:defRPr/>
            </a:pPr>
            <a:r>
              <a:rPr lang="en-US" altLang="ja-JP" dirty="0">
                <a:ea typeface="ＭＳ Ｐゴシック" pitchFamily="-65" charset="-128"/>
                <a:cs typeface="Arial" panose="020B0604020202020204" pitchFamily="34" charset="0"/>
              </a:rPr>
              <a:t>Viruses in genetic groups share the similar amino acid changes – and should generally have similar antigenic profiles</a:t>
            </a:r>
            <a:endParaRPr lang="en-US" dirty="0">
              <a:cs typeface="Arial" panose="020B0604020202020204" pitchFamily="34" charset="0"/>
            </a:endParaRPr>
          </a:p>
          <a:p>
            <a:pPr marL="274320" indent="-274320">
              <a:lnSpc>
                <a:spcPct val="110000"/>
              </a:lnSpc>
              <a:buFont typeface="Wingdings 2"/>
              <a:buChar char=""/>
              <a:defRPr/>
            </a:pPr>
            <a:r>
              <a:rPr lang="en-US" altLang="ja-JP" dirty="0">
                <a:ea typeface="ＭＳ Ｐゴシック" pitchFamily="-65" charset="-128"/>
                <a:cs typeface="Arial" panose="020B0604020202020204" pitchFamily="34" charset="0"/>
              </a:rPr>
              <a:t>Timeline</a:t>
            </a:r>
          </a:p>
          <a:p>
            <a:pPr marL="731520" lvl="1" indent="-274320">
              <a:lnSpc>
                <a:spcPct val="110000"/>
              </a:lnSpc>
              <a:buFont typeface="Wingdings 2"/>
              <a:buChar char=""/>
              <a:defRPr/>
            </a:pPr>
            <a:r>
              <a:rPr lang="en-US" altLang="ja-JP" dirty="0">
                <a:ea typeface="ＭＳ Ｐゴシック" pitchFamily="-65" charset="-128"/>
                <a:cs typeface="Arial" panose="020B0604020202020204" pitchFamily="34" charset="0"/>
              </a:rPr>
              <a:t>pre-2012 – general naming like “A/Brisbane/10/2007”</a:t>
            </a:r>
          </a:p>
          <a:p>
            <a:pPr marL="731520" lvl="1" indent="-274320">
              <a:lnSpc>
                <a:spcPct val="110000"/>
              </a:lnSpc>
              <a:buFont typeface="Wingdings 2"/>
              <a:buChar char=""/>
              <a:defRPr/>
            </a:pPr>
            <a:r>
              <a:rPr lang="en-US" altLang="ja-JP" dirty="0">
                <a:ea typeface="ＭＳ Ｐゴシック" pitchFamily="-65" charset="-128"/>
                <a:cs typeface="Arial" panose="020B0604020202020204" pitchFamily="34" charset="0"/>
              </a:rPr>
              <a:t>2012 – </a:t>
            </a:r>
            <a:r>
              <a:rPr lang="en-US" altLang="ja-JP" dirty="0" err="1">
                <a:ea typeface="ＭＳ Ｐゴシック" pitchFamily="-65" charset="-128"/>
                <a:cs typeface="Arial" panose="020B0604020202020204" pitchFamily="34" charset="0"/>
              </a:rPr>
              <a:t>Alphanumerics</a:t>
            </a:r>
            <a:r>
              <a:rPr lang="en-US" altLang="ja-JP" dirty="0">
                <a:ea typeface="ＭＳ Ｐゴシック" pitchFamily="-65" charset="-128"/>
                <a:cs typeface="Arial" panose="020B0604020202020204" pitchFamily="34" charset="0"/>
              </a:rPr>
              <a:t> designations annotated the strain name</a:t>
            </a:r>
          </a:p>
          <a:p>
            <a:pPr marL="1188720" lvl="2" indent="-274320">
              <a:lnSpc>
                <a:spcPct val="110000"/>
              </a:lnSpc>
              <a:buFont typeface="Wingdings 2"/>
              <a:buChar char=""/>
              <a:defRPr/>
            </a:pPr>
            <a:r>
              <a:rPr lang="en-US" altLang="ja-JP" dirty="0">
                <a:ea typeface="ＭＳ Ｐゴシック" pitchFamily="-65" charset="-128"/>
                <a:cs typeface="Arial" panose="020B0604020202020204" pitchFamily="34" charset="0"/>
              </a:rPr>
              <a:t>Examples: 6B, 6B.1, 6B.1A for H1s; 3C.2, 3C.2a, 3C.2a.1 for H3s and V, V1 and V1.A</a:t>
            </a:r>
          </a:p>
          <a:p>
            <a:pPr marL="731520" lvl="1" indent="-274320">
              <a:lnSpc>
                <a:spcPct val="110000"/>
              </a:lnSpc>
              <a:buFont typeface="Wingdings 2"/>
              <a:buChar char=""/>
              <a:defRPr/>
            </a:pPr>
            <a:r>
              <a:rPr lang="en-US" altLang="ja-JP" dirty="0">
                <a:ea typeface="ＭＳ Ｐゴシック" pitchFamily="-65" charset="-128"/>
                <a:cs typeface="Arial" panose="020B0604020202020204" pitchFamily="34" charset="0"/>
              </a:rPr>
              <a:t>2020 – Subclades – </a:t>
            </a:r>
          </a:p>
          <a:p>
            <a:pPr marL="1188720" lvl="2" indent="-274320">
              <a:lnSpc>
                <a:spcPct val="110000"/>
              </a:lnSpc>
              <a:buFont typeface="Wingdings 2"/>
              <a:buChar char=""/>
              <a:defRPr/>
            </a:pPr>
            <a:r>
              <a:rPr lang="en-US" altLang="ja-JP" dirty="0">
                <a:ea typeface="ＭＳ Ｐゴシック" pitchFamily="-65" charset="-128"/>
                <a:cs typeface="Arial" panose="020B0604020202020204" pitchFamily="34" charset="0"/>
              </a:rPr>
              <a:t>not necessarily distinct phenotypes but meant to assist in discussing genetic diversity and frequency dynamics of co-circulating viral variants without distinct properties</a:t>
            </a:r>
          </a:p>
          <a:p>
            <a:pPr marL="1188720" lvl="2" indent="-274320">
              <a:lnSpc>
                <a:spcPct val="110000"/>
              </a:lnSpc>
              <a:buFont typeface="Wingdings 2"/>
              <a:buChar char=""/>
              <a:defRPr/>
            </a:pPr>
            <a:r>
              <a:rPr lang="en-US" altLang="ja-JP" dirty="0">
                <a:ea typeface="ＭＳ Ｐゴシック" pitchFamily="-65" charset="-128"/>
                <a:cs typeface="Arial" panose="020B0604020202020204" pitchFamily="34" charset="0"/>
              </a:rPr>
              <a:t>Subclades described for both the HA and NA proteins</a:t>
            </a:r>
          </a:p>
          <a:p>
            <a:pPr marL="1645920" lvl="3" indent="-274320">
              <a:lnSpc>
                <a:spcPct val="110000"/>
              </a:lnSpc>
              <a:buFont typeface="Wingdings 2"/>
              <a:buChar char=""/>
              <a:defRPr/>
            </a:pPr>
            <a:r>
              <a:rPr lang="en-US" altLang="ja-JP" dirty="0">
                <a:ea typeface="ＭＳ Ｐゴシック" pitchFamily="-65" charset="-128"/>
                <a:cs typeface="Arial" panose="020B0604020202020204" pitchFamily="34" charset="0"/>
              </a:rPr>
              <a:t>Examples: G.1.1.2 (H3N2), C.1.7.2 (H1pdm09), C.5.6 (B Vic)</a:t>
            </a:r>
          </a:p>
          <a:p>
            <a:pPr marL="1645920" lvl="3" indent="-274320">
              <a:lnSpc>
                <a:spcPct val="110000"/>
              </a:lnSpc>
              <a:buFont typeface="Wingdings 2"/>
              <a:buChar char=""/>
              <a:defRPr/>
            </a:pPr>
            <a:r>
              <a:rPr lang="en-US" dirty="0">
                <a:hlinkClick r:id="rId3"/>
              </a:rPr>
              <a:t>influenza-clade-nomenclature · GitHub</a:t>
            </a:r>
            <a:endParaRPr lang="en-US" altLang="ja-JP" dirty="0">
              <a:ea typeface="ＭＳ Ｐゴシック" pitchFamily="-65" charset="-128"/>
              <a:cs typeface="Arial" panose="020B0604020202020204" pitchFamily="34" charset="0"/>
            </a:endParaRPr>
          </a:p>
        </p:txBody>
      </p:sp>
    </p:spTree>
    <p:extLst>
      <p:ext uri="{BB962C8B-B14F-4D97-AF65-F5344CB8AC3E}">
        <p14:creationId xmlns:p14="http://schemas.microsoft.com/office/powerpoint/2010/main" val="11570102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CCB66F-274C-4397-8D47-62F4843A9D8B}"/>
              </a:ext>
            </a:extLst>
          </p:cNvPr>
          <p:cNvSpPr>
            <a:spLocks noGrp="1"/>
          </p:cNvSpPr>
          <p:nvPr>
            <p:ph type="title"/>
          </p:nvPr>
        </p:nvSpPr>
        <p:spPr>
          <a:xfrm>
            <a:off x="432790" y="0"/>
            <a:ext cx="11081253" cy="522114"/>
          </a:xfrm>
        </p:spPr>
        <p:txBody>
          <a:bodyPr>
            <a:normAutofit fontScale="90000"/>
          </a:bodyPr>
          <a:lstStyle/>
          <a:p>
            <a:r>
              <a:rPr lang="en-US" dirty="0"/>
              <a:t>Nextstrain</a:t>
            </a:r>
          </a:p>
        </p:txBody>
      </p:sp>
      <p:sp>
        <p:nvSpPr>
          <p:cNvPr id="7" name="TextBox 6">
            <a:extLst>
              <a:ext uri="{FF2B5EF4-FFF2-40B4-BE49-F238E27FC236}">
                <a16:creationId xmlns:a16="http://schemas.microsoft.com/office/drawing/2014/main" id="{D6ACE976-4936-43A0-9534-833C00409258}"/>
              </a:ext>
            </a:extLst>
          </p:cNvPr>
          <p:cNvSpPr txBox="1"/>
          <p:nvPr/>
        </p:nvSpPr>
        <p:spPr>
          <a:xfrm>
            <a:off x="7445572" y="5889899"/>
            <a:ext cx="4746428" cy="369332"/>
          </a:xfrm>
          <a:prstGeom prst="rect">
            <a:avLst/>
          </a:prstGeom>
          <a:noFill/>
        </p:spPr>
        <p:txBody>
          <a:bodyPr wrap="none" rtlCol="0">
            <a:spAutoFit/>
          </a:bodyPr>
          <a:lstStyle/>
          <a:p>
            <a:r>
              <a:rPr lang="en-US" dirty="0">
                <a:hlinkClick r:id="rId3"/>
              </a:rPr>
              <a:t>https://nextstrain.org/seasonal-flu/h3n2/ha/12y</a:t>
            </a:r>
            <a:endParaRPr lang="en-US" dirty="0"/>
          </a:p>
        </p:txBody>
      </p:sp>
      <p:sp>
        <p:nvSpPr>
          <p:cNvPr id="8" name="TextBox 7">
            <a:extLst>
              <a:ext uri="{FF2B5EF4-FFF2-40B4-BE49-F238E27FC236}">
                <a16:creationId xmlns:a16="http://schemas.microsoft.com/office/drawing/2014/main" id="{0E0E7BA1-3184-4F81-B5B6-247E1EF7C156}"/>
              </a:ext>
            </a:extLst>
          </p:cNvPr>
          <p:cNvSpPr txBox="1"/>
          <p:nvPr/>
        </p:nvSpPr>
        <p:spPr>
          <a:xfrm>
            <a:off x="2319284" y="5467813"/>
            <a:ext cx="1232132" cy="369332"/>
          </a:xfrm>
          <a:prstGeom prst="rect">
            <a:avLst/>
          </a:prstGeom>
          <a:noFill/>
        </p:spPr>
        <p:txBody>
          <a:bodyPr wrap="none" rtlCol="0">
            <a:spAutoFit/>
          </a:bodyPr>
          <a:lstStyle/>
          <a:p>
            <a:r>
              <a:rPr lang="en-US" dirty="0"/>
              <a:t>Divergence</a:t>
            </a:r>
          </a:p>
        </p:txBody>
      </p:sp>
      <p:sp>
        <p:nvSpPr>
          <p:cNvPr id="9" name="TextBox 8">
            <a:extLst>
              <a:ext uri="{FF2B5EF4-FFF2-40B4-BE49-F238E27FC236}">
                <a16:creationId xmlns:a16="http://schemas.microsoft.com/office/drawing/2014/main" id="{1A4A4EBC-26CC-421B-855B-29400613C00B}"/>
              </a:ext>
            </a:extLst>
          </p:cNvPr>
          <p:cNvSpPr txBox="1"/>
          <p:nvPr/>
        </p:nvSpPr>
        <p:spPr>
          <a:xfrm>
            <a:off x="8316155" y="5515425"/>
            <a:ext cx="1306448" cy="369332"/>
          </a:xfrm>
          <a:prstGeom prst="rect">
            <a:avLst/>
          </a:prstGeom>
          <a:noFill/>
        </p:spPr>
        <p:txBody>
          <a:bodyPr wrap="none" rtlCol="0">
            <a:spAutoFit/>
          </a:bodyPr>
          <a:lstStyle/>
          <a:p>
            <a:r>
              <a:rPr lang="en-US" dirty="0"/>
              <a:t>Time-scaled</a:t>
            </a:r>
          </a:p>
        </p:txBody>
      </p:sp>
      <p:pic>
        <p:nvPicPr>
          <p:cNvPr id="5" name="Picture 4" descr="Chart, bar chart&#10;&#10;AI-generated content may be incorrect.">
            <a:extLst>
              <a:ext uri="{FF2B5EF4-FFF2-40B4-BE49-F238E27FC236}">
                <a16:creationId xmlns:a16="http://schemas.microsoft.com/office/drawing/2014/main" id="{D1DFF9C2-CFB8-8EF4-B375-19F03BFB80C4}"/>
              </a:ext>
            </a:extLst>
          </p:cNvPr>
          <p:cNvPicPr>
            <a:picLocks noChangeAspect="1"/>
          </p:cNvPicPr>
          <p:nvPr/>
        </p:nvPicPr>
        <p:blipFill>
          <a:blip r:embed="rId4"/>
          <a:stretch>
            <a:fillRect/>
          </a:stretch>
        </p:blipFill>
        <p:spPr>
          <a:xfrm>
            <a:off x="95250" y="522114"/>
            <a:ext cx="6000750" cy="5053704"/>
          </a:xfrm>
          <a:prstGeom prst="rect">
            <a:avLst/>
          </a:prstGeom>
        </p:spPr>
      </p:pic>
      <p:pic>
        <p:nvPicPr>
          <p:cNvPr id="11" name="Picture 10" descr="Chart, bar chart&#10;&#10;AI-generated content may be incorrect.">
            <a:extLst>
              <a:ext uri="{FF2B5EF4-FFF2-40B4-BE49-F238E27FC236}">
                <a16:creationId xmlns:a16="http://schemas.microsoft.com/office/drawing/2014/main" id="{DA59141B-21A0-C248-FB09-13ACDFF3B4CD}"/>
              </a:ext>
            </a:extLst>
          </p:cNvPr>
          <p:cNvPicPr>
            <a:picLocks noChangeAspect="1"/>
          </p:cNvPicPr>
          <p:nvPr/>
        </p:nvPicPr>
        <p:blipFill>
          <a:blip r:embed="rId5"/>
          <a:stretch>
            <a:fillRect/>
          </a:stretch>
        </p:blipFill>
        <p:spPr>
          <a:xfrm>
            <a:off x="6152748" y="522113"/>
            <a:ext cx="5949927" cy="5053703"/>
          </a:xfrm>
          <a:prstGeom prst="rect">
            <a:avLst/>
          </a:prstGeom>
        </p:spPr>
      </p:pic>
    </p:spTree>
    <p:extLst>
      <p:ext uri="{BB962C8B-B14F-4D97-AF65-F5344CB8AC3E}">
        <p14:creationId xmlns:p14="http://schemas.microsoft.com/office/powerpoint/2010/main" val="20703782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182881" y="249844"/>
            <a:ext cx="11558016" cy="997196"/>
          </a:xfrm>
          <a:prstGeom prst="rect">
            <a:avLst/>
          </a:prstGeom>
        </p:spPr>
        <p:txBody>
          <a:bodyPr vert="horz" wrap="square" lIns="0" tIns="0" rIns="0" bIns="0" rtlCol="0">
            <a:spAutoFit/>
          </a:bodyPr>
          <a:lstStyle/>
          <a:p>
            <a:pPr marL="12700" marR="121920" algn="l">
              <a:buClr>
                <a:schemeClr val="tx1"/>
              </a:buClr>
              <a:tabLst>
                <a:tab pos="317500" algn="l"/>
              </a:tabLst>
            </a:pPr>
            <a:r>
              <a:rPr lang="en-US" spc="-5" dirty="0">
                <a:cs typeface="Arial"/>
              </a:rPr>
              <a:t>Goals of Global Influenza Genomic Surveillance: understand circulating viral diversity, where and </a:t>
            </a:r>
            <a:r>
              <a:rPr lang="en-US" dirty="0">
                <a:cs typeface="Arial"/>
              </a:rPr>
              <a:t>to </a:t>
            </a:r>
            <a:r>
              <a:rPr lang="en-US" spc="-5" dirty="0">
                <a:cs typeface="Arial"/>
              </a:rPr>
              <a:t>what</a:t>
            </a:r>
            <a:r>
              <a:rPr lang="en-US" spc="-95" dirty="0">
                <a:cs typeface="Arial"/>
              </a:rPr>
              <a:t> </a:t>
            </a:r>
            <a:r>
              <a:rPr lang="en-US" spc="-5" dirty="0">
                <a:cs typeface="Arial"/>
              </a:rPr>
              <a:t>extent</a:t>
            </a:r>
            <a:endParaRPr lang="en-US" dirty="0">
              <a:cs typeface="Arial"/>
            </a:endParaRPr>
          </a:p>
        </p:txBody>
      </p:sp>
      <p:sp>
        <p:nvSpPr>
          <p:cNvPr id="6" name="TextBox 5">
            <a:extLst>
              <a:ext uri="{FF2B5EF4-FFF2-40B4-BE49-F238E27FC236}">
                <a16:creationId xmlns:a16="http://schemas.microsoft.com/office/drawing/2014/main" id="{172A794D-398D-4AB7-8EBF-E5D6DC236DF7}"/>
              </a:ext>
            </a:extLst>
          </p:cNvPr>
          <p:cNvSpPr txBox="1"/>
          <p:nvPr/>
        </p:nvSpPr>
        <p:spPr>
          <a:xfrm>
            <a:off x="87631" y="2070195"/>
            <a:ext cx="5570219" cy="3046988"/>
          </a:xfrm>
          <a:prstGeom prst="rect">
            <a:avLst/>
          </a:prstGeom>
          <a:noFill/>
        </p:spPr>
        <p:txBody>
          <a:bodyPr wrap="square">
            <a:spAutoFit/>
          </a:bodyPr>
          <a:lstStyle/>
          <a:p>
            <a:pPr marL="96520" marR="482600" indent="-304800">
              <a:buClr>
                <a:schemeClr val="tx1"/>
              </a:buClr>
              <a:buChar char="•"/>
              <a:tabLst>
                <a:tab pos="553085" algn="l"/>
                <a:tab pos="553720" algn="l"/>
              </a:tabLst>
            </a:pPr>
            <a:r>
              <a:rPr lang="en-US" sz="2000" dirty="0">
                <a:cs typeface="Arial"/>
              </a:rPr>
              <a:t>Determine type of analysis and confidence levels to set sampling strategies</a:t>
            </a:r>
          </a:p>
          <a:p>
            <a:pPr marL="553720" marR="482600" lvl="1" indent="-304800">
              <a:buClr>
                <a:schemeClr val="tx1"/>
              </a:buClr>
              <a:buChar char="•"/>
              <a:tabLst>
                <a:tab pos="553085" algn="l"/>
                <a:tab pos="553720" algn="l"/>
              </a:tabLst>
            </a:pPr>
            <a:r>
              <a:rPr lang="en-US" sz="2000" dirty="0">
                <a:cs typeface="Arial"/>
              </a:rPr>
              <a:t>E.g., Random sampling of specimens from ILI surveillance</a:t>
            </a:r>
          </a:p>
          <a:p>
            <a:pPr marR="482600">
              <a:buClr>
                <a:schemeClr val="tx1"/>
              </a:buClr>
              <a:tabLst>
                <a:tab pos="553085" algn="l"/>
                <a:tab pos="553720" algn="l"/>
              </a:tabLst>
            </a:pPr>
            <a:endParaRPr lang="en-US" sz="2000" dirty="0">
              <a:cs typeface="Arial"/>
            </a:endParaRPr>
          </a:p>
          <a:p>
            <a:pPr marR="482600">
              <a:buClr>
                <a:schemeClr val="tx1"/>
              </a:buClr>
              <a:tabLst>
                <a:tab pos="553085" algn="l"/>
                <a:tab pos="553720" algn="l"/>
              </a:tabLst>
            </a:pPr>
            <a:r>
              <a:rPr lang="en-US" sz="2000" dirty="0">
                <a:cs typeface="Arial"/>
              </a:rPr>
              <a:t>US Sample Goals vs Actuals</a:t>
            </a:r>
          </a:p>
          <a:p>
            <a:pPr lvl="1">
              <a:tabLst>
                <a:tab pos="3657600" algn="l"/>
                <a:tab pos="5889625" algn="l"/>
                <a:tab pos="7658100" algn="l"/>
              </a:tabLst>
            </a:pPr>
            <a:r>
              <a:rPr lang="pt-BR" dirty="0"/>
              <a:t>B/Vic  =  100/wk 	=   3300/season</a:t>
            </a:r>
          </a:p>
          <a:p>
            <a:pPr lvl="1">
              <a:tabLst>
                <a:tab pos="3657600" algn="l"/>
                <a:tab pos="5889625" algn="l"/>
                <a:tab pos="7658100" algn="l"/>
              </a:tabLst>
            </a:pPr>
            <a:r>
              <a:rPr lang="pt-BR" dirty="0"/>
              <a:t>H1N1  =  100/wk	=   3300/season</a:t>
            </a:r>
          </a:p>
          <a:p>
            <a:pPr lvl="1">
              <a:tabLst>
                <a:tab pos="3657600" algn="l"/>
                <a:tab pos="5889625" algn="l"/>
                <a:tab pos="7658100" algn="l"/>
              </a:tabLst>
            </a:pPr>
            <a:r>
              <a:rPr lang="pt-BR" dirty="0"/>
              <a:t>H3N2  = 150/wk	=   4950/season</a:t>
            </a:r>
          </a:p>
          <a:p>
            <a:pPr lvl="1">
              <a:tabLst>
                <a:tab pos="3657600" algn="l"/>
                <a:tab pos="5889625" algn="l"/>
                <a:tab pos="7658100" algn="l"/>
              </a:tabLst>
            </a:pPr>
            <a:r>
              <a:rPr lang="pt-BR" dirty="0"/>
              <a:t>Total   = 350/wk	=   11,550/season</a:t>
            </a:r>
          </a:p>
        </p:txBody>
      </p:sp>
      <p:pic>
        <p:nvPicPr>
          <p:cNvPr id="2" name="Picture 1">
            <a:extLst>
              <a:ext uri="{FF2B5EF4-FFF2-40B4-BE49-F238E27FC236}">
                <a16:creationId xmlns:a16="http://schemas.microsoft.com/office/drawing/2014/main" id="{FA154BF1-BC53-C36E-D848-7F852323B30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5585679" y="2070195"/>
            <a:ext cx="6423440" cy="2717609"/>
          </a:xfrm>
          <a:prstGeom prst="rect">
            <a:avLst/>
          </a:prstGeom>
        </p:spPr>
      </p:pic>
    </p:spTree>
    <p:extLst>
      <p:ext uri="{BB962C8B-B14F-4D97-AF65-F5344CB8AC3E}">
        <p14:creationId xmlns:p14="http://schemas.microsoft.com/office/powerpoint/2010/main" val="12859651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30A338-07B9-56B7-D5B5-B4E22F12939F}"/>
              </a:ext>
            </a:extLst>
          </p:cNvPr>
          <p:cNvSpPr>
            <a:spLocks noGrp="1"/>
          </p:cNvSpPr>
          <p:nvPr>
            <p:ph idx="1"/>
          </p:nvPr>
        </p:nvSpPr>
        <p:spPr>
          <a:xfrm>
            <a:off x="100463" y="935719"/>
            <a:ext cx="10786611" cy="2302782"/>
          </a:xfrm>
        </p:spPr>
        <p:txBody>
          <a:bodyPr>
            <a:normAutofit/>
          </a:bodyPr>
          <a:lstStyle/>
          <a:p>
            <a:r>
              <a:rPr lang="en-US" sz="2400" dirty="0"/>
              <a:t>Predominant clade/subclade, HA sequence by geography</a:t>
            </a:r>
          </a:p>
          <a:p>
            <a:pPr lvl="1"/>
            <a:r>
              <a:rPr lang="en-US" sz="2000" dirty="0"/>
              <a:t>Confidence dependent on sample size</a:t>
            </a:r>
          </a:p>
          <a:p>
            <a:pPr marL="0" indent="0">
              <a:buNone/>
            </a:pPr>
            <a:endParaRPr lang="en-US" sz="2400" dirty="0"/>
          </a:p>
        </p:txBody>
      </p:sp>
      <p:sp>
        <p:nvSpPr>
          <p:cNvPr id="4" name="object 4">
            <a:extLst>
              <a:ext uri="{FF2B5EF4-FFF2-40B4-BE49-F238E27FC236}">
                <a16:creationId xmlns:a16="http://schemas.microsoft.com/office/drawing/2014/main" id="{755CA35C-91A9-A601-D32A-2333DCC2B86C}"/>
              </a:ext>
            </a:extLst>
          </p:cNvPr>
          <p:cNvSpPr txBox="1">
            <a:spLocks noGrp="1"/>
          </p:cNvSpPr>
          <p:nvPr>
            <p:ph type="title"/>
          </p:nvPr>
        </p:nvSpPr>
        <p:spPr>
          <a:xfrm>
            <a:off x="554831" y="245207"/>
            <a:ext cx="11082337" cy="498598"/>
          </a:xfrm>
          <a:prstGeom prst="rect">
            <a:avLst/>
          </a:prstGeom>
        </p:spPr>
        <p:txBody>
          <a:bodyPr vert="horz" wrap="square" lIns="0" tIns="0" rIns="0" bIns="0" rtlCol="0">
            <a:spAutoFit/>
          </a:bodyPr>
          <a:lstStyle/>
          <a:p>
            <a:r>
              <a:rPr lang="en-US" sz="3600" dirty="0"/>
              <a:t>Understand the genetic diversity in epidemic</a:t>
            </a:r>
          </a:p>
        </p:txBody>
      </p:sp>
      <p:pic>
        <p:nvPicPr>
          <p:cNvPr id="6" name="Picture 5">
            <a:extLst>
              <a:ext uri="{FF2B5EF4-FFF2-40B4-BE49-F238E27FC236}">
                <a16:creationId xmlns:a16="http://schemas.microsoft.com/office/drawing/2014/main" id="{D0DB0893-0055-C749-38B1-431A2F7D6754}"/>
              </a:ext>
            </a:extLst>
          </p:cNvPr>
          <p:cNvPicPr>
            <a:picLocks noChangeAspect="1"/>
          </p:cNvPicPr>
          <p:nvPr/>
        </p:nvPicPr>
        <p:blipFill>
          <a:blip r:embed="rId3"/>
          <a:stretch>
            <a:fillRect/>
          </a:stretch>
        </p:blipFill>
        <p:spPr>
          <a:xfrm>
            <a:off x="1762125" y="1931125"/>
            <a:ext cx="9124950" cy="4139434"/>
          </a:xfrm>
          <a:prstGeom prst="rect">
            <a:avLst/>
          </a:prstGeom>
        </p:spPr>
      </p:pic>
    </p:spTree>
    <p:extLst>
      <p:ext uri="{BB962C8B-B14F-4D97-AF65-F5344CB8AC3E}">
        <p14:creationId xmlns:p14="http://schemas.microsoft.com/office/powerpoint/2010/main" val="5091627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30A338-07B9-56B7-D5B5-B4E22F12939F}"/>
              </a:ext>
            </a:extLst>
          </p:cNvPr>
          <p:cNvSpPr>
            <a:spLocks noGrp="1"/>
          </p:cNvSpPr>
          <p:nvPr>
            <p:ph idx="1"/>
          </p:nvPr>
        </p:nvSpPr>
        <p:spPr>
          <a:xfrm>
            <a:off x="100463" y="935719"/>
            <a:ext cx="10824711" cy="2302782"/>
          </a:xfrm>
        </p:spPr>
        <p:txBody>
          <a:bodyPr>
            <a:normAutofit/>
          </a:bodyPr>
          <a:lstStyle/>
          <a:p>
            <a:r>
              <a:rPr lang="pt-BR" sz="2400" dirty="0"/>
              <a:t>What is the minimum proportion we are likely (i.e., confidence = 95%) to detect with a given sample size?</a:t>
            </a:r>
          </a:p>
          <a:p>
            <a:pPr lvl="1"/>
            <a:r>
              <a:rPr lang="pt-BR" sz="2000" dirty="0"/>
              <a:t>Goal to identify emerging genetic variants early</a:t>
            </a:r>
          </a:p>
          <a:p>
            <a:pPr marL="0" indent="0">
              <a:buNone/>
            </a:pPr>
            <a:endParaRPr lang="en-US" sz="2400" dirty="0"/>
          </a:p>
        </p:txBody>
      </p:sp>
      <p:sp>
        <p:nvSpPr>
          <p:cNvPr id="4" name="object 4">
            <a:extLst>
              <a:ext uri="{FF2B5EF4-FFF2-40B4-BE49-F238E27FC236}">
                <a16:creationId xmlns:a16="http://schemas.microsoft.com/office/drawing/2014/main" id="{755CA35C-91A9-A601-D32A-2333DCC2B86C}"/>
              </a:ext>
            </a:extLst>
          </p:cNvPr>
          <p:cNvSpPr txBox="1">
            <a:spLocks noGrp="1"/>
          </p:cNvSpPr>
          <p:nvPr>
            <p:ph type="title"/>
          </p:nvPr>
        </p:nvSpPr>
        <p:spPr>
          <a:xfrm>
            <a:off x="554831" y="245207"/>
            <a:ext cx="11082337" cy="498598"/>
          </a:xfrm>
          <a:prstGeom prst="rect">
            <a:avLst/>
          </a:prstGeom>
        </p:spPr>
        <p:txBody>
          <a:bodyPr vert="horz" wrap="square" lIns="0" tIns="0" rIns="0" bIns="0" rtlCol="0">
            <a:spAutoFit/>
          </a:bodyPr>
          <a:lstStyle/>
          <a:p>
            <a:r>
              <a:rPr lang="en-US" sz="3600" dirty="0"/>
              <a:t>Understand the genetic diversity in epidemic</a:t>
            </a:r>
          </a:p>
        </p:txBody>
      </p:sp>
      <p:pic>
        <p:nvPicPr>
          <p:cNvPr id="10" name="Picture 9">
            <a:extLst>
              <a:ext uri="{FF2B5EF4-FFF2-40B4-BE49-F238E27FC236}">
                <a16:creationId xmlns:a16="http://schemas.microsoft.com/office/drawing/2014/main" id="{B23DE500-EA4C-BF95-68F9-394CDF30B7E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529597" y="2397999"/>
            <a:ext cx="9132804" cy="3863878"/>
          </a:xfrm>
          <a:prstGeom prst="rect">
            <a:avLst/>
          </a:prstGeom>
        </p:spPr>
      </p:pic>
    </p:spTree>
    <p:extLst>
      <p:ext uri="{BB962C8B-B14F-4D97-AF65-F5344CB8AC3E}">
        <p14:creationId xmlns:p14="http://schemas.microsoft.com/office/powerpoint/2010/main" val="17255937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30A338-07B9-56B7-D5B5-B4E22F12939F}"/>
              </a:ext>
            </a:extLst>
          </p:cNvPr>
          <p:cNvSpPr>
            <a:spLocks noGrp="1"/>
          </p:cNvSpPr>
          <p:nvPr>
            <p:ph idx="1"/>
          </p:nvPr>
        </p:nvSpPr>
        <p:spPr>
          <a:xfrm>
            <a:off x="100463" y="935719"/>
            <a:ext cx="10824711" cy="2302782"/>
          </a:xfrm>
        </p:spPr>
        <p:txBody>
          <a:bodyPr>
            <a:normAutofit/>
          </a:bodyPr>
          <a:lstStyle/>
          <a:p>
            <a:r>
              <a:rPr lang="en-US" sz="2400" dirty="0"/>
              <a:t>Change in clade/subclade, HA sequence over time</a:t>
            </a:r>
          </a:p>
          <a:p>
            <a:pPr marL="0" indent="0">
              <a:buNone/>
            </a:pPr>
            <a:endParaRPr lang="en-US" sz="2400" dirty="0"/>
          </a:p>
        </p:txBody>
      </p:sp>
      <p:sp>
        <p:nvSpPr>
          <p:cNvPr id="4" name="object 4">
            <a:extLst>
              <a:ext uri="{FF2B5EF4-FFF2-40B4-BE49-F238E27FC236}">
                <a16:creationId xmlns:a16="http://schemas.microsoft.com/office/drawing/2014/main" id="{755CA35C-91A9-A601-D32A-2333DCC2B86C}"/>
              </a:ext>
            </a:extLst>
          </p:cNvPr>
          <p:cNvSpPr txBox="1">
            <a:spLocks noGrp="1"/>
          </p:cNvSpPr>
          <p:nvPr>
            <p:ph type="title"/>
          </p:nvPr>
        </p:nvSpPr>
        <p:spPr>
          <a:xfrm>
            <a:off x="554831" y="245207"/>
            <a:ext cx="11082337" cy="498598"/>
          </a:xfrm>
          <a:prstGeom prst="rect">
            <a:avLst/>
          </a:prstGeom>
        </p:spPr>
        <p:txBody>
          <a:bodyPr vert="horz" wrap="square" lIns="0" tIns="0" rIns="0" bIns="0" rtlCol="0">
            <a:spAutoFit/>
          </a:bodyPr>
          <a:lstStyle/>
          <a:p>
            <a:r>
              <a:rPr lang="en-US" sz="3600" dirty="0"/>
              <a:t>Understand the genetic diversity in epidemic</a:t>
            </a:r>
          </a:p>
        </p:txBody>
      </p:sp>
      <p:pic>
        <p:nvPicPr>
          <p:cNvPr id="7" name="Picture 6">
            <a:extLst>
              <a:ext uri="{FF2B5EF4-FFF2-40B4-BE49-F238E27FC236}">
                <a16:creationId xmlns:a16="http://schemas.microsoft.com/office/drawing/2014/main" id="{B65F3CA8-9E77-C8C7-F113-D234AA3BE8A4}"/>
              </a:ext>
            </a:extLst>
          </p:cNvPr>
          <p:cNvPicPr>
            <a:picLocks noChangeAspect="1"/>
          </p:cNvPicPr>
          <p:nvPr/>
        </p:nvPicPr>
        <p:blipFill>
          <a:blip r:embed="rId2"/>
          <a:stretch>
            <a:fillRect/>
          </a:stretch>
        </p:blipFill>
        <p:spPr>
          <a:xfrm>
            <a:off x="2006618" y="1877961"/>
            <a:ext cx="8413732" cy="4261324"/>
          </a:xfrm>
          <a:prstGeom prst="rect">
            <a:avLst/>
          </a:prstGeom>
        </p:spPr>
      </p:pic>
    </p:spTree>
    <p:extLst>
      <p:ext uri="{BB962C8B-B14F-4D97-AF65-F5344CB8AC3E}">
        <p14:creationId xmlns:p14="http://schemas.microsoft.com/office/powerpoint/2010/main" val="35128464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BAA2E6-01D8-407F-8A97-35ACA0A01633}"/>
              </a:ext>
            </a:extLst>
          </p:cNvPr>
          <p:cNvSpPr>
            <a:spLocks noGrp="1"/>
          </p:cNvSpPr>
          <p:nvPr>
            <p:ph type="title"/>
          </p:nvPr>
        </p:nvSpPr>
        <p:spPr>
          <a:xfrm>
            <a:off x="104775" y="69129"/>
            <a:ext cx="11677649" cy="750021"/>
          </a:xfrm>
        </p:spPr>
        <p:txBody>
          <a:bodyPr vert="horz" lIns="91440" tIns="45720" rIns="91440" bIns="45720" rtlCol="0" anchor="ctr">
            <a:normAutofit/>
          </a:bodyPr>
          <a:lstStyle/>
          <a:p>
            <a:r>
              <a:rPr lang="en-US" kern="1200" dirty="0">
                <a:solidFill>
                  <a:srgbClr val="0057B7"/>
                </a:solidFill>
                <a:ea typeface="+mj-ea"/>
                <a:cs typeface="+mj-cs"/>
              </a:rPr>
              <a:t>Genotype to Phenotype</a:t>
            </a:r>
          </a:p>
        </p:txBody>
      </p:sp>
      <p:sp>
        <p:nvSpPr>
          <p:cNvPr id="3" name="Content Placeholder 2">
            <a:extLst>
              <a:ext uri="{FF2B5EF4-FFF2-40B4-BE49-F238E27FC236}">
                <a16:creationId xmlns:a16="http://schemas.microsoft.com/office/drawing/2014/main" id="{DC0FECF8-C07B-4992-8D8E-1EEF626B2172}"/>
              </a:ext>
            </a:extLst>
          </p:cNvPr>
          <p:cNvSpPr>
            <a:spLocks noGrp="1"/>
          </p:cNvSpPr>
          <p:nvPr>
            <p:ph idx="1"/>
          </p:nvPr>
        </p:nvSpPr>
        <p:spPr>
          <a:xfrm>
            <a:off x="4239386" y="1101883"/>
            <a:ext cx="7679817" cy="2971800"/>
          </a:xfrm>
        </p:spPr>
        <p:txBody>
          <a:bodyPr vert="horz" lIns="91440" tIns="45720" rIns="91440" bIns="45720" rtlCol="0" anchor="ctr">
            <a:noAutofit/>
          </a:bodyPr>
          <a:lstStyle/>
          <a:p>
            <a:r>
              <a:rPr lang="en-US" sz="2000" dirty="0"/>
              <a:t>Create phenotypic data representing the circulating genetic diversity</a:t>
            </a:r>
          </a:p>
          <a:p>
            <a:pPr lvl="1"/>
            <a:r>
              <a:rPr lang="en-US" sz="2000" dirty="0"/>
              <a:t>Prioritize viruses by their HA sequence and global observance</a:t>
            </a:r>
          </a:p>
          <a:p>
            <a:pPr lvl="1"/>
            <a:r>
              <a:rPr lang="en-US" sz="2000" dirty="0"/>
              <a:t>Create testing goal per HA sequence</a:t>
            </a:r>
          </a:p>
          <a:p>
            <a:r>
              <a:rPr lang="en-US" sz="2000" dirty="0"/>
              <a:t>Determine molecular determinants of antigenic change through genetic and antigenic data integration</a:t>
            </a:r>
          </a:p>
          <a:p>
            <a:pPr lvl="1"/>
            <a:r>
              <a:rPr lang="en-US" sz="2000" dirty="0"/>
              <a:t>E.g., Amino acid positions N158K and K189R associated with decreased antibody recognition using post-infection ferret antisera</a:t>
            </a:r>
          </a:p>
          <a:p>
            <a:pPr lvl="1"/>
            <a:r>
              <a:rPr lang="en-US" sz="2000" dirty="0"/>
              <a:t>Identify genetic and antigenic lineages for additional analysis using human sera</a:t>
            </a:r>
          </a:p>
          <a:p>
            <a:pPr marL="457200" lvl="1" indent="0">
              <a:buNone/>
            </a:pPr>
            <a:endParaRPr lang="en-US" sz="2000" dirty="0"/>
          </a:p>
        </p:txBody>
      </p:sp>
      <p:pic>
        <p:nvPicPr>
          <p:cNvPr id="31" name="Picture 30">
            <a:extLst>
              <a:ext uri="{FF2B5EF4-FFF2-40B4-BE49-F238E27FC236}">
                <a16:creationId xmlns:a16="http://schemas.microsoft.com/office/drawing/2014/main" id="{2870FF0E-2FC4-F029-F1E4-B58ED6053DD1}"/>
              </a:ext>
            </a:extLst>
          </p:cNvPr>
          <p:cNvPicPr>
            <a:picLocks noChangeAspect="1"/>
          </p:cNvPicPr>
          <p:nvPr/>
        </p:nvPicPr>
        <p:blipFill>
          <a:blip r:embed="rId2"/>
          <a:stretch>
            <a:fillRect/>
          </a:stretch>
        </p:blipFill>
        <p:spPr>
          <a:xfrm>
            <a:off x="104775" y="895351"/>
            <a:ext cx="4007931" cy="4476749"/>
          </a:xfrm>
          <a:prstGeom prst="rect">
            <a:avLst/>
          </a:prstGeom>
        </p:spPr>
      </p:pic>
      <p:pic>
        <p:nvPicPr>
          <p:cNvPr id="32" name="Picture 31">
            <a:extLst>
              <a:ext uri="{FF2B5EF4-FFF2-40B4-BE49-F238E27FC236}">
                <a16:creationId xmlns:a16="http://schemas.microsoft.com/office/drawing/2014/main" id="{52292BA2-5ABE-FB5F-BF59-00C68856CF6E}"/>
              </a:ext>
            </a:extLst>
          </p:cNvPr>
          <p:cNvPicPr>
            <a:picLocks noChangeAspect="1"/>
          </p:cNvPicPr>
          <p:nvPr/>
        </p:nvPicPr>
        <p:blipFill>
          <a:blip r:embed="rId3"/>
          <a:srcRect t="46758"/>
          <a:stretch/>
        </p:blipFill>
        <p:spPr>
          <a:xfrm>
            <a:off x="4274058" y="4270217"/>
            <a:ext cx="7610475" cy="2203766"/>
          </a:xfrm>
          <a:prstGeom prst="rect">
            <a:avLst/>
          </a:prstGeom>
        </p:spPr>
      </p:pic>
    </p:spTree>
    <p:extLst>
      <p:ext uri="{BB962C8B-B14F-4D97-AF65-F5344CB8AC3E}">
        <p14:creationId xmlns:p14="http://schemas.microsoft.com/office/powerpoint/2010/main" val="32840044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A2A6559-5372-B10B-316B-5EFAC04D1BF0}"/>
              </a:ext>
            </a:extLst>
          </p:cNvPr>
          <p:cNvSpPr txBox="1">
            <a:spLocks/>
          </p:cNvSpPr>
          <p:nvPr/>
        </p:nvSpPr>
        <p:spPr>
          <a:xfrm>
            <a:off x="104775" y="69129"/>
            <a:ext cx="11677649" cy="750021"/>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3600" kern="1200">
                <a:solidFill>
                  <a:srgbClr val="0057B7"/>
                </a:solidFill>
                <a:latin typeface="+mn-lt"/>
                <a:ea typeface="+mj-ea"/>
                <a:cs typeface="+mj-cs"/>
              </a:defRPr>
            </a:lvl1pPr>
          </a:lstStyle>
          <a:p>
            <a:r>
              <a:rPr lang="en-US"/>
              <a:t>Genotype to Phenotype</a:t>
            </a:r>
            <a:endParaRPr lang="en-US" dirty="0"/>
          </a:p>
        </p:txBody>
      </p:sp>
      <p:sp>
        <p:nvSpPr>
          <p:cNvPr id="7" name="TextBox 6">
            <a:extLst>
              <a:ext uri="{FF2B5EF4-FFF2-40B4-BE49-F238E27FC236}">
                <a16:creationId xmlns:a16="http://schemas.microsoft.com/office/drawing/2014/main" id="{5FE207FE-FC3C-A5C7-E016-750FA78C3A8A}"/>
              </a:ext>
            </a:extLst>
          </p:cNvPr>
          <p:cNvSpPr txBox="1"/>
          <p:nvPr/>
        </p:nvSpPr>
        <p:spPr>
          <a:xfrm>
            <a:off x="383380" y="871819"/>
            <a:ext cx="11256169" cy="923330"/>
          </a:xfrm>
          <a:prstGeom prst="rect">
            <a:avLst/>
          </a:prstGeom>
          <a:noFill/>
        </p:spPr>
        <p:txBody>
          <a:bodyPr wrap="square">
            <a:spAutoFit/>
          </a:bodyPr>
          <a:lstStyle/>
          <a:p>
            <a:r>
              <a:rPr lang="en-US" i="1" dirty="0"/>
              <a:t>Infer Antigenic Characterization for HA proteins which have met testing and result quality thresholds</a:t>
            </a:r>
          </a:p>
          <a:p>
            <a:pPr marL="742950" lvl="1" indent="-285750">
              <a:buFont typeface="Arial" panose="020B0604020202020204" pitchFamily="34" charset="0"/>
              <a:buChar char="•"/>
            </a:pPr>
            <a:r>
              <a:rPr lang="en-US" i="1" dirty="0"/>
              <a:t>more of the genetic variation seen within a season to have actional antigenic results in time for the vaccine selection meetings</a:t>
            </a:r>
          </a:p>
        </p:txBody>
      </p:sp>
      <p:pic>
        <p:nvPicPr>
          <p:cNvPr id="11" name="Picture 10">
            <a:extLst>
              <a:ext uri="{FF2B5EF4-FFF2-40B4-BE49-F238E27FC236}">
                <a16:creationId xmlns:a16="http://schemas.microsoft.com/office/drawing/2014/main" id="{C468C710-C177-9A8B-BC79-7DD43BED081B}"/>
              </a:ext>
            </a:extLst>
          </p:cNvPr>
          <p:cNvPicPr>
            <a:picLocks noChangeAspect="1"/>
          </p:cNvPicPr>
          <p:nvPr/>
        </p:nvPicPr>
        <p:blipFill>
          <a:blip r:embed="rId2"/>
          <a:stretch>
            <a:fillRect/>
          </a:stretch>
        </p:blipFill>
        <p:spPr>
          <a:xfrm>
            <a:off x="383380" y="2152649"/>
            <a:ext cx="5177470" cy="3813886"/>
          </a:xfrm>
          <a:prstGeom prst="rect">
            <a:avLst/>
          </a:prstGeom>
        </p:spPr>
      </p:pic>
      <p:pic>
        <p:nvPicPr>
          <p:cNvPr id="13" name="Picture 12">
            <a:extLst>
              <a:ext uri="{FF2B5EF4-FFF2-40B4-BE49-F238E27FC236}">
                <a16:creationId xmlns:a16="http://schemas.microsoft.com/office/drawing/2014/main" id="{6AD9B3EC-8970-9D94-CF8A-9387CBE9DA83}"/>
              </a:ext>
            </a:extLst>
          </p:cNvPr>
          <p:cNvPicPr>
            <a:picLocks noChangeAspect="1"/>
          </p:cNvPicPr>
          <p:nvPr/>
        </p:nvPicPr>
        <p:blipFill>
          <a:blip r:embed="rId3"/>
          <a:stretch>
            <a:fillRect/>
          </a:stretch>
        </p:blipFill>
        <p:spPr>
          <a:xfrm>
            <a:off x="6448321" y="2070444"/>
            <a:ext cx="5334103" cy="3896091"/>
          </a:xfrm>
          <a:prstGeom prst="rect">
            <a:avLst/>
          </a:prstGeom>
        </p:spPr>
      </p:pic>
      <p:sp>
        <p:nvSpPr>
          <p:cNvPr id="14" name="TextBox 13">
            <a:extLst>
              <a:ext uri="{FF2B5EF4-FFF2-40B4-BE49-F238E27FC236}">
                <a16:creationId xmlns:a16="http://schemas.microsoft.com/office/drawing/2014/main" id="{B2149621-75D9-AF3D-8D37-4F35C0CC63AE}"/>
              </a:ext>
            </a:extLst>
          </p:cNvPr>
          <p:cNvSpPr txBox="1"/>
          <p:nvPr/>
        </p:nvSpPr>
        <p:spPr>
          <a:xfrm>
            <a:off x="2619375" y="5954703"/>
            <a:ext cx="1276440" cy="369332"/>
          </a:xfrm>
          <a:prstGeom prst="rect">
            <a:avLst/>
          </a:prstGeom>
          <a:noFill/>
        </p:spPr>
        <p:txBody>
          <a:bodyPr wrap="none" rtlCol="0">
            <a:spAutoFit/>
          </a:bodyPr>
          <a:lstStyle/>
          <a:p>
            <a:r>
              <a:rPr lang="en-US" dirty="0"/>
              <a:t>Test Results</a:t>
            </a:r>
          </a:p>
        </p:txBody>
      </p:sp>
      <p:sp>
        <p:nvSpPr>
          <p:cNvPr id="15" name="TextBox 14">
            <a:extLst>
              <a:ext uri="{FF2B5EF4-FFF2-40B4-BE49-F238E27FC236}">
                <a16:creationId xmlns:a16="http://schemas.microsoft.com/office/drawing/2014/main" id="{25C7C4F9-866F-A2A8-F31B-B5DD8BE9E26A}"/>
              </a:ext>
            </a:extLst>
          </p:cNvPr>
          <p:cNvSpPr txBox="1"/>
          <p:nvPr/>
        </p:nvSpPr>
        <p:spPr>
          <a:xfrm>
            <a:off x="8191412" y="5949063"/>
            <a:ext cx="2489399" cy="369332"/>
          </a:xfrm>
          <a:prstGeom prst="rect">
            <a:avLst/>
          </a:prstGeom>
          <a:noFill/>
        </p:spPr>
        <p:txBody>
          <a:bodyPr wrap="none" rtlCol="0">
            <a:spAutoFit/>
          </a:bodyPr>
          <a:lstStyle/>
          <a:p>
            <a:r>
              <a:rPr lang="en-US" dirty="0"/>
              <a:t>Test and Inferred Results</a:t>
            </a:r>
          </a:p>
        </p:txBody>
      </p:sp>
    </p:spTree>
    <p:extLst>
      <p:ext uri="{BB962C8B-B14F-4D97-AF65-F5344CB8AC3E}">
        <p14:creationId xmlns:p14="http://schemas.microsoft.com/office/powerpoint/2010/main" val="2793801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43607" y="228236"/>
            <a:ext cx="10515600" cy="693683"/>
          </a:xfrm>
        </p:spPr>
        <p:txBody>
          <a:bodyPr>
            <a:normAutofit/>
          </a:bodyPr>
          <a:lstStyle/>
          <a:p>
            <a:r>
              <a:rPr lang="en-US"/>
              <a:t>Predictive Models</a:t>
            </a:r>
          </a:p>
        </p:txBody>
      </p:sp>
      <p:sp>
        <p:nvSpPr>
          <p:cNvPr id="3" name="Content Placeholder 2"/>
          <p:cNvSpPr>
            <a:spLocks noGrp="1"/>
          </p:cNvSpPr>
          <p:nvPr>
            <p:ph idx="1"/>
          </p:nvPr>
        </p:nvSpPr>
        <p:spPr>
          <a:xfrm>
            <a:off x="145780" y="1598960"/>
            <a:ext cx="11619814" cy="3584450"/>
          </a:xfrm>
        </p:spPr>
        <p:txBody>
          <a:bodyPr>
            <a:noAutofit/>
          </a:bodyPr>
          <a:lstStyle/>
          <a:p>
            <a:pPr marL="457200" lvl="1" indent="0">
              <a:buNone/>
            </a:pPr>
            <a:endParaRPr lang="en-US" dirty="0"/>
          </a:p>
          <a:p>
            <a:pPr lvl="1"/>
            <a:r>
              <a:rPr lang="en-US" dirty="0" err="1"/>
              <a:t>NextFlu</a:t>
            </a:r>
            <a:r>
              <a:rPr lang="en-US" dirty="0"/>
              <a:t> – Richard Neher and Trevor Bedford</a:t>
            </a:r>
          </a:p>
          <a:p>
            <a:pPr lvl="1"/>
            <a:r>
              <a:rPr lang="en-US" dirty="0"/>
              <a:t>Previr - Marta Luksza and Michael Lassig</a:t>
            </a:r>
          </a:p>
          <a:p>
            <a:r>
              <a:rPr lang="en-US" sz="2400" dirty="0"/>
              <a:t>Clade fitness models </a:t>
            </a:r>
          </a:p>
          <a:p>
            <a:pPr lvl="1"/>
            <a:r>
              <a:rPr lang="en-US" dirty="0"/>
              <a:t>Sequence data from GISAID</a:t>
            </a:r>
          </a:p>
          <a:p>
            <a:pPr lvl="2"/>
            <a:r>
              <a:rPr lang="en-US" sz="2400" dirty="0"/>
              <a:t>Clade frequency</a:t>
            </a:r>
          </a:p>
          <a:p>
            <a:pPr lvl="2"/>
            <a:r>
              <a:rPr lang="en-US" sz="2400" dirty="0"/>
              <a:t>Mutational load</a:t>
            </a:r>
          </a:p>
          <a:p>
            <a:pPr lvl="2"/>
            <a:r>
              <a:rPr lang="en-US" sz="2400" dirty="0"/>
              <a:t>Epitope sites</a:t>
            </a:r>
          </a:p>
          <a:p>
            <a:pPr lvl="1"/>
            <a:r>
              <a:rPr lang="en-US" dirty="0"/>
              <a:t>Antigenic data from HI or neutralization assays</a:t>
            </a:r>
          </a:p>
          <a:p>
            <a:pPr lvl="1"/>
            <a:r>
              <a:rPr lang="en-US" dirty="0"/>
              <a:t>Corresponding meta-data</a:t>
            </a:r>
          </a:p>
          <a:p>
            <a:pPr lvl="1"/>
            <a:r>
              <a:rPr lang="en-US" dirty="0"/>
              <a:t>Correlated epidemiological data</a:t>
            </a:r>
          </a:p>
          <a:p>
            <a:pPr marL="0" indent="0">
              <a:buNone/>
            </a:pPr>
            <a:endParaRPr lang="en-US" sz="2400" dirty="0"/>
          </a:p>
          <a:p>
            <a:pPr marL="457200" lvl="1" indent="0">
              <a:buNone/>
            </a:pPr>
            <a:endParaRPr lang="en-US" dirty="0"/>
          </a:p>
          <a:p>
            <a:pPr marL="457200" lvl="1" indent="0">
              <a:buNone/>
            </a:pPr>
            <a:endParaRPr lang="en-US" dirty="0"/>
          </a:p>
          <a:p>
            <a:pPr lvl="1"/>
            <a:endParaRPr lang="en-US" dirty="0"/>
          </a:p>
        </p:txBody>
      </p:sp>
      <p:sp>
        <p:nvSpPr>
          <p:cNvPr id="4" name="Rectangle 3"/>
          <p:cNvSpPr/>
          <p:nvPr/>
        </p:nvSpPr>
        <p:spPr>
          <a:xfrm>
            <a:off x="6096000" y="4136964"/>
            <a:ext cx="2726938" cy="584775"/>
          </a:xfrm>
          <a:prstGeom prst="rect">
            <a:avLst/>
          </a:prstGeom>
        </p:spPr>
        <p:txBody>
          <a:bodyPr wrap="square">
            <a:spAutoFit/>
          </a:bodyPr>
          <a:lstStyle/>
          <a:p>
            <a:r>
              <a:rPr lang="en-US" sz="1600"/>
              <a:t>Luksza M, </a:t>
            </a:r>
            <a:r>
              <a:rPr lang="en-US" sz="1600" err="1"/>
              <a:t>Lässig</a:t>
            </a:r>
            <a:r>
              <a:rPr lang="en-US" sz="1600"/>
              <a:t> M. </a:t>
            </a:r>
            <a:r>
              <a:rPr lang="en-US" sz="1600" i="1"/>
              <a:t>Nature</a:t>
            </a:r>
            <a:r>
              <a:rPr lang="en-US" sz="1600"/>
              <a:t>. 2014 Mar 6;507(7490):57-61</a:t>
            </a:r>
          </a:p>
        </p:txBody>
      </p:sp>
      <p:sp>
        <p:nvSpPr>
          <p:cNvPr id="5" name="TextBox 4"/>
          <p:cNvSpPr txBox="1"/>
          <p:nvPr/>
        </p:nvSpPr>
        <p:spPr>
          <a:xfrm>
            <a:off x="8673018" y="5494525"/>
            <a:ext cx="3697554" cy="646331"/>
          </a:xfrm>
          <a:prstGeom prst="rect">
            <a:avLst/>
          </a:prstGeom>
          <a:noFill/>
        </p:spPr>
        <p:txBody>
          <a:bodyPr wrap="square" rtlCol="0">
            <a:spAutoFit/>
          </a:bodyPr>
          <a:lstStyle/>
          <a:p>
            <a:r>
              <a:rPr lang="en-US"/>
              <a:t>Neher RA, Bedford T. </a:t>
            </a:r>
            <a:r>
              <a:rPr lang="en-US" i="1"/>
              <a:t>Bioinformatics</a:t>
            </a:r>
            <a:r>
              <a:rPr lang="en-US"/>
              <a:t>. 2015 Nov 1;31(21):3546-8. </a:t>
            </a:r>
          </a:p>
        </p:txBody>
      </p:sp>
      <p:pic>
        <p:nvPicPr>
          <p:cNvPr id="8" name="Picture 7">
            <a:extLst>
              <a:ext uri="{FF2B5EF4-FFF2-40B4-BE49-F238E27FC236}">
                <a16:creationId xmlns:a16="http://schemas.microsoft.com/office/drawing/2014/main" id="{9E490D10-A7EB-4B7E-9049-66A309FE0C4B}"/>
              </a:ext>
            </a:extLst>
          </p:cNvPr>
          <p:cNvPicPr>
            <a:picLocks noChangeAspect="1"/>
          </p:cNvPicPr>
          <p:nvPr/>
        </p:nvPicPr>
        <p:blipFill>
          <a:blip r:embed="rId2"/>
          <a:stretch>
            <a:fillRect/>
          </a:stretch>
        </p:blipFill>
        <p:spPr>
          <a:xfrm>
            <a:off x="8800685" y="1553792"/>
            <a:ext cx="2726939" cy="3674787"/>
          </a:xfrm>
          <a:prstGeom prst="rect">
            <a:avLst/>
          </a:prstGeom>
        </p:spPr>
      </p:pic>
      <p:sp>
        <p:nvSpPr>
          <p:cNvPr id="9" name="Rectangle 8">
            <a:extLst>
              <a:ext uri="{FF2B5EF4-FFF2-40B4-BE49-F238E27FC236}">
                <a16:creationId xmlns:a16="http://schemas.microsoft.com/office/drawing/2014/main" id="{A6F19EF7-4856-4F97-8BB2-E1C59A65F0EB}"/>
              </a:ext>
            </a:extLst>
          </p:cNvPr>
          <p:cNvSpPr/>
          <p:nvPr/>
        </p:nvSpPr>
        <p:spPr>
          <a:xfrm>
            <a:off x="8718738" y="5125193"/>
            <a:ext cx="3697554" cy="369332"/>
          </a:xfrm>
          <a:prstGeom prst="rect">
            <a:avLst/>
          </a:prstGeom>
        </p:spPr>
        <p:txBody>
          <a:bodyPr wrap="square">
            <a:spAutoFit/>
          </a:bodyPr>
          <a:lstStyle/>
          <a:p>
            <a:r>
              <a:rPr lang="en-US"/>
              <a:t>Huddleston J, et al. </a:t>
            </a:r>
            <a:r>
              <a:rPr lang="en-US" i="1" err="1"/>
              <a:t>eLife</a:t>
            </a:r>
            <a:r>
              <a:rPr lang="en-US" i="1"/>
              <a:t> 9:e60067</a:t>
            </a:r>
            <a:endParaRPr lang="en-US"/>
          </a:p>
        </p:txBody>
      </p:sp>
      <p:pic>
        <p:nvPicPr>
          <p:cNvPr id="11" name="Picture 10">
            <a:extLst>
              <a:ext uri="{FF2B5EF4-FFF2-40B4-BE49-F238E27FC236}">
                <a16:creationId xmlns:a16="http://schemas.microsoft.com/office/drawing/2014/main" id="{4EFBDE72-3317-46BD-9D1F-C9F0F6C11FCF}"/>
              </a:ext>
            </a:extLst>
          </p:cNvPr>
          <p:cNvPicPr>
            <a:picLocks noChangeAspect="1"/>
          </p:cNvPicPr>
          <p:nvPr/>
        </p:nvPicPr>
        <p:blipFill>
          <a:blip r:embed="rId3"/>
          <a:stretch>
            <a:fillRect/>
          </a:stretch>
        </p:blipFill>
        <p:spPr>
          <a:xfrm>
            <a:off x="6530340" y="1902372"/>
            <a:ext cx="1956989" cy="2212022"/>
          </a:xfrm>
          <a:prstGeom prst="rect">
            <a:avLst/>
          </a:prstGeom>
        </p:spPr>
      </p:pic>
      <p:sp>
        <p:nvSpPr>
          <p:cNvPr id="12" name="TextBox 11">
            <a:extLst>
              <a:ext uri="{FF2B5EF4-FFF2-40B4-BE49-F238E27FC236}">
                <a16:creationId xmlns:a16="http://schemas.microsoft.com/office/drawing/2014/main" id="{3420642B-F150-4829-A184-814E106CA2B8}"/>
              </a:ext>
            </a:extLst>
          </p:cNvPr>
          <p:cNvSpPr txBox="1"/>
          <p:nvPr/>
        </p:nvSpPr>
        <p:spPr>
          <a:xfrm>
            <a:off x="664376" y="991615"/>
            <a:ext cx="10837454" cy="830997"/>
          </a:xfrm>
          <a:prstGeom prst="rect">
            <a:avLst/>
          </a:prstGeom>
          <a:noFill/>
        </p:spPr>
        <p:txBody>
          <a:bodyPr wrap="none" rtlCol="0">
            <a:spAutoFit/>
          </a:bodyPr>
          <a:lstStyle/>
          <a:p>
            <a:r>
              <a:rPr lang="en-US" sz="2400" b="1"/>
              <a:t>Goals: predict the </a:t>
            </a:r>
            <a:r>
              <a:rPr lang="en-US" sz="2400" b="1" i="1" u="sng"/>
              <a:t>clade</a:t>
            </a:r>
            <a:r>
              <a:rPr lang="en-US" sz="2400" b="1"/>
              <a:t> which will </a:t>
            </a:r>
            <a:r>
              <a:rPr lang="en-US" sz="2400" b="1" i="1" u="sng"/>
              <a:t>continue</a:t>
            </a:r>
            <a:r>
              <a:rPr lang="en-US" sz="2400" b="1"/>
              <a:t> to circulate in the next 6 months/1 year</a:t>
            </a:r>
          </a:p>
          <a:p>
            <a:endParaRPr lang="en-US" sz="2400" b="1"/>
          </a:p>
        </p:txBody>
      </p:sp>
    </p:spTree>
    <p:extLst>
      <p:ext uri="{BB962C8B-B14F-4D97-AF65-F5344CB8AC3E}">
        <p14:creationId xmlns:p14="http://schemas.microsoft.com/office/powerpoint/2010/main" val="25070962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txBox="1">
            <a:spLocks/>
          </p:cNvSpPr>
          <p:nvPr/>
        </p:nvSpPr>
        <p:spPr>
          <a:xfrm>
            <a:off x="800100" y="49161"/>
            <a:ext cx="10515600" cy="1325563"/>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4400" b="0" kern="1200">
                <a:solidFill>
                  <a:schemeClr val="accent1">
                    <a:lumMod val="75000"/>
                  </a:schemeClr>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3600" b="1" i="0" u="none" strike="noStrike" kern="1200" cap="none" spc="0" normalizeH="0" baseline="0" noProof="0" dirty="0">
                <a:ln>
                  <a:noFill/>
                </a:ln>
                <a:solidFill>
                  <a:srgbClr val="0057B7"/>
                </a:solidFill>
                <a:effectLst/>
                <a:uLnTx/>
                <a:uFillTx/>
                <a:latin typeface="Calibri Light" panose="020F0302020204030204"/>
                <a:ea typeface="+mj-ea"/>
                <a:cs typeface="+mj-cs"/>
              </a:rPr>
              <a:t>Current state of predictive modeling</a:t>
            </a:r>
          </a:p>
        </p:txBody>
      </p:sp>
      <p:sp>
        <p:nvSpPr>
          <p:cNvPr id="6" name="TextBox 5"/>
          <p:cNvSpPr txBox="1"/>
          <p:nvPr/>
        </p:nvSpPr>
        <p:spPr>
          <a:xfrm>
            <a:off x="562429" y="1153660"/>
            <a:ext cx="10990942" cy="483209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Still a lot of work to do</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Unable to predict which clade will predominate – but can have confidence that it will persist</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Unable to predict which new clades will emerge</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Unable to predict which A subtype or B lineage will predominate</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Virus phenotype changes</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Geographic and temporal differences in clade proportions</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Clade turnover rate differences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Influenza B and A(H1N1)pdm09 – need to assess the how the models based on A(H3N2) work for other subtypes </a:t>
            </a:r>
          </a:p>
        </p:txBody>
      </p:sp>
    </p:spTree>
    <p:extLst>
      <p:ext uri="{BB962C8B-B14F-4D97-AF65-F5344CB8AC3E}">
        <p14:creationId xmlns:p14="http://schemas.microsoft.com/office/powerpoint/2010/main" val="38556272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2932" y="283265"/>
            <a:ext cx="11066136" cy="1325563"/>
          </a:xfrm>
        </p:spPr>
        <p:txBody>
          <a:bodyPr>
            <a:normAutofit/>
          </a:bodyPr>
          <a:lstStyle/>
          <a:p>
            <a:r>
              <a:rPr lang="en-US" sz="4000" dirty="0"/>
              <a:t>Future Landscape of Influenza Genomics</a:t>
            </a:r>
            <a:endParaRPr lang="en-US" sz="4800" dirty="0">
              <a:latin typeface="+mn-lt"/>
            </a:endParaRPr>
          </a:p>
        </p:txBody>
      </p:sp>
      <p:sp>
        <p:nvSpPr>
          <p:cNvPr id="3" name="Content Placeholder 2"/>
          <p:cNvSpPr>
            <a:spLocks noGrp="1"/>
          </p:cNvSpPr>
          <p:nvPr>
            <p:ph idx="1"/>
          </p:nvPr>
        </p:nvSpPr>
        <p:spPr>
          <a:xfrm>
            <a:off x="235107" y="1323068"/>
            <a:ext cx="5413697" cy="5425440"/>
          </a:xfrm>
        </p:spPr>
        <p:txBody>
          <a:bodyPr>
            <a:noAutofit/>
          </a:bodyPr>
          <a:lstStyle/>
          <a:p>
            <a:r>
              <a:rPr lang="en-US" sz="2400" dirty="0"/>
              <a:t>Improved lab-epi data integration </a:t>
            </a:r>
          </a:p>
          <a:p>
            <a:pPr lvl="1"/>
            <a:r>
              <a:rPr lang="en-US" dirty="0"/>
              <a:t>Automated electronic lab reporting</a:t>
            </a:r>
          </a:p>
          <a:p>
            <a:pPr lvl="1"/>
            <a:r>
              <a:rPr lang="en-US" dirty="0"/>
              <a:t>Data lake approach</a:t>
            </a:r>
          </a:p>
          <a:p>
            <a:pPr lvl="1"/>
            <a:r>
              <a:rPr lang="en-US" dirty="0"/>
              <a:t>Cloud computing</a:t>
            </a:r>
          </a:p>
          <a:p>
            <a:r>
              <a:rPr lang="en-US" sz="2400" dirty="0"/>
              <a:t>Synthetic genomics</a:t>
            </a:r>
          </a:p>
          <a:p>
            <a:pPr lvl="1"/>
            <a:r>
              <a:rPr lang="en-US" dirty="0"/>
              <a:t>Rapidly generated viruses from sequence data</a:t>
            </a:r>
          </a:p>
          <a:p>
            <a:r>
              <a:rPr lang="en-US" sz="2400" dirty="0"/>
              <a:t>New vaccine strategies may require different data analysis for recommendations  </a:t>
            </a:r>
          </a:p>
          <a:p>
            <a:pPr lvl="1"/>
            <a:endParaRPr lang="en-US" sz="2000" dirty="0"/>
          </a:p>
          <a:p>
            <a:endParaRPr lang="en-US" sz="2400" dirty="0"/>
          </a:p>
          <a:p>
            <a:endParaRPr lang="en-US" sz="2400" dirty="0"/>
          </a:p>
          <a:p>
            <a:endParaRPr lang="en-US" sz="2400" dirty="0"/>
          </a:p>
        </p:txBody>
      </p:sp>
      <p:pic>
        <p:nvPicPr>
          <p:cNvPr id="6" name="Picture 5">
            <a:extLst>
              <a:ext uri="{FF2B5EF4-FFF2-40B4-BE49-F238E27FC236}">
                <a16:creationId xmlns:a16="http://schemas.microsoft.com/office/drawing/2014/main" id="{5CD1E415-F431-4764-AC46-A64A86DFA95A}"/>
              </a:ext>
            </a:extLst>
          </p:cNvPr>
          <p:cNvPicPr>
            <a:picLocks noChangeAspect="1"/>
          </p:cNvPicPr>
          <p:nvPr/>
        </p:nvPicPr>
        <p:blipFill>
          <a:blip r:embed="rId2"/>
          <a:stretch>
            <a:fillRect/>
          </a:stretch>
        </p:blipFill>
        <p:spPr>
          <a:xfrm>
            <a:off x="5729224" y="2281129"/>
            <a:ext cx="5943531" cy="2024266"/>
          </a:xfrm>
          <a:prstGeom prst="rect">
            <a:avLst/>
          </a:prstGeom>
        </p:spPr>
      </p:pic>
      <p:sp>
        <p:nvSpPr>
          <p:cNvPr id="9" name="TextBox 8">
            <a:extLst>
              <a:ext uri="{FF2B5EF4-FFF2-40B4-BE49-F238E27FC236}">
                <a16:creationId xmlns:a16="http://schemas.microsoft.com/office/drawing/2014/main" id="{9CC46E97-E5FF-4A1E-B025-33E73825FCCE}"/>
              </a:ext>
            </a:extLst>
          </p:cNvPr>
          <p:cNvSpPr txBox="1"/>
          <p:nvPr/>
        </p:nvSpPr>
        <p:spPr>
          <a:xfrm>
            <a:off x="5648805" y="1908231"/>
            <a:ext cx="6104372" cy="338554"/>
          </a:xfrm>
          <a:prstGeom prst="rect">
            <a:avLst/>
          </a:prstGeom>
          <a:noFill/>
        </p:spPr>
        <p:txBody>
          <a:bodyPr wrap="square">
            <a:spAutoFit/>
          </a:bodyPr>
          <a:lstStyle/>
          <a:p>
            <a:pPr algn="ctr"/>
            <a:r>
              <a:rPr lang="en-US" sz="1600" b="1"/>
              <a:t>Use of genetic data to design and synthesize candidate vaccine viruses</a:t>
            </a:r>
          </a:p>
        </p:txBody>
      </p:sp>
      <p:sp>
        <p:nvSpPr>
          <p:cNvPr id="10" name="TextBox 9">
            <a:extLst>
              <a:ext uri="{FF2B5EF4-FFF2-40B4-BE49-F238E27FC236}">
                <a16:creationId xmlns:a16="http://schemas.microsoft.com/office/drawing/2014/main" id="{DF4317F1-31F8-4061-8C3E-CD7F5F262586}"/>
              </a:ext>
            </a:extLst>
          </p:cNvPr>
          <p:cNvSpPr txBox="1"/>
          <p:nvPr/>
        </p:nvSpPr>
        <p:spPr>
          <a:xfrm>
            <a:off x="8700990" y="4305395"/>
            <a:ext cx="2540054" cy="307777"/>
          </a:xfrm>
          <a:prstGeom prst="rect">
            <a:avLst/>
          </a:prstGeom>
          <a:noFill/>
        </p:spPr>
        <p:txBody>
          <a:bodyPr wrap="none" rtlCol="0">
            <a:spAutoFit/>
          </a:bodyPr>
          <a:lstStyle/>
          <a:p>
            <a:r>
              <a:rPr lang="en-US" sz="1400"/>
              <a:t>Courtesy of Dr. Dave Wentworth</a:t>
            </a:r>
          </a:p>
        </p:txBody>
      </p:sp>
    </p:spTree>
    <p:extLst>
      <p:ext uri="{BB962C8B-B14F-4D97-AF65-F5344CB8AC3E}">
        <p14:creationId xmlns:p14="http://schemas.microsoft.com/office/powerpoint/2010/main" val="30446328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B21A53-098E-8D46-31E9-7B300AF7C74E}"/>
            </a:ext>
          </a:extLst>
        </p:cNvPr>
        <p:cNvGrpSpPr/>
        <p:nvPr/>
      </p:nvGrpSpPr>
      <p:grpSpPr>
        <a:xfrm>
          <a:off x="0" y="0"/>
          <a:ext cx="0" cy="0"/>
          <a:chOff x="0" y="0"/>
          <a:chExt cx="0" cy="0"/>
        </a:xfrm>
      </p:grpSpPr>
      <p:sp>
        <p:nvSpPr>
          <p:cNvPr id="15" name="Arrow: Right 14">
            <a:extLst>
              <a:ext uri="{FF2B5EF4-FFF2-40B4-BE49-F238E27FC236}">
                <a16:creationId xmlns:a16="http://schemas.microsoft.com/office/drawing/2014/main" id="{4C372C3C-36BB-6AB8-3962-1CAD80F65143}"/>
              </a:ext>
            </a:extLst>
          </p:cNvPr>
          <p:cNvSpPr/>
          <p:nvPr/>
        </p:nvSpPr>
        <p:spPr>
          <a:xfrm>
            <a:off x="171454" y="2639011"/>
            <a:ext cx="11953871" cy="74962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B5BA84F9-22F2-A0FE-70A0-7C7C9B318ABC}"/>
              </a:ext>
            </a:extLst>
          </p:cNvPr>
          <p:cNvCxnSpPr>
            <a:cxnSpLocks/>
          </p:cNvCxnSpPr>
          <p:nvPr/>
        </p:nvCxnSpPr>
        <p:spPr>
          <a:xfrm>
            <a:off x="721013" y="2487540"/>
            <a:ext cx="0" cy="369162"/>
          </a:xfrm>
          <a:prstGeom prst="line">
            <a:avLst/>
          </a:prstGeom>
          <a:ln w="76200"/>
        </p:spPr>
        <p:style>
          <a:lnRef idx="2">
            <a:schemeClr val="accent1"/>
          </a:lnRef>
          <a:fillRef idx="0">
            <a:schemeClr val="accent1"/>
          </a:fillRef>
          <a:effectRef idx="1">
            <a:schemeClr val="accent1"/>
          </a:effectRef>
          <a:fontRef idx="minor">
            <a:schemeClr val="tx1"/>
          </a:fontRef>
        </p:style>
      </p:cxnSp>
      <p:pic>
        <p:nvPicPr>
          <p:cNvPr id="5" name="Picture 4" descr="Diagram&#10;&#10;AI-generated content may be incorrect.">
            <a:extLst>
              <a:ext uri="{FF2B5EF4-FFF2-40B4-BE49-F238E27FC236}">
                <a16:creationId xmlns:a16="http://schemas.microsoft.com/office/drawing/2014/main" id="{0B04FD5F-EAFC-F3C2-68A4-E1FEDC51ECEC}"/>
              </a:ext>
            </a:extLst>
          </p:cNvPr>
          <p:cNvPicPr>
            <a:picLocks noChangeAspect="1"/>
          </p:cNvPicPr>
          <p:nvPr/>
        </p:nvPicPr>
        <p:blipFill>
          <a:blip r:embed="rId2"/>
          <a:srcRect l="11296" t="26538" r="73889" b="51667"/>
          <a:stretch>
            <a:fillRect/>
          </a:stretch>
        </p:blipFill>
        <p:spPr>
          <a:xfrm>
            <a:off x="1547343" y="3587152"/>
            <a:ext cx="762001" cy="747357"/>
          </a:xfrm>
          <a:prstGeom prst="rect">
            <a:avLst/>
          </a:prstGeom>
        </p:spPr>
      </p:pic>
      <p:sp>
        <p:nvSpPr>
          <p:cNvPr id="8" name="TextBox 7">
            <a:extLst>
              <a:ext uri="{FF2B5EF4-FFF2-40B4-BE49-F238E27FC236}">
                <a16:creationId xmlns:a16="http://schemas.microsoft.com/office/drawing/2014/main" id="{B775467C-1696-33EB-D60E-DCF75A3A2707}"/>
              </a:ext>
            </a:extLst>
          </p:cNvPr>
          <p:cNvSpPr txBox="1"/>
          <p:nvPr/>
        </p:nvSpPr>
        <p:spPr>
          <a:xfrm>
            <a:off x="760990" y="4294387"/>
            <a:ext cx="2318263" cy="1600438"/>
          </a:xfrm>
          <a:prstGeom prst="rect">
            <a:avLst/>
          </a:prstGeom>
          <a:noFill/>
        </p:spPr>
        <p:txBody>
          <a:bodyPr wrap="square" lIns="91440" tIns="45720" rIns="91440" bIns="45720" rtlCol="0" anchor="t">
            <a:spAutoFit/>
          </a:bodyPr>
          <a:lstStyle/>
          <a:p>
            <a:pPr algn="ctr"/>
            <a:r>
              <a:rPr lang="en-US" sz="1400" b="1">
                <a:latin typeface="Arial" panose="020B0604020202020204" pitchFamily="34" charset="0"/>
                <a:cs typeface="Arial" panose="020B0604020202020204" pitchFamily="34" charset="0"/>
              </a:rPr>
              <a:t>Detection</a:t>
            </a:r>
          </a:p>
          <a:p>
            <a:pPr algn="ctr"/>
            <a:r>
              <a:rPr lang="en-US" sz="1200">
                <a:latin typeface="Arial"/>
                <a:cs typeface="Arial"/>
              </a:rPr>
              <a:t>Sequence analysis highlighted J.2.4 viruses with ten amino acid changes relative to vaccine and promptly performed antigenic characterization;</a:t>
            </a:r>
          </a:p>
          <a:p>
            <a:pPr algn="ctr"/>
            <a:r>
              <a:rPr lang="en-US" sz="1200" i="1">
                <a:latin typeface="Arial"/>
                <a:cs typeface="Arial"/>
              </a:rPr>
              <a:t>Evidence of antigenic drift</a:t>
            </a:r>
          </a:p>
        </p:txBody>
      </p:sp>
      <p:pic>
        <p:nvPicPr>
          <p:cNvPr id="11" name="Picture 10" descr="Diagram&#10;&#10;AI-generated content may be incorrect.">
            <a:extLst>
              <a:ext uri="{FF2B5EF4-FFF2-40B4-BE49-F238E27FC236}">
                <a16:creationId xmlns:a16="http://schemas.microsoft.com/office/drawing/2014/main" id="{F9A1B317-9738-9934-ED8F-BC785322A686}"/>
              </a:ext>
            </a:extLst>
          </p:cNvPr>
          <p:cNvPicPr>
            <a:picLocks noChangeAspect="1"/>
          </p:cNvPicPr>
          <p:nvPr/>
        </p:nvPicPr>
        <p:blipFill>
          <a:blip r:embed="rId2"/>
          <a:srcRect l="42971" t="27017" r="43663" b="52488"/>
          <a:stretch>
            <a:fillRect/>
          </a:stretch>
        </p:blipFill>
        <p:spPr>
          <a:xfrm>
            <a:off x="4651977" y="1733179"/>
            <a:ext cx="733331" cy="749627"/>
          </a:xfrm>
          <a:prstGeom prst="rect">
            <a:avLst/>
          </a:prstGeom>
        </p:spPr>
      </p:pic>
      <p:sp>
        <p:nvSpPr>
          <p:cNvPr id="14" name="TextBox 13">
            <a:extLst>
              <a:ext uri="{FF2B5EF4-FFF2-40B4-BE49-F238E27FC236}">
                <a16:creationId xmlns:a16="http://schemas.microsoft.com/office/drawing/2014/main" id="{57B863BB-6673-2D6B-D0E4-356453BD30EC}"/>
              </a:ext>
            </a:extLst>
          </p:cNvPr>
          <p:cNvSpPr txBox="1"/>
          <p:nvPr/>
        </p:nvSpPr>
        <p:spPr>
          <a:xfrm>
            <a:off x="2122887" y="609501"/>
            <a:ext cx="1864391" cy="1200329"/>
          </a:xfrm>
          <a:prstGeom prst="rect">
            <a:avLst/>
          </a:prstGeom>
          <a:noFill/>
        </p:spPr>
        <p:txBody>
          <a:bodyPr wrap="square" lIns="91440" tIns="45720" rIns="91440" bIns="45720" rtlCol="0" anchor="t">
            <a:spAutoFit/>
          </a:bodyPr>
          <a:lstStyle/>
          <a:p>
            <a:pPr algn="ctr"/>
            <a:r>
              <a:rPr lang="en-US" sz="1200" b="1">
                <a:latin typeface="Arial"/>
                <a:cs typeface="Arial"/>
              </a:rPr>
              <a:t>CVV Initiation</a:t>
            </a:r>
          </a:p>
          <a:p>
            <a:pPr algn="ctr"/>
            <a:r>
              <a:rPr lang="en-US" sz="1200">
                <a:latin typeface="Arial" panose="020B0604020202020204" pitchFamily="34" charset="0"/>
                <a:cs typeface="Arial" panose="020B0604020202020204" pitchFamily="34" charset="0"/>
              </a:rPr>
              <a:t>Initial isolation attempts via provision of respiratory specimens  National Influenza Surveillance </a:t>
            </a:r>
          </a:p>
        </p:txBody>
      </p:sp>
      <p:sp>
        <p:nvSpPr>
          <p:cNvPr id="16" name="TextBox 15">
            <a:extLst>
              <a:ext uri="{FF2B5EF4-FFF2-40B4-BE49-F238E27FC236}">
                <a16:creationId xmlns:a16="http://schemas.microsoft.com/office/drawing/2014/main" id="{98AEE809-947E-B18B-5844-41453BA45560}"/>
              </a:ext>
            </a:extLst>
          </p:cNvPr>
          <p:cNvSpPr txBox="1"/>
          <p:nvPr/>
        </p:nvSpPr>
        <p:spPr>
          <a:xfrm>
            <a:off x="236148" y="2759674"/>
            <a:ext cx="761747" cy="523220"/>
          </a:xfrm>
          <a:prstGeom prst="rect">
            <a:avLst/>
          </a:prstGeom>
          <a:noFill/>
        </p:spPr>
        <p:txBody>
          <a:bodyPr wrap="none" rtlCol="0">
            <a:spAutoFit/>
          </a:bodyPr>
          <a:lstStyle/>
          <a:p>
            <a:pPr algn="ctr"/>
            <a:r>
              <a:rPr lang="en-US" sz="1400" b="1">
                <a:solidFill>
                  <a:schemeClr val="bg1"/>
                </a:solidFill>
                <a:latin typeface="Arial" panose="020B0604020202020204" pitchFamily="34" charset="0"/>
                <a:cs typeface="Arial" panose="020B0604020202020204" pitchFamily="34" charset="0"/>
              </a:rPr>
              <a:t>JUN to</a:t>
            </a:r>
          </a:p>
          <a:p>
            <a:pPr algn="ctr"/>
            <a:r>
              <a:rPr lang="en-US" sz="1400" b="1">
                <a:solidFill>
                  <a:schemeClr val="bg1"/>
                </a:solidFill>
                <a:latin typeface="Arial" panose="020B0604020202020204" pitchFamily="34" charset="0"/>
                <a:cs typeface="Arial" panose="020B0604020202020204" pitchFamily="34" charset="0"/>
              </a:rPr>
              <a:t>JUL</a:t>
            </a:r>
          </a:p>
        </p:txBody>
      </p:sp>
      <p:sp>
        <p:nvSpPr>
          <p:cNvPr id="18" name="TextBox 17">
            <a:extLst>
              <a:ext uri="{FF2B5EF4-FFF2-40B4-BE49-F238E27FC236}">
                <a16:creationId xmlns:a16="http://schemas.microsoft.com/office/drawing/2014/main" id="{209398CF-4AED-70D2-5849-6790388E6422}"/>
              </a:ext>
            </a:extLst>
          </p:cNvPr>
          <p:cNvSpPr txBox="1"/>
          <p:nvPr/>
        </p:nvSpPr>
        <p:spPr>
          <a:xfrm>
            <a:off x="1606418" y="2841473"/>
            <a:ext cx="639919" cy="338554"/>
          </a:xfrm>
          <a:prstGeom prst="rect">
            <a:avLst/>
          </a:prstGeom>
          <a:noFill/>
        </p:spPr>
        <p:txBody>
          <a:bodyPr wrap="none" rtlCol="0">
            <a:spAutoFit/>
          </a:bodyPr>
          <a:lstStyle/>
          <a:p>
            <a:r>
              <a:rPr lang="en-US" sz="1600" b="1">
                <a:solidFill>
                  <a:schemeClr val="bg1"/>
                </a:solidFill>
                <a:latin typeface="Arial" panose="020B0604020202020204" pitchFamily="34" charset="0"/>
                <a:cs typeface="Arial" panose="020B0604020202020204" pitchFamily="34" charset="0"/>
              </a:rPr>
              <a:t>AUG</a:t>
            </a:r>
          </a:p>
        </p:txBody>
      </p:sp>
      <p:sp>
        <p:nvSpPr>
          <p:cNvPr id="19" name="TextBox 18">
            <a:extLst>
              <a:ext uri="{FF2B5EF4-FFF2-40B4-BE49-F238E27FC236}">
                <a16:creationId xmlns:a16="http://schemas.microsoft.com/office/drawing/2014/main" id="{408AF505-DB15-E4AD-A958-77C85151C5F0}"/>
              </a:ext>
            </a:extLst>
          </p:cNvPr>
          <p:cNvSpPr txBox="1"/>
          <p:nvPr/>
        </p:nvSpPr>
        <p:spPr>
          <a:xfrm>
            <a:off x="3655031" y="2827179"/>
            <a:ext cx="593432" cy="338554"/>
          </a:xfrm>
          <a:prstGeom prst="rect">
            <a:avLst/>
          </a:prstGeom>
          <a:noFill/>
        </p:spPr>
        <p:txBody>
          <a:bodyPr wrap="none" rtlCol="0">
            <a:spAutoFit/>
          </a:bodyPr>
          <a:lstStyle/>
          <a:p>
            <a:r>
              <a:rPr lang="en-US" sz="1600" b="1">
                <a:solidFill>
                  <a:schemeClr val="bg1"/>
                </a:solidFill>
                <a:latin typeface="Arial" panose="020B0604020202020204" pitchFamily="34" charset="0"/>
                <a:cs typeface="Arial" panose="020B0604020202020204" pitchFamily="34" charset="0"/>
              </a:rPr>
              <a:t>SEP</a:t>
            </a:r>
          </a:p>
        </p:txBody>
      </p:sp>
      <p:sp>
        <p:nvSpPr>
          <p:cNvPr id="25" name="TextBox 24">
            <a:extLst>
              <a:ext uri="{FF2B5EF4-FFF2-40B4-BE49-F238E27FC236}">
                <a16:creationId xmlns:a16="http://schemas.microsoft.com/office/drawing/2014/main" id="{B9FF357A-0A2E-0DD3-8312-8A7661A44B56}"/>
              </a:ext>
            </a:extLst>
          </p:cNvPr>
          <p:cNvSpPr txBox="1"/>
          <p:nvPr/>
        </p:nvSpPr>
        <p:spPr>
          <a:xfrm>
            <a:off x="5811690" y="2835149"/>
            <a:ext cx="617477" cy="338554"/>
          </a:xfrm>
          <a:prstGeom prst="rect">
            <a:avLst/>
          </a:prstGeom>
          <a:noFill/>
        </p:spPr>
        <p:txBody>
          <a:bodyPr wrap="none" rtlCol="0">
            <a:spAutoFit/>
          </a:bodyPr>
          <a:lstStyle/>
          <a:p>
            <a:r>
              <a:rPr lang="en-US" sz="1600" b="1">
                <a:solidFill>
                  <a:schemeClr val="bg1"/>
                </a:solidFill>
                <a:latin typeface="Arial" panose="020B0604020202020204" pitchFamily="34" charset="0"/>
                <a:cs typeface="Arial" panose="020B0604020202020204" pitchFamily="34" charset="0"/>
              </a:rPr>
              <a:t>OCT</a:t>
            </a:r>
          </a:p>
        </p:txBody>
      </p:sp>
      <p:sp>
        <p:nvSpPr>
          <p:cNvPr id="26" name="TextBox 25">
            <a:extLst>
              <a:ext uri="{FF2B5EF4-FFF2-40B4-BE49-F238E27FC236}">
                <a16:creationId xmlns:a16="http://schemas.microsoft.com/office/drawing/2014/main" id="{F8997559-81D4-7F69-7F02-4FCF554C5405}"/>
              </a:ext>
            </a:extLst>
          </p:cNvPr>
          <p:cNvSpPr txBox="1"/>
          <p:nvPr/>
        </p:nvSpPr>
        <p:spPr>
          <a:xfrm>
            <a:off x="8132747" y="2834230"/>
            <a:ext cx="628698" cy="338554"/>
          </a:xfrm>
          <a:prstGeom prst="rect">
            <a:avLst/>
          </a:prstGeom>
          <a:noFill/>
        </p:spPr>
        <p:txBody>
          <a:bodyPr wrap="none" rtlCol="0">
            <a:spAutoFit/>
          </a:bodyPr>
          <a:lstStyle/>
          <a:p>
            <a:r>
              <a:rPr lang="en-US" sz="1600" b="1">
                <a:solidFill>
                  <a:schemeClr val="bg1"/>
                </a:solidFill>
                <a:latin typeface="Arial" panose="020B0604020202020204" pitchFamily="34" charset="0"/>
                <a:cs typeface="Arial" panose="020B0604020202020204" pitchFamily="34" charset="0"/>
              </a:rPr>
              <a:t>NOV</a:t>
            </a:r>
          </a:p>
        </p:txBody>
      </p:sp>
      <p:cxnSp>
        <p:nvCxnSpPr>
          <p:cNvPr id="3" name="Straight Connector 2">
            <a:extLst>
              <a:ext uri="{FF2B5EF4-FFF2-40B4-BE49-F238E27FC236}">
                <a16:creationId xmlns:a16="http://schemas.microsoft.com/office/drawing/2014/main" id="{7DB9C840-609C-0A74-2ED6-025C6A030B8C}"/>
              </a:ext>
            </a:extLst>
          </p:cNvPr>
          <p:cNvCxnSpPr>
            <a:cxnSpLocks/>
          </p:cNvCxnSpPr>
          <p:nvPr/>
        </p:nvCxnSpPr>
        <p:spPr>
          <a:xfrm>
            <a:off x="1928344" y="3172460"/>
            <a:ext cx="0" cy="390524"/>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4D877B7-3D9C-C659-2954-6AECEAB3FEED}"/>
              </a:ext>
            </a:extLst>
          </p:cNvPr>
          <p:cNvCxnSpPr>
            <a:cxnSpLocks/>
          </p:cNvCxnSpPr>
          <p:nvPr/>
        </p:nvCxnSpPr>
        <p:spPr>
          <a:xfrm>
            <a:off x="3127566" y="2481453"/>
            <a:ext cx="0" cy="369162"/>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F7F19C7E-CDAA-22B6-66C7-5C753ED564F1}"/>
              </a:ext>
            </a:extLst>
          </p:cNvPr>
          <p:cNvCxnSpPr>
            <a:cxnSpLocks/>
          </p:cNvCxnSpPr>
          <p:nvPr/>
        </p:nvCxnSpPr>
        <p:spPr>
          <a:xfrm>
            <a:off x="5029307" y="2503630"/>
            <a:ext cx="0" cy="423547"/>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A459ACEA-6224-2B14-EDBC-32F143F32F57}"/>
              </a:ext>
            </a:extLst>
          </p:cNvPr>
          <p:cNvCxnSpPr>
            <a:cxnSpLocks/>
          </p:cNvCxnSpPr>
          <p:nvPr/>
        </p:nvCxnSpPr>
        <p:spPr>
          <a:xfrm>
            <a:off x="7615197" y="3187020"/>
            <a:ext cx="0" cy="423599"/>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4DBAB678-957D-736A-53FD-FDDA958205DE}"/>
              </a:ext>
            </a:extLst>
          </p:cNvPr>
          <p:cNvCxnSpPr>
            <a:cxnSpLocks/>
          </p:cNvCxnSpPr>
          <p:nvPr/>
        </p:nvCxnSpPr>
        <p:spPr>
          <a:xfrm>
            <a:off x="6795960" y="2508061"/>
            <a:ext cx="0" cy="427026"/>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EC0447D2-3723-19D0-0E9B-8019B8A17665}"/>
              </a:ext>
            </a:extLst>
          </p:cNvPr>
          <p:cNvCxnSpPr>
            <a:cxnSpLocks/>
          </p:cNvCxnSpPr>
          <p:nvPr/>
        </p:nvCxnSpPr>
        <p:spPr>
          <a:xfrm>
            <a:off x="8856988" y="3209925"/>
            <a:ext cx="0" cy="401160"/>
          </a:xfrm>
          <a:prstGeom prst="line">
            <a:avLst/>
          </a:prstGeom>
          <a:ln w="76200"/>
        </p:spPr>
        <p:style>
          <a:lnRef idx="2">
            <a:schemeClr val="accent1"/>
          </a:lnRef>
          <a:fillRef idx="0">
            <a:schemeClr val="accent1"/>
          </a:fillRef>
          <a:effectRef idx="1">
            <a:schemeClr val="accent1"/>
          </a:effectRef>
          <a:fontRef idx="minor">
            <a:schemeClr val="tx1"/>
          </a:fontRef>
        </p:style>
      </p:cxnSp>
      <p:pic>
        <p:nvPicPr>
          <p:cNvPr id="27" name="Picture 26" descr="Icon&#10;&#10;AI-generated content may be incorrect.">
            <a:extLst>
              <a:ext uri="{FF2B5EF4-FFF2-40B4-BE49-F238E27FC236}">
                <a16:creationId xmlns:a16="http://schemas.microsoft.com/office/drawing/2014/main" id="{F835861B-F0FE-55F7-06CB-C72A8D31FF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6201" y="1737915"/>
            <a:ext cx="749625" cy="749625"/>
          </a:xfrm>
          <a:prstGeom prst="rect">
            <a:avLst/>
          </a:prstGeom>
        </p:spPr>
      </p:pic>
      <p:sp>
        <p:nvSpPr>
          <p:cNvPr id="29" name="TextBox 28">
            <a:extLst>
              <a:ext uri="{FF2B5EF4-FFF2-40B4-BE49-F238E27FC236}">
                <a16:creationId xmlns:a16="http://schemas.microsoft.com/office/drawing/2014/main" id="{2A6A5965-CEBD-1812-FA2D-C151FE498510}"/>
              </a:ext>
            </a:extLst>
          </p:cNvPr>
          <p:cNvSpPr txBox="1"/>
          <p:nvPr/>
        </p:nvSpPr>
        <p:spPr>
          <a:xfrm>
            <a:off x="-91661" y="117059"/>
            <a:ext cx="1792151" cy="1692771"/>
          </a:xfrm>
          <a:prstGeom prst="rect">
            <a:avLst/>
          </a:prstGeom>
          <a:noFill/>
        </p:spPr>
        <p:txBody>
          <a:bodyPr wrap="square" rtlCol="0">
            <a:spAutoFit/>
          </a:bodyPr>
          <a:lstStyle/>
          <a:p>
            <a:pPr algn="ctr"/>
            <a:r>
              <a:rPr lang="en-US" sz="1400" b="1">
                <a:latin typeface="Arial" panose="020B0604020202020204" pitchFamily="34" charset="0"/>
                <a:cs typeface="Arial" panose="020B0604020202020204" pitchFamily="34" charset="0"/>
              </a:rPr>
              <a:t>Specimen Collection</a:t>
            </a:r>
          </a:p>
          <a:p>
            <a:pPr algn="ctr"/>
            <a:r>
              <a:rPr lang="en-US" sz="1200">
                <a:latin typeface="Arial" panose="020B0604020202020204" pitchFamily="34" charset="0"/>
                <a:cs typeface="Arial" panose="020B0604020202020204" pitchFamily="34" charset="0"/>
              </a:rPr>
              <a:t>First K specimens collected through CDC National Influenza Surveillance and Traveler-Based Genomic Surveillance</a:t>
            </a:r>
          </a:p>
        </p:txBody>
      </p:sp>
      <p:sp>
        <p:nvSpPr>
          <p:cNvPr id="30" name="TextBox 29">
            <a:extLst>
              <a:ext uri="{FF2B5EF4-FFF2-40B4-BE49-F238E27FC236}">
                <a16:creationId xmlns:a16="http://schemas.microsoft.com/office/drawing/2014/main" id="{275D953C-5E45-617B-9AAA-E33D92AE0959}"/>
              </a:ext>
            </a:extLst>
          </p:cNvPr>
          <p:cNvSpPr txBox="1"/>
          <p:nvPr/>
        </p:nvSpPr>
        <p:spPr>
          <a:xfrm>
            <a:off x="4044911" y="732612"/>
            <a:ext cx="1947461" cy="1077218"/>
          </a:xfrm>
          <a:prstGeom prst="rect">
            <a:avLst/>
          </a:prstGeom>
          <a:noFill/>
        </p:spPr>
        <p:txBody>
          <a:bodyPr wrap="square" lIns="91440" tIns="45720" rIns="91440" bIns="45720" rtlCol="0" anchor="t">
            <a:spAutoFit/>
          </a:bodyPr>
          <a:lstStyle/>
          <a:p>
            <a:pPr algn="ctr"/>
            <a:r>
              <a:rPr lang="en-US" sz="1400" b="1">
                <a:latin typeface="Arial"/>
                <a:cs typeface="Arial"/>
              </a:rPr>
              <a:t>CVVs Generated</a:t>
            </a:r>
            <a:endParaRPr lang="en-US" sz="1400" b="1">
              <a:latin typeface="Arial" panose="020B0604020202020204" pitchFamily="34" charset="0"/>
              <a:cs typeface="Arial" panose="020B0604020202020204" pitchFamily="34" charset="0"/>
            </a:endParaRPr>
          </a:p>
          <a:p>
            <a:pPr algn="ctr"/>
            <a:r>
              <a:rPr lang="en-US" sz="1200">
                <a:latin typeface="Arial" panose="020B0604020202020204" pitchFamily="34" charset="0"/>
                <a:cs typeface="Arial" panose="020B0604020202020204" pitchFamily="34" charset="0"/>
              </a:rPr>
              <a:t>Egg and cell reference viruses generated to newly emerging subclade of J.2.4 viruses </a:t>
            </a:r>
          </a:p>
        </p:txBody>
      </p:sp>
      <p:pic>
        <p:nvPicPr>
          <p:cNvPr id="32" name="Picture 31" descr="Icon&#10;&#10;AI-generated content may be incorrect.">
            <a:extLst>
              <a:ext uri="{FF2B5EF4-FFF2-40B4-BE49-F238E27FC236}">
                <a16:creationId xmlns:a16="http://schemas.microsoft.com/office/drawing/2014/main" id="{C221BC3C-7579-E051-E6BE-525F905EFE3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23163" y="1734795"/>
            <a:ext cx="749624" cy="749624"/>
          </a:xfrm>
          <a:prstGeom prst="rect">
            <a:avLst/>
          </a:prstGeom>
        </p:spPr>
      </p:pic>
      <p:pic>
        <p:nvPicPr>
          <p:cNvPr id="2" name="Picture 1" descr="Diagram&#10;&#10;AI-generated content may be incorrect.">
            <a:extLst>
              <a:ext uri="{FF2B5EF4-FFF2-40B4-BE49-F238E27FC236}">
                <a16:creationId xmlns:a16="http://schemas.microsoft.com/office/drawing/2014/main" id="{7E8398C5-043A-B274-B4BF-3C738FD1FD64}"/>
              </a:ext>
            </a:extLst>
          </p:cNvPr>
          <p:cNvPicPr>
            <a:picLocks noChangeAspect="1"/>
          </p:cNvPicPr>
          <p:nvPr/>
        </p:nvPicPr>
        <p:blipFill>
          <a:blip r:embed="rId2"/>
          <a:srcRect l="72601" t="26600" r="13565" b="51500"/>
          <a:stretch>
            <a:fillRect/>
          </a:stretch>
        </p:blipFill>
        <p:spPr>
          <a:xfrm>
            <a:off x="10015551" y="1750046"/>
            <a:ext cx="712281" cy="751747"/>
          </a:xfrm>
          <a:prstGeom prst="rect">
            <a:avLst/>
          </a:prstGeom>
        </p:spPr>
      </p:pic>
      <p:pic>
        <p:nvPicPr>
          <p:cNvPr id="31" name="Picture 30">
            <a:extLst>
              <a:ext uri="{FF2B5EF4-FFF2-40B4-BE49-F238E27FC236}">
                <a16:creationId xmlns:a16="http://schemas.microsoft.com/office/drawing/2014/main" id="{A772BC02-CE0F-BD7F-4004-138A632D29B1}"/>
              </a:ext>
            </a:extLst>
          </p:cNvPr>
          <p:cNvPicPr>
            <a:picLocks noChangeAspect="1"/>
          </p:cNvPicPr>
          <p:nvPr/>
        </p:nvPicPr>
        <p:blipFill>
          <a:blip r:embed="rId5">
            <a:extLst>
              <a:ext uri="{28A0092B-C50C-407E-A947-70E740481C1C}">
                <a14:useLocalDpi xmlns:a14="http://schemas.microsoft.com/office/drawing/2010/main" val="0"/>
              </a:ext>
            </a:extLst>
          </a:blip>
          <a:srcRect l="34461" t="34399" r="34651" b="34401"/>
          <a:stretch>
            <a:fillRect/>
          </a:stretch>
        </p:blipFill>
        <p:spPr>
          <a:xfrm>
            <a:off x="3410784" y="3587152"/>
            <a:ext cx="739887" cy="747356"/>
          </a:xfrm>
          <a:prstGeom prst="rect">
            <a:avLst/>
          </a:prstGeom>
        </p:spPr>
      </p:pic>
      <p:pic>
        <p:nvPicPr>
          <p:cNvPr id="33" name="Picture 32">
            <a:extLst>
              <a:ext uri="{FF2B5EF4-FFF2-40B4-BE49-F238E27FC236}">
                <a16:creationId xmlns:a16="http://schemas.microsoft.com/office/drawing/2014/main" id="{44633EEE-3DA2-84F8-E524-B05E42458575}"/>
              </a:ext>
            </a:extLst>
          </p:cNvPr>
          <p:cNvPicPr>
            <a:picLocks noChangeAspect="1"/>
          </p:cNvPicPr>
          <p:nvPr/>
        </p:nvPicPr>
        <p:blipFill>
          <a:blip r:embed="rId5">
            <a:extLst>
              <a:ext uri="{28A0092B-C50C-407E-A947-70E740481C1C}">
                <a14:useLocalDpi xmlns:a14="http://schemas.microsoft.com/office/drawing/2010/main" val="0"/>
              </a:ext>
            </a:extLst>
          </a:blip>
          <a:srcRect l="2303" t="34600" r="66270" b="34334"/>
          <a:stretch>
            <a:fillRect/>
          </a:stretch>
        </p:blipFill>
        <p:spPr>
          <a:xfrm>
            <a:off x="7227397" y="3587152"/>
            <a:ext cx="749617" cy="741048"/>
          </a:xfrm>
          <a:prstGeom prst="rect">
            <a:avLst/>
          </a:prstGeom>
        </p:spPr>
      </p:pic>
      <p:sp>
        <p:nvSpPr>
          <p:cNvPr id="40" name="TextBox 39">
            <a:extLst>
              <a:ext uri="{FF2B5EF4-FFF2-40B4-BE49-F238E27FC236}">
                <a16:creationId xmlns:a16="http://schemas.microsoft.com/office/drawing/2014/main" id="{63137363-C74F-7734-F65E-FEDA241DD248}"/>
              </a:ext>
            </a:extLst>
          </p:cNvPr>
          <p:cNvSpPr txBox="1"/>
          <p:nvPr/>
        </p:nvSpPr>
        <p:spPr>
          <a:xfrm>
            <a:off x="6962774" y="4294387"/>
            <a:ext cx="1206727" cy="1661993"/>
          </a:xfrm>
          <a:prstGeom prst="rect">
            <a:avLst/>
          </a:prstGeom>
          <a:noFill/>
        </p:spPr>
        <p:txBody>
          <a:bodyPr wrap="square" lIns="91440" tIns="45720" rIns="91440" bIns="45720" rtlCol="0" anchor="t">
            <a:spAutoFit/>
          </a:bodyPr>
          <a:lstStyle/>
          <a:p>
            <a:pPr algn="ctr"/>
            <a:r>
              <a:rPr lang="en-US" sz="1400" b="1">
                <a:latin typeface="Arial"/>
                <a:cs typeface="Arial"/>
              </a:rPr>
              <a:t>Reference ferret antisera</a:t>
            </a:r>
          </a:p>
          <a:p>
            <a:pPr algn="ctr"/>
            <a:r>
              <a:rPr lang="en-US" sz="1200">
                <a:latin typeface="Arial" panose="020B0604020202020204" pitchFamily="34" charset="0"/>
                <a:cs typeface="Arial" panose="020B0604020202020204" pitchFamily="34" charset="0"/>
              </a:rPr>
              <a:t>Ferret antisera generated to K reference viruses and tested</a:t>
            </a:r>
          </a:p>
        </p:txBody>
      </p:sp>
      <p:sp>
        <p:nvSpPr>
          <p:cNvPr id="41" name="TextBox 40">
            <a:extLst>
              <a:ext uri="{FF2B5EF4-FFF2-40B4-BE49-F238E27FC236}">
                <a16:creationId xmlns:a16="http://schemas.microsoft.com/office/drawing/2014/main" id="{C6064E16-8A69-98F9-DF95-6153F4EE9D20}"/>
              </a:ext>
            </a:extLst>
          </p:cNvPr>
          <p:cNvSpPr txBox="1"/>
          <p:nvPr/>
        </p:nvSpPr>
        <p:spPr>
          <a:xfrm>
            <a:off x="8083776" y="4294387"/>
            <a:ext cx="1669287" cy="1415772"/>
          </a:xfrm>
          <a:prstGeom prst="rect">
            <a:avLst/>
          </a:prstGeom>
          <a:noFill/>
        </p:spPr>
        <p:txBody>
          <a:bodyPr wrap="square" lIns="91440" tIns="45720" rIns="91440" bIns="45720" rtlCol="0" anchor="t">
            <a:spAutoFit/>
          </a:bodyPr>
          <a:lstStyle/>
          <a:p>
            <a:pPr algn="ctr"/>
            <a:r>
              <a:rPr lang="en-US" sz="1400" b="1">
                <a:latin typeface="Arial"/>
                <a:cs typeface="Arial"/>
              </a:rPr>
              <a:t>CVV Distribution</a:t>
            </a:r>
            <a:endParaRPr lang="en-US" sz="1400" b="1">
              <a:latin typeface="Arial" panose="020B0604020202020204" pitchFamily="34" charset="0"/>
              <a:cs typeface="Arial" panose="020B0604020202020204" pitchFamily="34" charset="0"/>
            </a:endParaRPr>
          </a:p>
          <a:p>
            <a:pPr algn="ctr"/>
            <a:r>
              <a:rPr lang="en-US" sz="1200">
                <a:latin typeface="Arial" panose="020B0604020202020204" pitchFamily="34" charset="0"/>
                <a:cs typeface="Arial" panose="020B0604020202020204" pitchFamily="34" charset="0"/>
              </a:rPr>
              <a:t>Reference viruses for subclade K distributed to collaborators and reassorting laboratories</a:t>
            </a:r>
          </a:p>
        </p:txBody>
      </p:sp>
      <p:sp>
        <p:nvSpPr>
          <p:cNvPr id="42" name="TextBox 41">
            <a:extLst>
              <a:ext uri="{FF2B5EF4-FFF2-40B4-BE49-F238E27FC236}">
                <a16:creationId xmlns:a16="http://schemas.microsoft.com/office/drawing/2014/main" id="{881CADD0-1673-9DD2-7565-F13152002CA0}"/>
              </a:ext>
            </a:extLst>
          </p:cNvPr>
          <p:cNvSpPr txBox="1"/>
          <p:nvPr/>
        </p:nvSpPr>
        <p:spPr>
          <a:xfrm>
            <a:off x="9468103" y="732612"/>
            <a:ext cx="1792151" cy="1077218"/>
          </a:xfrm>
          <a:prstGeom prst="rect">
            <a:avLst/>
          </a:prstGeom>
          <a:noFill/>
        </p:spPr>
        <p:txBody>
          <a:bodyPr wrap="square" rtlCol="0">
            <a:spAutoFit/>
          </a:bodyPr>
          <a:lstStyle/>
          <a:p>
            <a:pPr algn="ctr"/>
            <a:r>
              <a:rPr lang="en-US" sz="1400" b="1">
                <a:latin typeface="Arial" panose="020B0604020202020204" pitchFamily="34" charset="0"/>
                <a:cs typeface="Arial" panose="020B0604020202020204" pitchFamily="34" charset="0"/>
              </a:rPr>
              <a:t>Reassortants</a:t>
            </a:r>
          </a:p>
          <a:p>
            <a:pPr algn="ctr"/>
            <a:r>
              <a:rPr lang="en-US" sz="1200">
                <a:latin typeface="Arial" panose="020B0604020202020204" pitchFamily="34" charset="0"/>
                <a:cs typeface="Arial" panose="020B0604020202020204" pitchFamily="34" charset="0"/>
              </a:rPr>
              <a:t>High growth reassortants started to arrive at CDC to subclade K</a:t>
            </a:r>
          </a:p>
        </p:txBody>
      </p:sp>
      <p:sp>
        <p:nvSpPr>
          <p:cNvPr id="34" name="TextBox 33">
            <a:extLst>
              <a:ext uri="{FF2B5EF4-FFF2-40B4-BE49-F238E27FC236}">
                <a16:creationId xmlns:a16="http://schemas.microsoft.com/office/drawing/2014/main" id="{7D4AA92A-3F3F-4C80-0AB4-ED6A465ACF98}"/>
              </a:ext>
            </a:extLst>
          </p:cNvPr>
          <p:cNvSpPr txBox="1"/>
          <p:nvPr/>
        </p:nvSpPr>
        <p:spPr>
          <a:xfrm>
            <a:off x="1081715" y="52628"/>
            <a:ext cx="10081381" cy="553998"/>
          </a:xfrm>
          <a:prstGeom prst="rect">
            <a:avLst/>
          </a:prstGeom>
          <a:noFill/>
        </p:spPr>
        <p:txBody>
          <a:bodyPr wrap="square" rtlCol="0">
            <a:spAutoFit/>
          </a:bodyPr>
          <a:lstStyle/>
          <a:p>
            <a:pPr algn="ctr"/>
            <a:r>
              <a:rPr lang="en-US" sz="3000" dirty="0">
                <a:solidFill>
                  <a:srgbClr val="0000FF"/>
                </a:solidFill>
                <a:cs typeface="Arial" panose="020B0604020202020204" pitchFamily="34" charset="0"/>
              </a:rPr>
              <a:t>Genomic Epi in Action: Subclade K CVV Generation Timeline</a:t>
            </a:r>
            <a:endParaRPr lang="en-US" sz="3000" b="1" dirty="0">
              <a:solidFill>
                <a:schemeClr val="accent1">
                  <a:lumMod val="50000"/>
                </a:schemeClr>
              </a:solidFill>
              <a:latin typeface="Arial" panose="020B0604020202020204" pitchFamily="34" charset="0"/>
              <a:cs typeface="Arial" panose="020B0604020202020204" pitchFamily="34" charset="0"/>
            </a:endParaRPr>
          </a:p>
        </p:txBody>
      </p:sp>
      <p:sp>
        <p:nvSpPr>
          <p:cNvPr id="39" name="TextBox 38">
            <a:extLst>
              <a:ext uri="{FF2B5EF4-FFF2-40B4-BE49-F238E27FC236}">
                <a16:creationId xmlns:a16="http://schemas.microsoft.com/office/drawing/2014/main" id="{AA95C534-C6E9-002B-9E7B-F3E50005C55E}"/>
              </a:ext>
            </a:extLst>
          </p:cNvPr>
          <p:cNvSpPr txBox="1"/>
          <p:nvPr/>
        </p:nvSpPr>
        <p:spPr>
          <a:xfrm>
            <a:off x="5693315" y="578724"/>
            <a:ext cx="2205289" cy="1231106"/>
          </a:xfrm>
          <a:prstGeom prst="rect">
            <a:avLst/>
          </a:prstGeom>
          <a:noFill/>
        </p:spPr>
        <p:txBody>
          <a:bodyPr wrap="square" lIns="91440" tIns="45720" rIns="91440" bIns="45720" rtlCol="0" anchor="t">
            <a:spAutoFit/>
          </a:bodyPr>
          <a:lstStyle/>
          <a:p>
            <a:pPr algn="ctr"/>
            <a:r>
              <a:rPr lang="en-US" sz="1400" b="1">
                <a:latin typeface="Arial"/>
                <a:cs typeface="Arial"/>
              </a:rPr>
              <a:t>Subclade Naming</a:t>
            </a:r>
            <a:endParaRPr lang="en-US" sz="1400" b="1">
              <a:latin typeface="Arial" panose="020B0604020202020204" pitchFamily="34" charset="0"/>
              <a:cs typeface="Arial" panose="020B0604020202020204" pitchFamily="34" charset="0"/>
            </a:endParaRPr>
          </a:p>
          <a:p>
            <a:pPr algn="ctr"/>
            <a:r>
              <a:rPr lang="en-US" sz="1200">
                <a:latin typeface="Arial" panose="020B0604020202020204" pitchFamily="34" charset="0"/>
                <a:cs typeface="Arial" panose="020B0604020202020204" pitchFamily="34" charset="0"/>
              </a:rPr>
              <a:t>Emerging subclade of J.2.4 viruses with specific amino acid substitutions were designated as subclade J.2.4.1 and then given alias K</a:t>
            </a:r>
          </a:p>
        </p:txBody>
      </p:sp>
      <p:cxnSp>
        <p:nvCxnSpPr>
          <p:cNvPr id="43" name="Straight Connector 42">
            <a:extLst>
              <a:ext uri="{FF2B5EF4-FFF2-40B4-BE49-F238E27FC236}">
                <a16:creationId xmlns:a16="http://schemas.microsoft.com/office/drawing/2014/main" id="{C9DB25C8-1079-D52F-37DA-923CDEB669FE}"/>
              </a:ext>
            </a:extLst>
          </p:cNvPr>
          <p:cNvCxnSpPr>
            <a:cxnSpLocks/>
          </p:cNvCxnSpPr>
          <p:nvPr/>
        </p:nvCxnSpPr>
        <p:spPr>
          <a:xfrm>
            <a:off x="3780728" y="3163968"/>
            <a:ext cx="0" cy="423547"/>
          </a:xfrm>
          <a:prstGeom prst="line">
            <a:avLst/>
          </a:prstGeom>
          <a:ln w="76200"/>
        </p:spPr>
        <p:style>
          <a:lnRef idx="2">
            <a:schemeClr val="accent1"/>
          </a:lnRef>
          <a:fillRef idx="0">
            <a:schemeClr val="accent1"/>
          </a:fillRef>
          <a:effectRef idx="1">
            <a:schemeClr val="accent1"/>
          </a:effectRef>
          <a:fontRef idx="minor">
            <a:schemeClr val="tx1"/>
          </a:fontRef>
        </p:style>
      </p:cxnSp>
      <p:sp>
        <p:nvSpPr>
          <p:cNvPr id="44" name="TextBox 43">
            <a:extLst>
              <a:ext uri="{FF2B5EF4-FFF2-40B4-BE49-F238E27FC236}">
                <a16:creationId xmlns:a16="http://schemas.microsoft.com/office/drawing/2014/main" id="{76163FF7-C36B-F13D-D432-4E324CEBB21B}"/>
              </a:ext>
            </a:extLst>
          </p:cNvPr>
          <p:cNvSpPr txBox="1"/>
          <p:nvPr/>
        </p:nvSpPr>
        <p:spPr>
          <a:xfrm>
            <a:off x="2908231" y="4294387"/>
            <a:ext cx="1679865" cy="1631216"/>
          </a:xfrm>
          <a:prstGeom prst="rect">
            <a:avLst/>
          </a:prstGeom>
          <a:noFill/>
        </p:spPr>
        <p:txBody>
          <a:bodyPr wrap="square" lIns="91440" tIns="45720" rIns="91440" bIns="45720" rtlCol="0" anchor="t">
            <a:spAutoFit/>
          </a:bodyPr>
          <a:lstStyle/>
          <a:p>
            <a:pPr algn="ctr"/>
            <a:r>
              <a:rPr lang="en-US" sz="1400" b="1">
                <a:latin typeface="Arial"/>
                <a:cs typeface="Arial"/>
              </a:rPr>
              <a:t>Collaborators Notified</a:t>
            </a:r>
            <a:endParaRPr lang="en-US" sz="1400" b="1">
              <a:latin typeface="Arial" panose="020B0604020202020204" pitchFamily="34" charset="0"/>
              <a:cs typeface="Arial" panose="020B0604020202020204" pitchFamily="34" charset="0"/>
            </a:endParaRPr>
          </a:p>
          <a:p>
            <a:pPr algn="ctr"/>
            <a:r>
              <a:rPr lang="en-US" sz="1200">
                <a:latin typeface="Arial" panose="020B0604020202020204" pitchFamily="34" charset="0"/>
                <a:cs typeface="Arial" panose="020B0604020202020204" pitchFamily="34" charset="0"/>
              </a:rPr>
              <a:t>CDC notified other GISRS collaborating centers of their findings for newly emerging subclade of J.2.4 viruses </a:t>
            </a:r>
            <a:endParaRPr lang="en-US" sz="1200">
              <a:highlight>
                <a:srgbClr val="FFFF00"/>
              </a:highlight>
              <a:latin typeface="Arial" panose="020B0604020202020204" pitchFamily="34" charset="0"/>
              <a:cs typeface="Arial" panose="020B0604020202020204" pitchFamily="34" charset="0"/>
            </a:endParaRPr>
          </a:p>
        </p:txBody>
      </p:sp>
      <p:grpSp>
        <p:nvGrpSpPr>
          <p:cNvPr id="59" name="Group 58">
            <a:extLst>
              <a:ext uri="{FF2B5EF4-FFF2-40B4-BE49-F238E27FC236}">
                <a16:creationId xmlns:a16="http://schemas.microsoft.com/office/drawing/2014/main" id="{B580EEF4-2414-C1EC-3C3E-96DB5EEE577A}"/>
              </a:ext>
            </a:extLst>
          </p:cNvPr>
          <p:cNvGrpSpPr/>
          <p:nvPr/>
        </p:nvGrpSpPr>
        <p:grpSpPr>
          <a:xfrm>
            <a:off x="9248718" y="2742566"/>
            <a:ext cx="158347" cy="517978"/>
            <a:chOff x="10276127" y="3009658"/>
            <a:chExt cx="158347" cy="517978"/>
          </a:xfrm>
        </p:grpSpPr>
        <p:cxnSp>
          <p:nvCxnSpPr>
            <p:cNvPr id="49" name="Straight Connector 48">
              <a:extLst>
                <a:ext uri="{FF2B5EF4-FFF2-40B4-BE49-F238E27FC236}">
                  <a16:creationId xmlns:a16="http://schemas.microsoft.com/office/drawing/2014/main" id="{E9B3EC1A-81D1-8BA7-1DAC-07CF5C06FF32}"/>
                </a:ext>
              </a:extLst>
            </p:cNvPr>
            <p:cNvCxnSpPr>
              <a:cxnSpLocks/>
            </p:cNvCxnSpPr>
            <p:nvPr/>
          </p:nvCxnSpPr>
          <p:spPr>
            <a:xfrm flipH="1">
              <a:off x="10276127" y="3009658"/>
              <a:ext cx="158347" cy="223647"/>
            </a:xfrm>
            <a:prstGeom prst="line">
              <a:avLst/>
            </a:prstGeom>
            <a:ln w="762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8A237C61-F04E-620D-358C-929D53802B6A}"/>
                </a:ext>
              </a:extLst>
            </p:cNvPr>
            <p:cNvCxnSpPr>
              <a:cxnSpLocks/>
            </p:cNvCxnSpPr>
            <p:nvPr/>
          </p:nvCxnSpPr>
          <p:spPr>
            <a:xfrm>
              <a:off x="10276127" y="3180631"/>
              <a:ext cx="158347" cy="150762"/>
            </a:xfrm>
            <a:prstGeom prst="line">
              <a:avLst/>
            </a:prstGeom>
            <a:ln w="762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8916C276-28B7-1073-FF43-B057388CA4F2}"/>
                </a:ext>
              </a:extLst>
            </p:cNvPr>
            <p:cNvCxnSpPr>
              <a:cxnSpLocks/>
            </p:cNvCxnSpPr>
            <p:nvPr/>
          </p:nvCxnSpPr>
          <p:spPr>
            <a:xfrm flipH="1">
              <a:off x="10276127" y="3287204"/>
              <a:ext cx="158347" cy="240432"/>
            </a:xfrm>
            <a:prstGeom prst="line">
              <a:avLst/>
            </a:prstGeom>
            <a:ln w="76200">
              <a:solidFill>
                <a:schemeClr val="bg1"/>
              </a:solidFill>
            </a:ln>
          </p:spPr>
          <p:style>
            <a:lnRef idx="2">
              <a:schemeClr val="accent1"/>
            </a:lnRef>
            <a:fillRef idx="0">
              <a:schemeClr val="accent1"/>
            </a:fillRef>
            <a:effectRef idx="1">
              <a:schemeClr val="accent1"/>
            </a:effectRef>
            <a:fontRef idx="minor">
              <a:schemeClr val="tx1"/>
            </a:fontRef>
          </p:style>
        </p:cxnSp>
      </p:grpSp>
      <p:cxnSp>
        <p:nvCxnSpPr>
          <p:cNvPr id="60" name="Straight Connector 59">
            <a:extLst>
              <a:ext uri="{FF2B5EF4-FFF2-40B4-BE49-F238E27FC236}">
                <a16:creationId xmlns:a16="http://schemas.microsoft.com/office/drawing/2014/main" id="{9B12302B-2D29-C4EC-60D5-D66B6B1CED4F}"/>
              </a:ext>
            </a:extLst>
          </p:cNvPr>
          <p:cNvCxnSpPr>
            <a:cxnSpLocks/>
          </p:cNvCxnSpPr>
          <p:nvPr/>
        </p:nvCxnSpPr>
        <p:spPr>
          <a:xfrm>
            <a:off x="10384890" y="2491600"/>
            <a:ext cx="0" cy="369162"/>
          </a:xfrm>
          <a:prstGeom prst="line">
            <a:avLst/>
          </a:prstGeom>
          <a:ln w="76200"/>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21D9117B-6B82-5F54-04F8-7B9130423EE5}"/>
              </a:ext>
            </a:extLst>
          </p:cNvPr>
          <p:cNvSpPr/>
          <p:nvPr/>
        </p:nvSpPr>
        <p:spPr>
          <a:xfrm>
            <a:off x="6431187" y="1798451"/>
            <a:ext cx="712278" cy="666375"/>
          </a:xfrm>
          <a:prstGeom prst="ellipse">
            <a:avLst/>
          </a:prstGeom>
          <a:solidFill>
            <a:srgbClr val="55A581"/>
          </a:solidFill>
          <a:ln>
            <a:solidFill>
              <a:srgbClr val="4EA57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88F32EF0-B207-8767-9A28-B89962560AE7}"/>
              </a:ext>
            </a:extLst>
          </p:cNvPr>
          <p:cNvSpPr txBox="1"/>
          <p:nvPr/>
        </p:nvSpPr>
        <p:spPr>
          <a:xfrm>
            <a:off x="6420590" y="1891700"/>
            <a:ext cx="733471" cy="523220"/>
          </a:xfrm>
          <a:prstGeom prst="rect">
            <a:avLst/>
          </a:prstGeom>
          <a:noFill/>
        </p:spPr>
        <p:txBody>
          <a:bodyPr wrap="none" rtlCol="0">
            <a:spAutoFit/>
          </a:bodyPr>
          <a:lstStyle/>
          <a:p>
            <a:pPr algn="ctr"/>
            <a:r>
              <a:rPr lang="en-US" sz="1400" b="1">
                <a:solidFill>
                  <a:schemeClr val="bg1"/>
                </a:solidFill>
                <a:latin typeface="Trade Gothic Inline" panose="020F0502020204030204" pitchFamily="34" charset="0"/>
                <a:cs typeface="Arial" panose="020B0604020202020204" pitchFamily="34" charset="0"/>
              </a:rPr>
              <a:t>J.2.4.1</a:t>
            </a:r>
          </a:p>
          <a:p>
            <a:pPr algn="ctr"/>
            <a:r>
              <a:rPr lang="en-US" sz="1400" b="1">
                <a:solidFill>
                  <a:schemeClr val="bg1"/>
                </a:solidFill>
                <a:latin typeface="Trade Gothic Inline" panose="020F0502020204030204" pitchFamily="34" charset="0"/>
                <a:cs typeface="Arial" panose="020B0604020202020204" pitchFamily="34" charset="0"/>
              </a:rPr>
              <a:t>(K)</a:t>
            </a:r>
          </a:p>
        </p:txBody>
      </p:sp>
      <p:sp>
        <p:nvSpPr>
          <p:cNvPr id="63" name="TextBox 62">
            <a:extLst>
              <a:ext uri="{FF2B5EF4-FFF2-40B4-BE49-F238E27FC236}">
                <a16:creationId xmlns:a16="http://schemas.microsoft.com/office/drawing/2014/main" id="{37B577C2-671F-00D1-A172-1C572C910FE7}"/>
              </a:ext>
            </a:extLst>
          </p:cNvPr>
          <p:cNvSpPr txBox="1"/>
          <p:nvPr/>
        </p:nvSpPr>
        <p:spPr>
          <a:xfrm>
            <a:off x="9477492" y="2827179"/>
            <a:ext cx="593432" cy="338554"/>
          </a:xfrm>
          <a:prstGeom prst="rect">
            <a:avLst/>
          </a:prstGeom>
          <a:noFill/>
        </p:spPr>
        <p:txBody>
          <a:bodyPr wrap="none" rtlCol="0">
            <a:spAutoFit/>
          </a:bodyPr>
          <a:lstStyle/>
          <a:p>
            <a:r>
              <a:rPr lang="en-US" sz="1600" b="1">
                <a:solidFill>
                  <a:schemeClr val="bg1"/>
                </a:solidFill>
                <a:latin typeface="Arial" panose="020B0604020202020204" pitchFamily="34" charset="0"/>
                <a:cs typeface="Arial" panose="020B0604020202020204" pitchFamily="34" charset="0"/>
              </a:rPr>
              <a:t>JAN</a:t>
            </a:r>
          </a:p>
        </p:txBody>
      </p:sp>
      <p:grpSp>
        <p:nvGrpSpPr>
          <p:cNvPr id="64" name="Group 63">
            <a:extLst>
              <a:ext uri="{FF2B5EF4-FFF2-40B4-BE49-F238E27FC236}">
                <a16:creationId xmlns:a16="http://schemas.microsoft.com/office/drawing/2014/main" id="{4018B7D6-6D2E-05AB-AC08-35A21BDE8376}"/>
              </a:ext>
            </a:extLst>
          </p:cNvPr>
          <p:cNvGrpSpPr/>
          <p:nvPr/>
        </p:nvGrpSpPr>
        <p:grpSpPr>
          <a:xfrm>
            <a:off x="1033031" y="2777908"/>
            <a:ext cx="158347" cy="517978"/>
            <a:chOff x="10276127" y="3009658"/>
            <a:chExt cx="158347" cy="517978"/>
          </a:xfrm>
        </p:grpSpPr>
        <p:cxnSp>
          <p:nvCxnSpPr>
            <p:cNvPr id="65" name="Straight Connector 64">
              <a:extLst>
                <a:ext uri="{FF2B5EF4-FFF2-40B4-BE49-F238E27FC236}">
                  <a16:creationId xmlns:a16="http://schemas.microsoft.com/office/drawing/2014/main" id="{C0A55403-9D71-DC27-8606-B0C6B6EC39DC}"/>
                </a:ext>
              </a:extLst>
            </p:cNvPr>
            <p:cNvCxnSpPr>
              <a:cxnSpLocks/>
            </p:cNvCxnSpPr>
            <p:nvPr/>
          </p:nvCxnSpPr>
          <p:spPr>
            <a:xfrm flipH="1">
              <a:off x="10276127" y="3009658"/>
              <a:ext cx="158347" cy="223647"/>
            </a:xfrm>
            <a:prstGeom prst="line">
              <a:avLst/>
            </a:prstGeom>
            <a:ln w="762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CC5DC1BD-68C0-1A77-6D26-681B44C7ED85}"/>
                </a:ext>
              </a:extLst>
            </p:cNvPr>
            <p:cNvCxnSpPr>
              <a:cxnSpLocks/>
            </p:cNvCxnSpPr>
            <p:nvPr/>
          </p:nvCxnSpPr>
          <p:spPr>
            <a:xfrm>
              <a:off x="10276127" y="3180631"/>
              <a:ext cx="158347" cy="150762"/>
            </a:xfrm>
            <a:prstGeom prst="line">
              <a:avLst/>
            </a:prstGeom>
            <a:ln w="762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3A9708D6-D797-1EE6-B63C-E3C64410B1B4}"/>
                </a:ext>
              </a:extLst>
            </p:cNvPr>
            <p:cNvCxnSpPr>
              <a:cxnSpLocks/>
            </p:cNvCxnSpPr>
            <p:nvPr/>
          </p:nvCxnSpPr>
          <p:spPr>
            <a:xfrm flipH="1">
              <a:off x="10276127" y="3287204"/>
              <a:ext cx="158347" cy="240432"/>
            </a:xfrm>
            <a:prstGeom prst="line">
              <a:avLst/>
            </a:prstGeom>
            <a:ln w="76200">
              <a:solidFill>
                <a:schemeClr val="bg1"/>
              </a:solidFill>
            </a:ln>
          </p:spPr>
          <p:style>
            <a:lnRef idx="2">
              <a:schemeClr val="accent1"/>
            </a:lnRef>
            <a:fillRef idx="0">
              <a:schemeClr val="accent1"/>
            </a:fillRef>
            <a:effectRef idx="1">
              <a:schemeClr val="accent1"/>
            </a:effectRef>
            <a:fontRef idx="minor">
              <a:schemeClr val="tx1"/>
            </a:fontRef>
          </p:style>
        </p:cxnSp>
      </p:grpSp>
      <p:sp>
        <p:nvSpPr>
          <p:cNvPr id="68" name="TextBox 67">
            <a:extLst>
              <a:ext uri="{FF2B5EF4-FFF2-40B4-BE49-F238E27FC236}">
                <a16:creationId xmlns:a16="http://schemas.microsoft.com/office/drawing/2014/main" id="{4BCAC037-E130-2470-F0FD-7060D02E2804}"/>
              </a:ext>
            </a:extLst>
          </p:cNvPr>
          <p:cNvSpPr txBox="1"/>
          <p:nvPr/>
        </p:nvSpPr>
        <p:spPr>
          <a:xfrm>
            <a:off x="10781371" y="2819643"/>
            <a:ext cx="593432" cy="338554"/>
          </a:xfrm>
          <a:prstGeom prst="rect">
            <a:avLst/>
          </a:prstGeom>
          <a:noFill/>
        </p:spPr>
        <p:txBody>
          <a:bodyPr wrap="none" rtlCol="0">
            <a:spAutoFit/>
          </a:bodyPr>
          <a:lstStyle/>
          <a:p>
            <a:r>
              <a:rPr lang="en-US" sz="1600" b="1">
                <a:solidFill>
                  <a:schemeClr val="bg1"/>
                </a:solidFill>
                <a:latin typeface="Arial" panose="020B0604020202020204" pitchFamily="34" charset="0"/>
                <a:cs typeface="Arial" panose="020B0604020202020204" pitchFamily="34" charset="0"/>
              </a:rPr>
              <a:t>FEB</a:t>
            </a:r>
          </a:p>
        </p:txBody>
      </p:sp>
      <p:sp>
        <p:nvSpPr>
          <p:cNvPr id="69" name="Star: 5 Points 68">
            <a:extLst>
              <a:ext uri="{FF2B5EF4-FFF2-40B4-BE49-F238E27FC236}">
                <a16:creationId xmlns:a16="http://schemas.microsoft.com/office/drawing/2014/main" id="{BB5D853E-17D6-CDA8-7020-19CAEA71CD0E}"/>
              </a:ext>
            </a:extLst>
          </p:cNvPr>
          <p:cNvSpPr/>
          <p:nvPr/>
        </p:nvSpPr>
        <p:spPr>
          <a:xfrm>
            <a:off x="5624691" y="2898368"/>
            <a:ext cx="116601" cy="98088"/>
          </a:xfrm>
          <a:prstGeom prst="star5">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Star: 5 Points 69">
            <a:extLst>
              <a:ext uri="{FF2B5EF4-FFF2-40B4-BE49-F238E27FC236}">
                <a16:creationId xmlns:a16="http://schemas.microsoft.com/office/drawing/2014/main" id="{D4088809-092A-6AEF-69E1-00F914F54EDA}"/>
              </a:ext>
            </a:extLst>
          </p:cNvPr>
          <p:cNvSpPr/>
          <p:nvPr/>
        </p:nvSpPr>
        <p:spPr>
          <a:xfrm>
            <a:off x="11456958" y="2910816"/>
            <a:ext cx="116601" cy="98088"/>
          </a:xfrm>
          <a:prstGeom prst="star5">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4" name="Picture 73" descr="Logo, icon&#10;&#10;AI-generated content may be incorrect.">
            <a:extLst>
              <a:ext uri="{FF2B5EF4-FFF2-40B4-BE49-F238E27FC236}">
                <a16:creationId xmlns:a16="http://schemas.microsoft.com/office/drawing/2014/main" id="{5B7F4874-BB93-489A-7FA4-5BCC90D59BDF}"/>
              </a:ext>
            </a:extLst>
          </p:cNvPr>
          <p:cNvPicPr>
            <a:picLocks noChangeAspect="1"/>
          </p:cNvPicPr>
          <p:nvPr/>
        </p:nvPicPr>
        <p:blipFill>
          <a:blip r:embed="rId6"/>
          <a:stretch>
            <a:fillRect/>
          </a:stretch>
        </p:blipFill>
        <p:spPr>
          <a:xfrm>
            <a:off x="8494501" y="3587152"/>
            <a:ext cx="739888" cy="765578"/>
          </a:xfrm>
          <a:prstGeom prst="rect">
            <a:avLst/>
          </a:prstGeom>
        </p:spPr>
      </p:pic>
      <p:sp>
        <p:nvSpPr>
          <p:cNvPr id="76" name="TextBox 75">
            <a:extLst>
              <a:ext uri="{FF2B5EF4-FFF2-40B4-BE49-F238E27FC236}">
                <a16:creationId xmlns:a16="http://schemas.microsoft.com/office/drawing/2014/main" id="{F1A38622-1485-3EE7-2809-2BB81F87F7DE}"/>
              </a:ext>
            </a:extLst>
          </p:cNvPr>
          <p:cNvSpPr txBox="1"/>
          <p:nvPr/>
        </p:nvSpPr>
        <p:spPr>
          <a:xfrm>
            <a:off x="9918955" y="6051317"/>
            <a:ext cx="2318263" cy="246221"/>
          </a:xfrm>
          <a:prstGeom prst="rect">
            <a:avLst/>
          </a:prstGeom>
          <a:noFill/>
        </p:spPr>
        <p:txBody>
          <a:bodyPr wrap="none" rtlCol="0">
            <a:spAutoFit/>
          </a:bodyPr>
          <a:lstStyle/>
          <a:p>
            <a:r>
              <a:rPr lang="en-US" sz="1000">
                <a:latin typeface="Arial" panose="020B0604020202020204" pitchFamily="34" charset="0"/>
                <a:cs typeface="Arial" panose="020B0604020202020204" pitchFamily="34" charset="0"/>
              </a:rPr>
              <a:t>NOTE – timeline length is not to scale</a:t>
            </a:r>
          </a:p>
        </p:txBody>
      </p:sp>
      <p:sp>
        <p:nvSpPr>
          <p:cNvPr id="37" name="TextBox 36">
            <a:extLst>
              <a:ext uri="{FF2B5EF4-FFF2-40B4-BE49-F238E27FC236}">
                <a16:creationId xmlns:a16="http://schemas.microsoft.com/office/drawing/2014/main" id="{2B32A801-396A-C4D6-CAE9-FB8EFEE4CE0B}"/>
              </a:ext>
            </a:extLst>
          </p:cNvPr>
          <p:cNvSpPr txBox="1"/>
          <p:nvPr/>
        </p:nvSpPr>
        <p:spPr>
          <a:xfrm>
            <a:off x="0" y="5974372"/>
            <a:ext cx="6167436" cy="646331"/>
          </a:xfrm>
          <a:prstGeom prst="rect">
            <a:avLst/>
          </a:prstGeom>
          <a:noFill/>
        </p:spPr>
        <p:txBody>
          <a:bodyPr wrap="square">
            <a:spAutoFit/>
          </a:bodyPr>
          <a:lstStyle/>
          <a:p>
            <a:r>
              <a:rPr lang="en-US">
                <a:hlinkClick r:id="rId7"/>
              </a:rPr>
              <a:t>Pre-print Interim US 2025-26 Season SSRN</a:t>
            </a:r>
            <a:endParaRPr lang="en-US"/>
          </a:p>
          <a:p>
            <a:endParaRPr lang="en-US"/>
          </a:p>
        </p:txBody>
      </p:sp>
      <p:sp>
        <p:nvSpPr>
          <p:cNvPr id="38" name="TextBox 37">
            <a:extLst>
              <a:ext uri="{FF2B5EF4-FFF2-40B4-BE49-F238E27FC236}">
                <a16:creationId xmlns:a16="http://schemas.microsoft.com/office/drawing/2014/main" id="{DAF8C66D-7C49-A6A3-3AC2-AA4CC33E0F8F}"/>
              </a:ext>
            </a:extLst>
          </p:cNvPr>
          <p:cNvSpPr txBox="1"/>
          <p:nvPr/>
        </p:nvSpPr>
        <p:spPr>
          <a:xfrm>
            <a:off x="4482202" y="4294387"/>
            <a:ext cx="2170971" cy="1815882"/>
          </a:xfrm>
          <a:prstGeom prst="rect">
            <a:avLst/>
          </a:prstGeom>
          <a:noFill/>
        </p:spPr>
        <p:txBody>
          <a:bodyPr wrap="square" lIns="91440" tIns="45720" rIns="91440" bIns="45720" rtlCol="0" anchor="t">
            <a:spAutoFit/>
          </a:bodyPr>
          <a:lstStyle/>
          <a:p>
            <a:pPr algn="ctr"/>
            <a:r>
              <a:rPr lang="en-US" sz="1400" b="1">
                <a:latin typeface="Arial" panose="020B0604020202020204" pitchFamily="34" charset="0"/>
                <a:cs typeface="Arial" panose="020B0604020202020204" pitchFamily="34" charset="0"/>
              </a:rPr>
              <a:t>2026 SH Vaccine Recommendation </a:t>
            </a:r>
            <a:r>
              <a:rPr lang="en-US" sz="1200">
                <a:latin typeface="Arial" panose="020B0604020202020204" pitchFamily="34" charset="0"/>
                <a:cs typeface="Arial" panose="020B0604020202020204" pitchFamily="34" charset="0"/>
              </a:rPr>
              <a:t>Report: J.2.4 viruses well including those with </a:t>
            </a:r>
            <a:r>
              <a:rPr lang="en-US" sz="1200" b="1" i="1">
                <a:latin typeface="Arial" panose="020B0604020202020204" pitchFamily="34" charset="0"/>
                <a:cs typeface="Arial" panose="020B0604020202020204" pitchFamily="34" charset="0"/>
              </a:rPr>
              <a:t>notable additional HA substitutions</a:t>
            </a:r>
            <a:r>
              <a:rPr lang="en-US" sz="1200">
                <a:latin typeface="Arial" panose="020B0604020202020204" pitchFamily="34" charset="0"/>
                <a:cs typeface="Arial" panose="020B0604020202020204" pitchFamily="34" charset="0"/>
              </a:rPr>
              <a:t> S144N (a potential addition of an N-glycosylation site), N158D, I160K and Q173R, which have recently emerged</a:t>
            </a:r>
          </a:p>
        </p:txBody>
      </p:sp>
      <p:sp>
        <p:nvSpPr>
          <p:cNvPr id="45" name="Oval 44">
            <a:extLst>
              <a:ext uri="{FF2B5EF4-FFF2-40B4-BE49-F238E27FC236}">
                <a16:creationId xmlns:a16="http://schemas.microsoft.com/office/drawing/2014/main" id="{46D2D7CC-4238-FAD8-78FF-333F9C4209E5}"/>
              </a:ext>
            </a:extLst>
          </p:cNvPr>
          <p:cNvSpPr/>
          <p:nvPr/>
        </p:nvSpPr>
        <p:spPr>
          <a:xfrm>
            <a:off x="5316177" y="3587152"/>
            <a:ext cx="712278" cy="666375"/>
          </a:xfrm>
          <a:prstGeom prst="ellipse">
            <a:avLst/>
          </a:prstGeom>
          <a:solidFill>
            <a:srgbClr val="55A581"/>
          </a:solidFill>
          <a:ln>
            <a:solidFill>
              <a:srgbClr val="4EA57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DCDEF5AE-55C8-5787-6592-F3691A42C2CF}"/>
              </a:ext>
            </a:extLst>
          </p:cNvPr>
          <p:cNvSpPr txBox="1"/>
          <p:nvPr/>
        </p:nvSpPr>
        <p:spPr>
          <a:xfrm>
            <a:off x="5363704" y="3766450"/>
            <a:ext cx="577339" cy="307777"/>
          </a:xfrm>
          <a:prstGeom prst="rect">
            <a:avLst/>
          </a:prstGeom>
          <a:noFill/>
        </p:spPr>
        <p:txBody>
          <a:bodyPr wrap="none" rtlCol="0">
            <a:spAutoFit/>
          </a:bodyPr>
          <a:lstStyle/>
          <a:p>
            <a:pPr algn="ctr"/>
            <a:r>
              <a:rPr lang="en-US" sz="1400" b="1">
                <a:solidFill>
                  <a:srgbClr val="FFFF00"/>
                </a:solidFill>
                <a:latin typeface="Trade Gothic Inline" panose="020F0502020204030204" pitchFamily="34" charset="0"/>
                <a:cs typeface="Arial" panose="020B0604020202020204" pitchFamily="34" charset="0"/>
              </a:rPr>
              <a:t>VCM</a:t>
            </a:r>
          </a:p>
        </p:txBody>
      </p:sp>
      <p:cxnSp>
        <p:nvCxnSpPr>
          <p:cNvPr id="47" name="Straight Connector 46">
            <a:extLst>
              <a:ext uri="{FF2B5EF4-FFF2-40B4-BE49-F238E27FC236}">
                <a16:creationId xmlns:a16="http://schemas.microsoft.com/office/drawing/2014/main" id="{534D1B7F-9659-601E-8C28-7BFAB476D198}"/>
              </a:ext>
            </a:extLst>
          </p:cNvPr>
          <p:cNvCxnSpPr>
            <a:cxnSpLocks/>
          </p:cNvCxnSpPr>
          <p:nvPr/>
        </p:nvCxnSpPr>
        <p:spPr>
          <a:xfrm>
            <a:off x="5672316" y="3136434"/>
            <a:ext cx="0" cy="427026"/>
          </a:xfrm>
          <a:prstGeom prst="line">
            <a:avLst/>
          </a:prstGeom>
          <a:ln w="76200"/>
        </p:spPr>
        <p:style>
          <a:lnRef idx="2">
            <a:schemeClr val="accent1"/>
          </a:lnRef>
          <a:fillRef idx="0">
            <a:schemeClr val="accent1"/>
          </a:fillRef>
          <a:effectRef idx="1">
            <a:schemeClr val="accent1"/>
          </a:effectRef>
          <a:fontRef idx="minor">
            <a:schemeClr val="tx1"/>
          </a:fontRef>
        </p:style>
      </p:cxnSp>
      <p:sp>
        <p:nvSpPr>
          <p:cNvPr id="48" name="Oval 47">
            <a:extLst>
              <a:ext uri="{FF2B5EF4-FFF2-40B4-BE49-F238E27FC236}">
                <a16:creationId xmlns:a16="http://schemas.microsoft.com/office/drawing/2014/main" id="{1E434F64-C68C-5ED2-7E6B-8A175F427BD0}"/>
              </a:ext>
            </a:extLst>
          </p:cNvPr>
          <p:cNvSpPr/>
          <p:nvPr/>
        </p:nvSpPr>
        <p:spPr>
          <a:xfrm>
            <a:off x="11174052" y="3604675"/>
            <a:ext cx="712278" cy="666375"/>
          </a:xfrm>
          <a:prstGeom prst="ellipse">
            <a:avLst/>
          </a:prstGeom>
          <a:solidFill>
            <a:srgbClr val="55A581"/>
          </a:solidFill>
          <a:ln>
            <a:solidFill>
              <a:srgbClr val="4EA57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33C2D5E-38BB-C771-05AC-E8843831CFEE}"/>
              </a:ext>
            </a:extLst>
          </p:cNvPr>
          <p:cNvSpPr txBox="1"/>
          <p:nvPr/>
        </p:nvSpPr>
        <p:spPr>
          <a:xfrm>
            <a:off x="11241521" y="3748510"/>
            <a:ext cx="577339" cy="307777"/>
          </a:xfrm>
          <a:prstGeom prst="rect">
            <a:avLst/>
          </a:prstGeom>
          <a:noFill/>
        </p:spPr>
        <p:txBody>
          <a:bodyPr wrap="none" rtlCol="0">
            <a:spAutoFit/>
          </a:bodyPr>
          <a:lstStyle/>
          <a:p>
            <a:pPr algn="ctr"/>
            <a:r>
              <a:rPr lang="en-US" sz="1400" b="1">
                <a:solidFill>
                  <a:srgbClr val="FFFF00"/>
                </a:solidFill>
                <a:latin typeface="Trade Gothic Inline" panose="020F0502020204030204" pitchFamily="34" charset="0"/>
                <a:cs typeface="Arial" panose="020B0604020202020204" pitchFamily="34" charset="0"/>
              </a:rPr>
              <a:t>VCM</a:t>
            </a:r>
          </a:p>
        </p:txBody>
      </p:sp>
      <p:cxnSp>
        <p:nvCxnSpPr>
          <p:cNvPr id="52" name="Straight Connector 51">
            <a:extLst>
              <a:ext uri="{FF2B5EF4-FFF2-40B4-BE49-F238E27FC236}">
                <a16:creationId xmlns:a16="http://schemas.microsoft.com/office/drawing/2014/main" id="{67DACFAC-0EA8-4665-8B17-2F5A130D7577}"/>
              </a:ext>
            </a:extLst>
          </p:cNvPr>
          <p:cNvCxnSpPr>
            <a:cxnSpLocks/>
          </p:cNvCxnSpPr>
          <p:nvPr/>
        </p:nvCxnSpPr>
        <p:spPr>
          <a:xfrm>
            <a:off x="11530191" y="3129622"/>
            <a:ext cx="0" cy="427026"/>
          </a:xfrm>
          <a:prstGeom prst="line">
            <a:avLst/>
          </a:prstGeom>
          <a:ln w="76200"/>
        </p:spPr>
        <p:style>
          <a:lnRef idx="2">
            <a:schemeClr val="accent1"/>
          </a:lnRef>
          <a:fillRef idx="0">
            <a:schemeClr val="accent1"/>
          </a:fillRef>
          <a:effectRef idx="1">
            <a:schemeClr val="accent1"/>
          </a:effectRef>
          <a:fontRef idx="minor">
            <a:schemeClr val="tx1"/>
          </a:fontRef>
        </p:style>
      </p:cxnSp>
      <p:sp>
        <p:nvSpPr>
          <p:cNvPr id="53" name="TextBox 52">
            <a:extLst>
              <a:ext uri="{FF2B5EF4-FFF2-40B4-BE49-F238E27FC236}">
                <a16:creationId xmlns:a16="http://schemas.microsoft.com/office/drawing/2014/main" id="{660DF0EC-27F7-A926-05F2-3DC8ED4B53AF}"/>
              </a:ext>
            </a:extLst>
          </p:cNvPr>
          <p:cNvSpPr txBox="1"/>
          <p:nvPr/>
        </p:nvSpPr>
        <p:spPr>
          <a:xfrm>
            <a:off x="10384890" y="4256534"/>
            <a:ext cx="1874647" cy="1384995"/>
          </a:xfrm>
          <a:prstGeom prst="rect">
            <a:avLst/>
          </a:prstGeom>
          <a:noFill/>
        </p:spPr>
        <p:txBody>
          <a:bodyPr wrap="square" lIns="91440" tIns="45720" rIns="91440" bIns="45720" rtlCol="0" anchor="t">
            <a:spAutoFit/>
          </a:bodyPr>
          <a:lstStyle/>
          <a:p>
            <a:pPr algn="ctr"/>
            <a:r>
              <a:rPr lang="en-US" sz="1400" b="1">
                <a:latin typeface="Arial" panose="020B0604020202020204" pitchFamily="34" charset="0"/>
                <a:cs typeface="Arial" panose="020B0604020202020204" pitchFamily="34" charset="0"/>
              </a:rPr>
              <a:t>2026-27 NH Vaccine Recommendation:</a:t>
            </a:r>
          </a:p>
          <a:p>
            <a:pPr algn="ctr"/>
            <a:r>
              <a:rPr lang="en-US" sz="1400" b="1">
                <a:latin typeface="Arial" panose="020B0604020202020204" pitchFamily="34" charset="0"/>
                <a:cs typeface="Arial" panose="020B0604020202020204" pitchFamily="34" charset="0"/>
              </a:rPr>
              <a:t>Subclade K viruses recommended as A(H3N2) component</a:t>
            </a:r>
            <a:endParaRPr lang="en-US" sz="120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01025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DB79E9-CD91-70BE-E984-315391586D4B}"/>
              </a:ext>
            </a:extLst>
          </p:cNvPr>
          <p:cNvSpPr>
            <a:spLocks noGrp="1"/>
          </p:cNvSpPr>
          <p:nvPr>
            <p:ph type="title"/>
          </p:nvPr>
        </p:nvSpPr>
        <p:spPr/>
        <p:txBody>
          <a:bodyPr/>
          <a:lstStyle/>
          <a:p>
            <a:r>
              <a:rPr lang="en-US" dirty="0"/>
              <a:t>Thank you!</a:t>
            </a:r>
          </a:p>
        </p:txBody>
      </p:sp>
      <p:pic>
        <p:nvPicPr>
          <p:cNvPr id="4" name="Content Placeholder 3">
            <a:extLst>
              <a:ext uri="{FF2B5EF4-FFF2-40B4-BE49-F238E27FC236}">
                <a16:creationId xmlns:a16="http://schemas.microsoft.com/office/drawing/2014/main" id="{E5B19712-34A5-15BF-C948-54A598408424}"/>
              </a:ext>
            </a:extLst>
          </p:cNvPr>
          <p:cNvPicPr>
            <a:picLocks noGrp="1" noChangeAspect="1"/>
          </p:cNvPicPr>
          <p:nvPr>
            <p:ph idx="1"/>
          </p:nvPr>
        </p:nvPicPr>
        <p:blipFill>
          <a:blip r:embed="rId2"/>
          <a:stretch>
            <a:fillRect/>
          </a:stretch>
        </p:blipFill>
        <p:spPr>
          <a:xfrm>
            <a:off x="3928397" y="2205219"/>
            <a:ext cx="4359018" cy="3139712"/>
          </a:xfrm>
          <a:prstGeom prst="rect">
            <a:avLst/>
          </a:prstGeom>
        </p:spPr>
      </p:pic>
    </p:spTree>
    <p:extLst>
      <p:ext uri="{BB962C8B-B14F-4D97-AF65-F5344CB8AC3E}">
        <p14:creationId xmlns:p14="http://schemas.microsoft.com/office/powerpoint/2010/main" val="438386055"/>
      </p:ext>
    </p:extLst>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63</TotalTime>
  <Words>1600</Words>
  <Application>Microsoft Macintosh PowerPoint</Application>
  <PresentationFormat>Widescreen</PresentationFormat>
  <Paragraphs>184</Paragraphs>
  <Slides>16</Slides>
  <Notes>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ＭＳ Ｐゴシック</vt:lpstr>
      <vt:lpstr>Aptos</vt:lpstr>
      <vt:lpstr>Arial</vt:lpstr>
      <vt:lpstr>Calibri</vt:lpstr>
      <vt:lpstr>Calibri Light</vt:lpstr>
      <vt:lpstr>Trade Gothic Inline</vt:lpstr>
      <vt:lpstr>Wingdings 2</vt:lpstr>
      <vt:lpstr>1_Office Theme</vt:lpstr>
      <vt:lpstr>Genomic Epidemiology</vt:lpstr>
      <vt:lpstr>Reiterating the Points of Genomic Epidemiology</vt:lpstr>
      <vt:lpstr>Goals of Global Influenza Genomic Surveillance: understand circulating viral diversity, where and to what extent</vt:lpstr>
      <vt:lpstr>HA Genetic Groups/Clades/Subclades</vt:lpstr>
      <vt:lpstr>Nextstrain</vt:lpstr>
      <vt:lpstr>Goals of Global Influenza Genomic Surveillance: understand circulating viral diversity, where and to what extent</vt:lpstr>
      <vt:lpstr>Understand the genetic diversity in epidemic</vt:lpstr>
      <vt:lpstr>Understand the genetic diversity in epidemic</vt:lpstr>
      <vt:lpstr>Understand the genetic diversity in epidemic</vt:lpstr>
      <vt:lpstr>Genotype to Phenotype</vt:lpstr>
      <vt:lpstr>PowerPoint Presentation</vt:lpstr>
      <vt:lpstr>Predictive Models</vt:lpstr>
      <vt:lpstr>PowerPoint Presentation</vt:lpstr>
      <vt:lpstr>Future Landscape of Influenza Genomics</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Hassell, Norman (CDC/NCIRD/ID)</dc:creator>
  <cp:lastModifiedBy>Hassell, Norman (CDC/NCIRD/ID)</cp:lastModifiedBy>
  <cp:revision>3</cp:revision>
  <dcterms:created xsi:type="dcterms:W3CDTF">2026-03-25T13:16:21Z</dcterms:created>
  <dcterms:modified xsi:type="dcterms:W3CDTF">2026-03-25T19:10:06Z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af03ff0-41c5-4c41-b55e-fabb8fae94be_Enabled">
    <vt:lpwstr>true</vt:lpwstr>
  </property>
  <property fmtid="{D5CDD505-2E9C-101B-9397-08002B2CF9AE}" pid="3" name="MSIP_Label_8af03ff0-41c5-4c41-b55e-fabb8fae94be_SetDate">
    <vt:lpwstr>2026-03-25T18:06:42Z</vt:lpwstr>
  </property>
  <property fmtid="{D5CDD505-2E9C-101B-9397-08002B2CF9AE}" pid="4" name="MSIP_Label_8af03ff0-41c5-4c41-b55e-fabb8fae94be_Method">
    <vt:lpwstr>Privileged</vt:lpwstr>
  </property>
  <property fmtid="{D5CDD505-2E9C-101B-9397-08002B2CF9AE}" pid="5" name="MSIP_Label_8af03ff0-41c5-4c41-b55e-fabb8fae94be_Name">
    <vt:lpwstr>8af03ff0-41c5-4c41-b55e-fabb8fae94be</vt:lpwstr>
  </property>
  <property fmtid="{D5CDD505-2E9C-101B-9397-08002B2CF9AE}" pid="6" name="MSIP_Label_8af03ff0-41c5-4c41-b55e-fabb8fae94be_SiteId">
    <vt:lpwstr>9ce70869-60db-44fd-abe8-d2767077fc8f</vt:lpwstr>
  </property>
  <property fmtid="{D5CDD505-2E9C-101B-9397-08002B2CF9AE}" pid="7" name="MSIP_Label_8af03ff0-41c5-4c41-b55e-fabb8fae94be_ActionId">
    <vt:lpwstr>625d5500-6eaa-4018-bb66-8711d43b5e6d</vt:lpwstr>
  </property>
  <property fmtid="{D5CDD505-2E9C-101B-9397-08002B2CF9AE}" pid="8" name="MSIP_Label_8af03ff0-41c5-4c41-b55e-fabb8fae94be_ContentBits">
    <vt:lpwstr>0</vt:lpwstr>
  </property>
  <property fmtid="{D5CDD505-2E9C-101B-9397-08002B2CF9AE}" pid="9" name="MSIP_Label_8af03ff0-41c5-4c41-b55e-fabb8fae94be_Tag">
    <vt:lpwstr>50, 0, 1, 1</vt:lpwstr>
  </property>
</Properties>
</file>